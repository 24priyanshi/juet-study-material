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notesSlides/notesSlide6.xml" ContentType="application/vnd.openxmlformats-officedocument.presentationml.notesSlide+xml"/>
  <Override PartName="/ppt/ink/ink9.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71" r:id="rId3"/>
    <p:sldId id="272" r:id="rId4"/>
    <p:sldId id="273" r:id="rId5"/>
    <p:sldId id="274" r:id="rId6"/>
    <p:sldId id="260" r:id="rId7"/>
    <p:sldId id="262" r:id="rId8"/>
    <p:sldId id="263" r:id="rId9"/>
    <p:sldId id="264" r:id="rId10"/>
    <p:sldId id="275" r:id="rId11"/>
    <p:sldId id="276" r:id="rId12"/>
    <p:sldId id="277" r:id="rId13"/>
    <p:sldId id="279" r:id="rId14"/>
    <p:sldId id="280" r:id="rId15"/>
    <p:sldId id="281" r:id="rId16"/>
    <p:sldId id="282" r:id="rId17"/>
    <p:sldId id="283" r:id="rId18"/>
    <p:sldId id="284" r:id="rId19"/>
    <p:sldId id="285" r:id="rId20"/>
    <p:sldId id="286" r:id="rId21"/>
    <p:sldId id="299" r:id="rId22"/>
    <p:sldId id="287" r:id="rId23"/>
    <p:sldId id="288" r:id="rId24"/>
    <p:sldId id="289" r:id="rId25"/>
    <p:sldId id="290" r:id="rId26"/>
    <p:sldId id="292" r:id="rId27"/>
    <p:sldId id="293" r:id="rId28"/>
    <p:sldId id="294" r:id="rId29"/>
    <p:sldId id="295" r:id="rId30"/>
    <p:sldId id="296" r:id="rId31"/>
    <p:sldId id="297" r:id="rId32"/>
    <p:sldId id="298" r:id="rId33"/>
    <p:sldId id="257" r:id="rId34"/>
    <p:sldId id="258" r:id="rId35"/>
    <p:sldId id="259" r:id="rId36"/>
    <p:sldId id="265" r:id="rId37"/>
    <p:sldId id="266" r:id="rId38"/>
    <p:sldId id="267" r:id="rId39"/>
    <p:sldId id="268" r:id="rId40"/>
    <p:sldId id="269"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62" d="100"/>
          <a:sy n="62" d="100"/>
        </p:scale>
        <p:origin x="804"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07T13:48:46.379"/>
    </inkml:context>
    <inkml:brush xml:id="br0">
      <inkml:brushProperty name="width" value="0.05" units="cm"/>
      <inkml:brushProperty name="height" value="0.05" units="cm"/>
    </inkml:brush>
  </inkml:definitions>
  <inkml:trace contextRef="#ctx0" brushRef="#br0">0 50 28 0 0,'0'0'664'0'0,"2"-15"426"0"0,-1 15-1008 0 0,1-1-1 0 0,0 0 1 0 0,-1 0-1 0 0,1 0 1 0 0,-1 0-1 0 0,0 0 1 0 0,1-1-1 0 0,-1 1 1 0 0,0 0-1 0 0,0 0 1 0 0,1-1-1 0 0,-1 1 1 0 0,0-1-1 0 0,-1 1 1 0 0,1-1-1 0 0,0 0 1 0 0,0 1-1 0 0,-1-1 1 0 0,2-2-1 0 0,-2 3-89 0 0,6-4 25 0 0,-14 8-14 0 0,2-1-9 0 0,5-1-20 0 0,1-1-1 0 0,-1 0 0 0 0,1 0 0 0 0,-1 0 1 0 0,1 0-1 0 0,0 1 0 0 0,-1-1 0 0 0,1 0 1 0 0,-1 1-1 0 0,1-1 0 0 0,-1 0 0 0 0,1 1 1 0 0,0-1-1 0 0,-1 0 0 0 0,1 1 0 0 0,0-1 1 0 0,-1 1-1 0 0,1-1 0 0 0,0 1 0 0 0,-1-1 1 0 0,1 1-1 0 0,0-1 0 0 0,0 1 0 0 0,0-1 1 0 0,0 1-1 0 0,0-1 0 0 0,-1 1 0 0 0,1-1 1 0 0,0 1-1 0 0,0-1 0 0 0,0 1 1 0 0,0-1-1 0 0,0 1 0 0 0,0 0 0 0 0,1 0 1 0 0,-8 8-1385 0 0,5-4 618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07T13:50:09.450"/>
    </inkml:context>
    <inkml:brush xml:id="br0">
      <inkml:brushProperty name="width" value="0.05" units="cm"/>
      <inkml:brushProperty name="height" value="0.05" units="cm"/>
    </inkml:brush>
  </inkml:definitions>
  <inkml:trace contextRef="#ctx0" brushRef="#br0">1 0 176 0 0,'0'0'3106'0'0,"16"5"-5489"0"0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07T13:50:18.031"/>
    </inkml:context>
    <inkml:brush xml:id="br0">
      <inkml:brushProperty name="width" value="0.05" units="cm"/>
      <inkml:brushProperty name="height" value="0.05" units="cm"/>
    </inkml:brush>
  </inkml:definitions>
  <inkml:trace contextRef="#ctx0" brushRef="#br0">0 10 196 0 0,'0'0'337'0'0,"2"-9"2886"0"0,12 13-3218 0 0,-13-4-2 0 0,1 1 1 0 0,0 0-46 0 0,0 0-1 0 0,0 0 1 0 0,0 0-1 0 0,0 0 1 0 0,0 0 0 0 0,0-1-1 0 0,1 1 1 0 0,-1-1-1 0 0,0 0 1 0 0,0 1-1 0 0,1-1 1 0 0,2 0-1 0 0,5 0-517 0 0,-1 2-707 0 0,-2 2 550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4:20:35.438"/>
    </inkml:context>
    <inkml:brush xml:id="br0">
      <inkml:brushProperty name="width" value="0.05" units="cm"/>
      <inkml:brushProperty name="height" value="0.05" units="cm"/>
    </inkml:brush>
  </inkml:definitions>
  <inkml:trace contextRef="#ctx0" brushRef="#br0">52 12 3472 0 0,'-6'-4'4665'0'0,"-5"2"-2777"0"0,4 0-980 0 0,-3 0-520 0 0,3 0-340 0 0,1 2-644 0 0,1 0-1436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4:22:36.881"/>
    </inkml:context>
    <inkml:brush xml:id="br0">
      <inkml:brushProperty name="width" value="0.05" units="cm"/>
      <inkml:brushProperty name="height" value="0.05" units="cm"/>
    </inkml:brush>
  </inkml:definitions>
  <inkml:trace contextRef="#ctx0" brushRef="#br0">50 51 2668 0 0,'-4'-1'3236'0'0,"-16"-9"4404"0"0,17 9-7286 0 0,1 0-1 0 0,-1-1 1 0 0,1 1 0 0 0,0-1-1 0 0,0 1 1 0 0,-1-1 0 0 0,1 0 0 0 0,0 0-1 0 0,-2-4 1 0 0,8 5 672 0 0,-4 1-1028 0 0,0 0 0 0 0,0 0 0 0 0,1 0 0 0 0,-1 1 0 0 0,0-1 0 0 0,0 0 0 0 0,0 0 0 0 0,0 0 0 0 0,0 1 0 0 0,0-1 0 0 0,1 0 0 0 0,-1 0 0 0 0,0 1 0 0 0,0-1 0 0 0,0 0 0 0 0,0 0 0 0 0,0 1 0 0 0,0-1 0 0 0,0 0 0 0 0,0 0 0 0 0,0 1 0 0 0,0-1 0 0 0,0 0 0 0 0,0 0 0 0 0,0 1 0 0 0,0-1 0 0 0,0 0 0 0 0,0 0 0 0 0,-1 1 0 0 0,1-1 0 0 0,0 0 0 0 0,0 0 0 0 0,0 1 0 0 0,0-1 0 0 0,0 0 0 0 0,-1 0 0 0 0,1 0 0 0 0,0 0 0 0 0,0 1 0 0 0,0-1 0 0 0,0 0 0 0 0,-1 0 0 0 0,1 0 0 0 0,-1 1 5 0 0,1-1 0 0 0,0 0-1 0 0,0 1 1 0 0,-1-1 0 0 0,1 1 0 0 0,0-1-1 0 0,0 0 1 0 0,0 1 0 0 0,-1-1 0 0 0,1 1 0 0 0,0-1-1 0 0,0 0 1 0 0,0 1 0 0 0,0-1 0 0 0,0 1-1 0 0,0-1 1 0 0,0 1 0 0 0,0-1 0 0 0,0 0 0 0 0,0 1-1 0 0,0-1 1 0 0,0 1 0 0 0,0-1 0 0 0,0 1 0 0 0,0-1-1 0 0,1 0 1 0 0,-1 1 0 0 0,0-1 0 0 0,0 1-1 0 0,0-1 1 0 0,1 0 0 0 0,-1 1 0 0 0,0-1 0 0 0,0 0-1 0 0,1 1 1 0 0,-1-1 0 0 0,0 0 0 0 0,1 1-1 0 0,-1-1 1 0 0,1 0 0 0 0,25 10 77 0 0,41-3 30 0 0,-58-6-88 0 0,-5-1-10 0 0,0 0 0 0 0,1 0 0 0 0,-1 0 0 0 0,0 0 0 0 0,0 0 0 0 0,9-3 0 0 0,-13 3-11 0 0,0 0 1 0 0,0 0 0 0 0,0 0-1 0 0,0 0 1 0 0,1 0 0 0 0,-1 0-1 0 0,0 0 1 0 0,0 0 0 0 0,0-1-1 0 0,0 1 1 0 0,1 0 0 0 0,-1 0-1 0 0,0 0 1 0 0,0 0 0 0 0,0 0-1 0 0,0-1 1 0 0,0 1 0 0 0,0 0 0 0 0,1 0-1 0 0,-1 0 1 0 0,0 0 0 0 0,0-1-1 0 0,0 1 1 0 0,0 0 0 0 0,0 0-1 0 0,0 0 1 0 0,0-1 0 0 0,0 1-1 0 0,0 0 1 0 0,0 0 0 0 0,0 0-1 0 0,0-1 1 0 0,0 1 0 0 0,0 0-1 0 0,0 0 1 0 0,0 0 0 0 0,0-1-1 0 0,0 1 1 0 0,0 0 0 0 0,0 0-1 0 0,0 0 1 0 0,-1-1 0 0 0,1 1-1 0 0,0 0 1 0 0,0 0 0 0 0,-18-14 130 0 0,9 9 105 0 0,1 0 1 0 0,-1 0-1 0 0,0 1 1 0 0,-1 0-1 0 0,1 0 1 0 0,-1 1-1 0 0,1 1 1 0 0,-17-3-1 0 0,25 5-237 0 0,1 0 0 0 0,0 0 0 0 0,-1 0 0 0 0,1 0 0 0 0,-1 0 0 0 0,1 0-1 0 0,0 1 1 0 0,-1-1 0 0 0,1 0 0 0 0,0 0 0 0 0,-1 0 0 0 0,1 1 0 0 0,0-1 0 0 0,-1 0 0 0 0,1 0-1 0 0,0 1 1 0 0,-1-1 0 0 0,1 0 0 0 0,0 1 0 0 0,0-1 0 0 0,0 0 0 0 0,-1 1 0 0 0,1-1-1 0 0,0 0 1 0 0,0 1 0 0 0,0-1 0 0 0,0 0 0 0 0,-1 1 0 0 0,1-1 0 0 0,0 1 0 0 0,0-1 0 0 0,0 0-1 0 0,0 1 1 0 0,0-1 0 0 0,0 1 0 0 0,0-1 0 0 0,0 0 0 0 0,0 1 0 0 0,0-1 0 0 0,1 1 0 0 0,-1-1-1 0 0,0 0 1 0 0,0 1 0 0 0,0-1 0 0 0,0 0 0 0 0,0 1 0 0 0,1-1 0 0 0,-1 0 0 0 0,0 1-1 0 0,0-1 1 0 0,1 0 0 0 0,-1 1 0 0 0,0-1 0 0 0,1 0 0 0 0,-1 1 0 0 0,16 19 70 0 0,-8-15-55 0 0,1 0 0 0 0,0 0-1 0 0,-1-1 1 0 0,2 0 0 0 0,-1 0-1 0 0,0-1 1 0 0,1 0 0 0 0,-1-1-1 0 0,17 2 1 0 0,-47-21-7 0 0,-5 8 1 0 0,26 12-13 0 0,15 5 57 0 0,-4-5-10 0 0,-8-3-45 0 0,-1 0 1 0 0,0 1-1 0 0,0-1 0 0 0,1 1 1 0 0,-1 0-1 0 0,0-1 0 0 0,0 1 1 0 0,0 0-1 0 0,0 0 0 0 0,0 1 0 0 0,0-1 1 0 0,0 0-1 0 0,2 3 0 0 0,-5-4-6 0 0,-5 1 46 0 0,20 0-1 0 0,-10-1-94 0 0,-5 1 163 0 0,-12 2-821 0 0,-7 2-5766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4:27:15.132"/>
    </inkml:context>
    <inkml:brush xml:id="br0">
      <inkml:brushProperty name="width" value="0.05" units="cm"/>
      <inkml:brushProperty name="height" value="0.05" units="cm"/>
    </inkml:brush>
  </inkml:definitions>
  <inkml:trace contextRef="#ctx0" brushRef="#br0">15 12 1940 0 0,'19'-9'18224'0'0,"-18"7"-16539"0"0,-14 3-3236 0 0,-2 1-4929 0 0,8 0 1139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4:28:55.876"/>
    </inkml:context>
    <inkml:brush xml:id="br0">
      <inkml:brushProperty name="width" value="0.05" units="cm"/>
      <inkml:brushProperty name="height" value="0.05" units="cm"/>
    </inkml:brush>
  </inkml:definitions>
  <inkml:trace contextRef="#ctx0" brushRef="#br0">0 45 1248 0 0,'2'-6'7297'0'0,"5"-3"-2993"0"0,-1 1-2996 0 0,5 0-2200 0 0,4 0-1732 0 0,-2 2-2296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4:29:29.737"/>
    </inkml:context>
    <inkml:brush xml:id="br0">
      <inkml:brushProperty name="width" value="0.05" units="cm"/>
      <inkml:brushProperty name="height" value="0.05" units="cm"/>
    </inkml:brush>
  </inkml:definitions>
  <inkml:trace contextRef="#ctx0" brushRef="#br0">74 7 2952 0 0,'-4'-2'16349'0'0,"-12"-2"-15166"0"0,14 4-1167 0 0,-2 0-2 0 0,0-1 0 0 0,0 1-1 0 0,1 1 1 0 0,-1-1 0 0 0,0 0-1 0 0,0 1 1 0 0,0 0 0 0 0,0 0-1 0 0,1 0 1 0 0,-1 0 0 0 0,-6 4 0 0 0,11-5-13 0 0,-1 1 0 0 0,0-1 0 0 0,0 1 0 0 0,0-1 1 0 0,0 1-1 0 0,0-1 0 0 0,1 0 0 0 0,-1 1 0 0 0,0-1 1 0 0,0 1-1 0 0,1-1 0 0 0,-1 0 0 0 0,0 1 1 0 0,1-1-1 0 0,-1 0 0 0 0,0 1 0 0 0,1-1 0 0 0,-1 0 1 0 0,1 0-1 0 0,-1 1 0 0 0,0-1 0 0 0,1 0 0 0 0,-1 0 1 0 0,1 0-1 0 0,-1 0 0 0 0,1 1 0 0 0,-1-1 1 0 0,0 0-1 0 0,1 0 0 0 0,-1 0 0 0 0,1 0 0 0 0,-1 0 1 0 0,1 0-1 0 0,-1 0 0 0 0,1 0 0 0 0,0 0 0 0 0,20 4 57 0 0,24-6 2280 0 0,-75-2-1411 0 0,10 3-919 0 0,28 6 2 0 0,-7-4-7 0 0,1-1 0 0 0,-1 1 0 0 0,1 0 0 0 0,-1-1 0 0 0,0 1 0 0 0,1 0 0 0 0,-1 0 0 0 0,0 0 0 0 0,0 0 0 0 0,0 0 0 0 0,1 0 0 0 0,-1 1 0 0 0,0-1 0 0 0,-1 0 0 0 0,2 2 0 0 0,-16-12 312 0 0,8 10-331 0 0,14 12 7 0 0,-6-11 13 0 0,0 0-1 0 0,1 0 1 0 0,-1 0 0 0 0,1 0-1 0 0,-1 0 1 0 0,1 0-1 0 0,5 2 1 0 0,-8-4-4 0 0,1 0 0 0 0,-1 1 1 0 0,0-1-1 0 0,1 0 0 0 0,-1 0 0 0 0,1 0 1 0 0,-1 1-1 0 0,1-1 0 0 0,-1 0 0 0 0,1 0 0 0 0,-1 0 1 0 0,0 0-1 0 0,1 0 0 0 0,-1 0 0 0 0,1 0 0 0 0,-1 0 1 0 0,1 0-1 0 0,-1 0 0 0 0,1 0 0 0 0,-1 0 1 0 0,1 0-1 0 0,-1 0 0 0 0,1 0 0 0 0,-1 0 0 0 0,0-1 1 0 0,1 1-1 0 0,-1 0 0 0 0,1 0 0 0 0,-1-1 1 0 0,1 1-1 0 0,-1 0 0 0 0,0 0 0 0 0,1-1 0 0 0,-1 1 1 0 0,0 0-1 0 0,1-1 0 0 0,-1 1 0 0 0,0-1 0 0 0,0 1 1 0 0,1 0-1 0 0,-1-1 0 0 0,0 1 0 0 0,0-1 1 0 0,0 1-1 0 0,0 0 0 0 0,1-1 0 0 0,-1 1 0 0 0,0-1 1 0 0,0 1-1 0 0,0-1 0 0 0,0 1 0 0 0,0-1 1 0 0,0 1-1 0 0,0-1 0 0 0,1 0-371 0 0,0 1 1 0 0,0-1-1 0 0,0 0 1 0 0,0 1-1 0 0,1 0 1 0 0,-1-1-1 0 0,0 1 1 0 0,0 0-1 0 0,1 0 1 0 0,-1 0-1 0 0,0-1 1 0 0,0 1-1 0 0,1 0 1 0 0,-1 1-1 0 0,0-1 1 0 0,1 0 0 0 0,-1 0-1 0 0,2 1 1 0 0,-2-1-905 0 0,9 1-4171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6-11T05:01:51.662"/>
    </inkml:context>
    <inkml:brush xml:id="br0">
      <inkml:brushProperty name="width" value="0.05" units="cm"/>
      <inkml:brushProperty name="height" value="0.05" units="cm"/>
    </inkml:brush>
  </inkml:definitions>
  <inkml:trace contextRef="#ctx0" brushRef="#br0">48 8 848 0 0,'-12'-4'8620'0'0,"9"3"-8245"0"0,0 1 0 0 0,1-1 0 0 0,-1 0 0 0 0,0 1 0 0 0,1 0 0 0 0,-1 0 0 0 0,0 0 0 0 0,1 0 0 0 0,-1 0 0 0 0,0 0 0 0 0,-3 1 0 0 0,6 0-260 0 0,0-1 1 0 0,0 0-1 0 0,0 0 0 0 0,0 1 0 0 0,0-1 1 0 0,0 0-1 0 0,0 1 0 0 0,0-1 1 0 0,0 0-1 0 0,0 1 0 0 0,0-1 0 0 0,0 0 1 0 0,0 1-1 0 0,1-1 0 0 0,-1 0 1 0 0,0 1-1 0 0,0-1 0 0 0,0 0 1 0 0,0 0-1 0 0,0 1 0 0 0,1-1 0 0 0,-1 0 1 0 0,0 0-1 0 0,0 1 0 0 0,0-1 1 0 0,1 0-1 0 0,-1 0 0 0 0,0 1 0 0 0,0-1 1 0 0,1 0-1 0 0,-1 0 0 0 0,0 0 1 0 0,1 0-1 0 0,-1 0 0 0 0,0 1 0 0 0,1-1 1 0 0,-1 0-1 0 0,1 0 0 0 0,18 10 1835 0 0,-12-7-851 0 0,-1 0-750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8ADE7A-BE00-4503-AFAC-54B382B3EB6B}" type="datetimeFigureOut">
              <a:rPr lang="en-IN" smtClean="0"/>
              <a:t>28-07-2025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0A2CDA-2D0E-4688-B76F-6A32165265D1}" type="slidenum">
              <a:rPr lang="en-IN" smtClean="0"/>
              <a:t>‹#›</a:t>
            </a:fld>
            <a:endParaRPr lang="en-IN"/>
          </a:p>
        </p:txBody>
      </p:sp>
    </p:spTree>
    <p:extLst>
      <p:ext uri="{BB962C8B-B14F-4D97-AF65-F5344CB8AC3E}">
        <p14:creationId xmlns:p14="http://schemas.microsoft.com/office/powerpoint/2010/main" val="1658375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Red-Higher peak than normal but heavy(longer) tails, so chances of finding outliers is also more. Green-Thin tails, the tails end faster than normal.</a:t>
            </a:r>
          </a:p>
        </p:txBody>
      </p:sp>
      <p:sp>
        <p:nvSpPr>
          <p:cNvPr id="4" name="Slide Number Placeholder 3"/>
          <p:cNvSpPr>
            <a:spLocks noGrp="1"/>
          </p:cNvSpPr>
          <p:nvPr>
            <p:ph type="sldNum" sz="quarter" idx="5"/>
          </p:nvPr>
        </p:nvSpPr>
        <p:spPr/>
        <p:txBody>
          <a:bodyPr/>
          <a:lstStyle/>
          <a:p>
            <a:fld id="{BE0A2CDA-2D0E-4688-B76F-6A32165265D1}" type="slidenum">
              <a:rPr lang="en-IN" smtClean="0"/>
              <a:t>6</a:t>
            </a:fld>
            <a:endParaRPr lang="en-IN"/>
          </a:p>
        </p:txBody>
      </p:sp>
    </p:spTree>
    <p:extLst>
      <p:ext uri="{BB962C8B-B14F-4D97-AF65-F5344CB8AC3E}">
        <p14:creationId xmlns:p14="http://schemas.microsoft.com/office/powerpoint/2010/main" val="628229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Ans: 16</a:t>
            </a:r>
            <a:r>
              <a:rPr lang="en-IN" baseline="30000" dirty="0"/>
              <a:t>th</a:t>
            </a:r>
            <a:r>
              <a:rPr lang="en-IN" dirty="0"/>
              <a:t> value i.e. 93 (of course after sorting)</a:t>
            </a:r>
          </a:p>
          <a:p>
            <a:r>
              <a:rPr lang="en-IN" dirty="0"/>
              <a:t>Ans: 3600, 8100, 10150, 12700, 20300</a:t>
            </a:r>
          </a:p>
        </p:txBody>
      </p:sp>
      <p:sp>
        <p:nvSpPr>
          <p:cNvPr id="4" name="Slide Number Placeholder 3"/>
          <p:cNvSpPr>
            <a:spLocks noGrp="1"/>
          </p:cNvSpPr>
          <p:nvPr>
            <p:ph type="sldNum" sz="quarter" idx="5"/>
          </p:nvPr>
        </p:nvSpPr>
        <p:spPr/>
        <p:txBody>
          <a:bodyPr/>
          <a:lstStyle/>
          <a:p>
            <a:fld id="{3878A9BD-E4B0-4720-8C39-2BE0C898994F}" type="slidenum">
              <a:rPr lang="en-IN" smtClean="0"/>
              <a:t>25</a:t>
            </a:fld>
            <a:endParaRPr lang="en-IN"/>
          </a:p>
        </p:txBody>
      </p:sp>
    </p:spTree>
    <p:extLst>
      <p:ext uri="{BB962C8B-B14F-4D97-AF65-F5344CB8AC3E}">
        <p14:creationId xmlns:p14="http://schemas.microsoft.com/office/powerpoint/2010/main" val="1892895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3/1.87=1.60</a:t>
            </a:r>
          </a:p>
        </p:txBody>
      </p:sp>
      <p:sp>
        <p:nvSpPr>
          <p:cNvPr id="4" name="Slide Number Placeholder 3"/>
          <p:cNvSpPr>
            <a:spLocks noGrp="1"/>
          </p:cNvSpPr>
          <p:nvPr>
            <p:ph type="sldNum" sz="quarter" idx="5"/>
          </p:nvPr>
        </p:nvSpPr>
        <p:spPr/>
        <p:txBody>
          <a:bodyPr/>
          <a:lstStyle/>
          <a:p>
            <a:fld id="{3878A9BD-E4B0-4720-8C39-2BE0C898994F}" type="slidenum">
              <a:rPr lang="en-IN" smtClean="0"/>
              <a:t>29</a:t>
            </a:fld>
            <a:endParaRPr lang="en-IN"/>
          </a:p>
        </p:txBody>
      </p:sp>
    </p:spTree>
    <p:extLst>
      <p:ext uri="{BB962C8B-B14F-4D97-AF65-F5344CB8AC3E}">
        <p14:creationId xmlns:p14="http://schemas.microsoft.com/office/powerpoint/2010/main" val="31243768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878A9BD-E4B0-4720-8C39-2BE0C898994F}" type="slidenum">
              <a:rPr lang="en-IN" smtClean="0"/>
              <a:t>31</a:t>
            </a:fld>
            <a:endParaRPr lang="en-IN"/>
          </a:p>
        </p:txBody>
      </p:sp>
    </p:spTree>
    <p:extLst>
      <p:ext uri="{BB962C8B-B14F-4D97-AF65-F5344CB8AC3E}">
        <p14:creationId xmlns:p14="http://schemas.microsoft.com/office/powerpoint/2010/main" val="2792147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Suppose you have a sample size of one. Chances are that this sample may fall in the outside of 95% interval range of the population main. So saying that there are 95% chance that this interval contains population mean can’ be said correct; however, if we take so many samples then the mean of those samples will be near the population mean, and the above ‘not so correct statement’ will gain some value. So the better interpretation is the second one. But first is how many people understand confidence level.</a:t>
            </a:r>
          </a:p>
        </p:txBody>
      </p:sp>
      <p:sp>
        <p:nvSpPr>
          <p:cNvPr id="4" name="Slide Number Placeholder 3"/>
          <p:cNvSpPr>
            <a:spLocks noGrp="1"/>
          </p:cNvSpPr>
          <p:nvPr>
            <p:ph type="sldNum" sz="quarter" idx="5"/>
          </p:nvPr>
        </p:nvSpPr>
        <p:spPr/>
        <p:txBody>
          <a:bodyPr/>
          <a:lstStyle/>
          <a:p>
            <a:fld id="{8B593BA9-F7D8-4651-8AE5-1E9B1474C01B}" type="slidenum">
              <a:rPr lang="en-IN" smtClean="0"/>
              <a:t>36</a:t>
            </a:fld>
            <a:endParaRPr lang="en-IN"/>
          </a:p>
        </p:txBody>
      </p:sp>
    </p:spTree>
    <p:extLst>
      <p:ext uri="{BB962C8B-B14F-4D97-AF65-F5344CB8AC3E}">
        <p14:creationId xmlns:p14="http://schemas.microsoft.com/office/powerpoint/2010/main" val="39214731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1.7 and [215.3, 218.7]</a:t>
            </a:r>
          </a:p>
        </p:txBody>
      </p:sp>
      <p:sp>
        <p:nvSpPr>
          <p:cNvPr id="4" name="Slide Number Placeholder 3"/>
          <p:cNvSpPr>
            <a:spLocks noGrp="1"/>
          </p:cNvSpPr>
          <p:nvPr>
            <p:ph type="sldNum" sz="quarter" idx="5"/>
          </p:nvPr>
        </p:nvSpPr>
        <p:spPr/>
        <p:txBody>
          <a:bodyPr/>
          <a:lstStyle/>
          <a:p>
            <a:fld id="{8B593BA9-F7D8-4651-8AE5-1E9B1474C01B}" type="slidenum">
              <a:rPr lang="en-IN" smtClean="0"/>
              <a:t>38</a:t>
            </a:fld>
            <a:endParaRPr lang="en-IN"/>
          </a:p>
        </p:txBody>
      </p:sp>
    </p:spTree>
    <p:extLst>
      <p:ext uri="{BB962C8B-B14F-4D97-AF65-F5344CB8AC3E}">
        <p14:creationId xmlns:p14="http://schemas.microsoft.com/office/powerpoint/2010/main" val="2351343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B593BA9-F7D8-4651-8AE5-1E9B1474C01B}" type="slidenum">
              <a:rPr lang="en-IN" smtClean="0"/>
              <a:t>39</a:t>
            </a:fld>
            <a:endParaRPr lang="en-IN"/>
          </a:p>
        </p:txBody>
      </p:sp>
    </p:spTree>
    <p:extLst>
      <p:ext uri="{BB962C8B-B14F-4D97-AF65-F5344CB8AC3E}">
        <p14:creationId xmlns:p14="http://schemas.microsoft.com/office/powerpoint/2010/main" val="34422464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21+1.96(0.6) and 21-1.96(0.6)</a:t>
            </a:r>
          </a:p>
        </p:txBody>
      </p:sp>
      <p:sp>
        <p:nvSpPr>
          <p:cNvPr id="4" name="Slide Number Placeholder 3"/>
          <p:cNvSpPr>
            <a:spLocks noGrp="1"/>
          </p:cNvSpPr>
          <p:nvPr>
            <p:ph type="sldNum" sz="quarter" idx="5"/>
          </p:nvPr>
        </p:nvSpPr>
        <p:spPr/>
        <p:txBody>
          <a:bodyPr/>
          <a:lstStyle/>
          <a:p>
            <a:fld id="{8B593BA9-F7D8-4651-8AE5-1E9B1474C01B}" type="slidenum">
              <a:rPr lang="en-IN" smtClean="0"/>
              <a:t>40</a:t>
            </a:fld>
            <a:endParaRPr lang="en-IN"/>
          </a:p>
        </p:txBody>
      </p:sp>
    </p:spTree>
    <p:extLst>
      <p:ext uri="{BB962C8B-B14F-4D97-AF65-F5344CB8AC3E}">
        <p14:creationId xmlns:p14="http://schemas.microsoft.com/office/powerpoint/2010/main" val="25148535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634AF4-DFEE-F677-C8EE-A063A26DA1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7BD5876-65D0-4C27-D7A1-E377C54CBB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0399CF3-CA2C-23BF-AD40-45629E038F85}"/>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5" name="Footer Placeholder 4">
            <a:extLst>
              <a:ext uri="{FF2B5EF4-FFF2-40B4-BE49-F238E27FC236}">
                <a16:creationId xmlns:a16="http://schemas.microsoft.com/office/drawing/2014/main" id="{FB54F94A-CD0F-2776-18B5-C2AC199D95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CE0AE9-7E72-A12C-A5AC-A5BDFE3AF5A3}"/>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2289057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36B60-97EB-A46E-3CEF-C70207BC6F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5032B95-99B5-63FA-D524-47556C5F9E8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11CCE3-AD77-6549-C5BF-B37341802963}"/>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5" name="Footer Placeholder 4">
            <a:extLst>
              <a:ext uri="{FF2B5EF4-FFF2-40B4-BE49-F238E27FC236}">
                <a16:creationId xmlns:a16="http://schemas.microsoft.com/office/drawing/2014/main" id="{834DB065-87EE-A1EB-3DC1-3388223FFB1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C64B29-0325-D4B5-4738-93BCA5C6C79E}"/>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3503105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671874-7C8D-0EE7-CD6E-0A69A0B6039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CF383AA-0B1B-8160-E06F-B03D02ACAB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5D78F9F-D1B4-3EB7-03FB-2AE9DBA24190}"/>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5" name="Footer Placeholder 4">
            <a:extLst>
              <a:ext uri="{FF2B5EF4-FFF2-40B4-BE49-F238E27FC236}">
                <a16:creationId xmlns:a16="http://schemas.microsoft.com/office/drawing/2014/main" id="{BB178F23-6478-8632-F331-940DD6FF6AD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8D3BCF-31A5-64BC-04F3-BABA1D8151C3}"/>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27830609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E4B25-536C-56E9-12F2-3E8FD4C9F3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3943FE-3873-6A1E-54E0-BFF6527FD1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9479B56-906C-B7E0-5C54-C3F6B81645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A6929A2-C0D5-8F4C-27C4-626D7084B841}"/>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6" name="Footer Placeholder 5">
            <a:extLst>
              <a:ext uri="{FF2B5EF4-FFF2-40B4-BE49-F238E27FC236}">
                <a16:creationId xmlns:a16="http://schemas.microsoft.com/office/drawing/2014/main" id="{FDA6D1D5-5C88-6643-BF85-65A32E31CC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214C4E5-1186-84CD-02A3-7ED43678EF39}"/>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1977247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7326C-7812-35C3-B9A5-764EC66B8B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4F7F3A2-141D-214C-406E-0F8CE6E7F6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38532B-A195-7D3A-173F-129F49BF4B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FE3D87-C932-9DAC-58E7-0075BDEC53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94C00E-CA99-2489-CC5B-45A8E9D295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C555C8D-51FB-D55C-E879-41198B845B99}"/>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8" name="Footer Placeholder 7">
            <a:extLst>
              <a:ext uri="{FF2B5EF4-FFF2-40B4-BE49-F238E27FC236}">
                <a16:creationId xmlns:a16="http://schemas.microsoft.com/office/drawing/2014/main" id="{D3ED76C8-0CA1-BEB8-C28B-5F3E5D9608A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BBBCD01-67AF-119E-4B7F-5C7BA5F19119}"/>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2616486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7DF5-09B8-62DE-995B-D81B5ED9647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299C681-FC5D-4D37-CAE1-37C3AF7BAB1B}"/>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4" name="Footer Placeholder 3">
            <a:extLst>
              <a:ext uri="{FF2B5EF4-FFF2-40B4-BE49-F238E27FC236}">
                <a16:creationId xmlns:a16="http://schemas.microsoft.com/office/drawing/2014/main" id="{96F62E1E-A9AB-A8D0-C465-69E4F9EA77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7F73C2-172B-F62F-0BC4-DE0AA61BADAF}"/>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1596065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54FE399-328F-ADBE-FB05-4128D22F7AE1}"/>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3" name="Footer Placeholder 2">
            <a:extLst>
              <a:ext uri="{FF2B5EF4-FFF2-40B4-BE49-F238E27FC236}">
                <a16:creationId xmlns:a16="http://schemas.microsoft.com/office/drawing/2014/main" id="{D15E0816-0166-A35D-583A-C5F8DF280F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B466F25-D34D-05E9-37B8-8A3B20FD0D91}"/>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296556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C9C5D-839E-80A7-9E0C-CCB9FE9097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F5821B4-0AE8-FE9F-DB5A-696A335AC4C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73D4A70-BA24-5258-511B-1A78EE4C52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C7FA77-4E02-08C9-710F-482C9C288D92}"/>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6" name="Footer Placeholder 5">
            <a:extLst>
              <a:ext uri="{FF2B5EF4-FFF2-40B4-BE49-F238E27FC236}">
                <a16:creationId xmlns:a16="http://schemas.microsoft.com/office/drawing/2014/main" id="{878E3F7E-2BFE-C362-9090-E6B21A8157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4E7B715-BB2E-508B-EC97-AC0982D37C47}"/>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3204522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31F5E-89BF-6F2D-9AC8-F152144E84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9BDD4E0-DDBF-CDBE-89DD-2C8576AAED4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7EE1B81-E7C4-259B-81C8-D980B86E16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709D64-50B0-E25B-7FD7-B5475D392CF8}"/>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6" name="Footer Placeholder 5">
            <a:extLst>
              <a:ext uri="{FF2B5EF4-FFF2-40B4-BE49-F238E27FC236}">
                <a16:creationId xmlns:a16="http://schemas.microsoft.com/office/drawing/2014/main" id="{5697AEE4-34C4-DA09-6FED-60AA8C63CFC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9BEE388-DECC-2520-A6C6-451F2AC4381F}"/>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557343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D101B-FB14-47AC-0208-3C704877213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0D55207-01FD-97CE-FB28-B7F5C033DB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0E5849D-2D18-0179-F569-9693FE3827E5}"/>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5" name="Footer Placeholder 4">
            <a:extLst>
              <a:ext uri="{FF2B5EF4-FFF2-40B4-BE49-F238E27FC236}">
                <a16:creationId xmlns:a16="http://schemas.microsoft.com/office/drawing/2014/main" id="{E9F4D93F-2263-9612-B927-054C3CCD42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DF4482-B85A-1857-1B71-4B72DB43B908}"/>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4109519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53D620-1342-758B-4B55-7476B24719A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70E7CB-7941-878C-4A9B-63F8545C9AF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D45C60-C97C-9D4F-99B7-B60D8D1F4EA2}"/>
              </a:ext>
            </a:extLst>
          </p:cNvPr>
          <p:cNvSpPr>
            <a:spLocks noGrp="1"/>
          </p:cNvSpPr>
          <p:nvPr>
            <p:ph type="dt" sz="half" idx="10"/>
          </p:nvPr>
        </p:nvSpPr>
        <p:spPr/>
        <p:txBody>
          <a:bodyPr/>
          <a:lstStyle/>
          <a:p>
            <a:fld id="{D422D46F-C7F5-4C64-9184-295536C700DA}" type="datetimeFigureOut">
              <a:rPr lang="en-IN" smtClean="0"/>
              <a:t>28-07-2025</a:t>
            </a:fld>
            <a:endParaRPr lang="en-IN"/>
          </a:p>
        </p:txBody>
      </p:sp>
      <p:sp>
        <p:nvSpPr>
          <p:cNvPr id="5" name="Footer Placeholder 4">
            <a:extLst>
              <a:ext uri="{FF2B5EF4-FFF2-40B4-BE49-F238E27FC236}">
                <a16:creationId xmlns:a16="http://schemas.microsoft.com/office/drawing/2014/main" id="{F2B8279C-E906-BF8D-ECA7-0C0A9C027A0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3EC0FD-38C1-6FDE-EA90-726633775B47}"/>
              </a:ext>
            </a:extLst>
          </p:cNvPr>
          <p:cNvSpPr>
            <a:spLocks noGrp="1"/>
          </p:cNvSpPr>
          <p:nvPr>
            <p:ph type="sldNum" sz="quarter" idx="12"/>
          </p:nvPr>
        </p:nvSpPr>
        <p:spPr/>
        <p:txBody>
          <a:bodyPr/>
          <a:lstStyle/>
          <a:p>
            <a:fld id="{69F0D9D6-6E23-4208-9CA6-74484F5FE293}" type="slidenum">
              <a:rPr lang="en-IN" smtClean="0"/>
              <a:t>‹#›</a:t>
            </a:fld>
            <a:endParaRPr lang="en-IN"/>
          </a:p>
        </p:txBody>
      </p:sp>
    </p:spTree>
    <p:extLst>
      <p:ext uri="{BB962C8B-B14F-4D97-AF65-F5344CB8AC3E}">
        <p14:creationId xmlns:p14="http://schemas.microsoft.com/office/powerpoint/2010/main" val="36166766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42ECF5C-08CC-804E-9CBB-8008E69AE0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7A7126A-0ADA-2677-BACE-65DB61BFAA5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ECB188-AEBD-9858-6855-596FC5B7D3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22D46F-C7F5-4C64-9184-295536C700DA}" type="datetimeFigureOut">
              <a:rPr lang="en-IN" smtClean="0"/>
              <a:t>28-07-2025</a:t>
            </a:fld>
            <a:endParaRPr lang="en-IN"/>
          </a:p>
        </p:txBody>
      </p:sp>
      <p:sp>
        <p:nvSpPr>
          <p:cNvPr id="5" name="Footer Placeholder 4">
            <a:extLst>
              <a:ext uri="{FF2B5EF4-FFF2-40B4-BE49-F238E27FC236}">
                <a16:creationId xmlns:a16="http://schemas.microsoft.com/office/drawing/2014/main" id="{2D63EB0E-B914-22BD-C7B6-4590AE3717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E663F07-C4EB-E068-B223-A060AF9BFC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F0D9D6-6E23-4208-9CA6-74484F5FE293}" type="slidenum">
              <a:rPr lang="en-IN" smtClean="0"/>
              <a:t>‹#›</a:t>
            </a:fld>
            <a:endParaRPr lang="en-IN"/>
          </a:p>
        </p:txBody>
      </p:sp>
    </p:spTree>
    <p:extLst>
      <p:ext uri="{BB962C8B-B14F-4D97-AF65-F5344CB8AC3E}">
        <p14:creationId xmlns:p14="http://schemas.microsoft.com/office/powerpoint/2010/main" val="40590486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72" Type="http://schemas.openxmlformats.org/officeDocument/2006/relationships/image" Target="NULL"/><Relationship Id="rId3" Type="http://schemas.openxmlformats.org/officeDocument/2006/relationships/customXml" Target="../ink/ink1.xml"/><Relationship Id="rId21" Type="http://schemas.openxmlformats.org/officeDocument/2006/relationships/customXml" Target="../ink/ink2.xml"/><Relationship Id="rId2" Type="http://schemas.openxmlformats.org/officeDocument/2006/relationships/image" Target="../media/image1.png"/><Relationship Id="rId20" Type="http://schemas.openxmlformats.org/officeDocument/2006/relationships/image" Target="NULL"/><Relationship Id="rId1" Type="http://schemas.openxmlformats.org/officeDocument/2006/relationships/slideLayout" Target="../slideLayouts/slideLayout2.xml"/><Relationship Id="rId74" Type="http://schemas.openxmlformats.org/officeDocument/2006/relationships/image" Target="NULL"/><Relationship Id="rId73" Type="http://schemas.openxmlformats.org/officeDocument/2006/relationships/customXml" Target="../ink/ink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NULL"/><Relationship Id="rId2" Type="http://schemas.openxmlformats.org/officeDocument/2006/relationships/image" Target="NUL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NUL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10.png"/></Relationships>
</file>

<file path=ppt/slides/_rels/slide37.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customXml" Target="../ink/ink5.xml"/><Relationship Id="rId7" Type="http://schemas.openxmlformats.org/officeDocument/2006/relationships/customXml" Target="../ink/ink7.xml"/><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60.png"/><Relationship Id="rId5" Type="http://schemas.openxmlformats.org/officeDocument/2006/relationships/customXml" Target="../ink/ink6.xml"/><Relationship Id="rId10" Type="http://schemas.openxmlformats.org/officeDocument/2006/relationships/image" Target="../media/image81.png"/><Relationship Id="rId4" Type="http://schemas.openxmlformats.org/officeDocument/2006/relationships/image" Target="../media/image51.png"/><Relationship Id="rId9" Type="http://schemas.openxmlformats.org/officeDocument/2006/relationships/customXml" Target="../ink/ink8.xml"/></Relationships>
</file>

<file path=ppt/slides/_rels/slide3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0.png"/><Relationship Id="rId4" Type="http://schemas.openxmlformats.org/officeDocument/2006/relationships/customXml" Target="../ink/ink9.xml"/></Relationships>
</file>

<file path=ppt/slides/_rels/slide3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23.png"/><Relationship Id="rId4" Type="http://schemas.openxmlformats.org/officeDocument/2006/relationships/image" Target="../media/image122.png"/></Relationships>
</file>

<file path=ppt/slides/_rels/slide40.xml.rels><?xml version="1.0" encoding="UTF-8" standalone="yes"?>
<Relationships xmlns="http://schemas.openxmlformats.org/package/2006/relationships"><Relationship Id="rId3" Type="http://schemas.openxmlformats.org/officeDocument/2006/relationships/image" Target="../media/image7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418AB-10A7-8918-331D-5C6391E3C502}"/>
              </a:ext>
            </a:extLst>
          </p:cNvPr>
          <p:cNvSpPr>
            <a:spLocks noGrp="1"/>
          </p:cNvSpPr>
          <p:nvPr>
            <p:ph type="ctrTitle"/>
          </p:nvPr>
        </p:nvSpPr>
        <p:spPr/>
        <p:txBody>
          <a:bodyPr/>
          <a:lstStyle/>
          <a:p>
            <a:r>
              <a:rPr lang="en-IN" dirty="0"/>
              <a:t>Deep Learning Lect#1</a:t>
            </a:r>
          </a:p>
        </p:txBody>
      </p:sp>
      <p:sp>
        <p:nvSpPr>
          <p:cNvPr id="3" name="Subtitle 2">
            <a:extLst>
              <a:ext uri="{FF2B5EF4-FFF2-40B4-BE49-F238E27FC236}">
                <a16:creationId xmlns:a16="http://schemas.microsoft.com/office/drawing/2014/main" id="{85709D2D-351C-FCFB-239B-9111759F1F15}"/>
              </a:ext>
            </a:extLst>
          </p:cNvPr>
          <p:cNvSpPr>
            <a:spLocks noGrp="1"/>
          </p:cNvSpPr>
          <p:nvPr>
            <p:ph type="subTitle" idx="1"/>
          </p:nvPr>
        </p:nvSpPr>
        <p:spPr/>
        <p:txBody>
          <a:bodyPr/>
          <a:lstStyle/>
          <a:p>
            <a:r>
              <a:rPr lang="en-IN" dirty="0"/>
              <a:t>Quick Stats Refresher</a:t>
            </a:r>
          </a:p>
        </p:txBody>
      </p:sp>
    </p:spTree>
    <p:extLst>
      <p:ext uri="{BB962C8B-B14F-4D97-AF65-F5344CB8AC3E}">
        <p14:creationId xmlns:p14="http://schemas.microsoft.com/office/powerpoint/2010/main" val="2203779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C7B4B-FF87-40AE-835E-19675FA7B73E}"/>
              </a:ext>
            </a:extLst>
          </p:cNvPr>
          <p:cNvSpPr>
            <a:spLocks noGrp="1"/>
          </p:cNvSpPr>
          <p:nvPr>
            <p:ph type="ctrTitle"/>
          </p:nvPr>
        </p:nvSpPr>
        <p:spPr/>
        <p:txBody>
          <a:bodyPr/>
          <a:lstStyle/>
          <a:p>
            <a:r>
              <a:rPr lang="en-IN" dirty="0"/>
              <a:t>Central Tendency</a:t>
            </a:r>
          </a:p>
        </p:txBody>
      </p:sp>
      <p:sp>
        <p:nvSpPr>
          <p:cNvPr id="3" name="Subtitle 2">
            <a:extLst>
              <a:ext uri="{FF2B5EF4-FFF2-40B4-BE49-F238E27FC236}">
                <a16:creationId xmlns:a16="http://schemas.microsoft.com/office/drawing/2014/main" id="{7B076792-A506-4F50-9626-EE68D0A172D0}"/>
              </a:ext>
            </a:extLst>
          </p:cNvPr>
          <p:cNvSpPr>
            <a:spLocks noGrp="1"/>
          </p:cNvSpPr>
          <p:nvPr>
            <p:ph type="subTitle" idx="1"/>
          </p:nvPr>
        </p:nvSpPr>
        <p:spPr/>
        <p:txBody>
          <a:bodyPr/>
          <a:lstStyle/>
          <a:p>
            <a:r>
              <a:rPr lang="en-IN" dirty="0"/>
              <a:t>Mean, Mode and Median</a:t>
            </a:r>
          </a:p>
        </p:txBody>
      </p:sp>
    </p:spTree>
    <p:extLst>
      <p:ext uri="{BB962C8B-B14F-4D97-AF65-F5344CB8AC3E}">
        <p14:creationId xmlns:p14="http://schemas.microsoft.com/office/powerpoint/2010/main" val="22927288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9D091-B645-454E-AEB5-DF3FE35D6AAB}"/>
              </a:ext>
            </a:extLst>
          </p:cNvPr>
          <p:cNvSpPr>
            <a:spLocks noGrp="1"/>
          </p:cNvSpPr>
          <p:nvPr>
            <p:ph type="title"/>
          </p:nvPr>
        </p:nvSpPr>
        <p:spPr/>
        <p:txBody>
          <a:bodyPr/>
          <a:lstStyle/>
          <a:p>
            <a:pPr algn="ctr"/>
            <a:r>
              <a:rPr lang="en-IN" dirty="0"/>
              <a:t>Central Tendency</a:t>
            </a:r>
          </a:p>
        </p:txBody>
      </p:sp>
      <p:pic>
        <p:nvPicPr>
          <p:cNvPr id="6" name="Content Placeholder 5">
            <a:extLst>
              <a:ext uri="{FF2B5EF4-FFF2-40B4-BE49-F238E27FC236}">
                <a16:creationId xmlns:a16="http://schemas.microsoft.com/office/drawing/2014/main" id="{C90427D1-F38C-44FD-9056-19079C2478B1}"/>
              </a:ext>
            </a:extLst>
          </p:cNvPr>
          <p:cNvPicPr>
            <a:picLocks noGrp="1" noChangeAspect="1"/>
          </p:cNvPicPr>
          <p:nvPr>
            <p:ph idx="1"/>
          </p:nvPr>
        </p:nvPicPr>
        <p:blipFill>
          <a:blip r:embed="rId2"/>
          <a:stretch>
            <a:fillRect/>
          </a:stretch>
        </p:blipFill>
        <p:spPr>
          <a:xfrm>
            <a:off x="2722476" y="3897623"/>
            <a:ext cx="6531489" cy="1926860"/>
          </a:xfrm>
        </p:spPr>
      </p:pic>
      <p:sp>
        <p:nvSpPr>
          <p:cNvPr id="4" name="Rectangle 3">
            <a:extLst>
              <a:ext uri="{FF2B5EF4-FFF2-40B4-BE49-F238E27FC236}">
                <a16:creationId xmlns:a16="http://schemas.microsoft.com/office/drawing/2014/main" id="{43F1B637-438B-4C21-A1C6-A17B291FB6A9}"/>
              </a:ext>
            </a:extLst>
          </p:cNvPr>
          <p:cNvSpPr/>
          <p:nvPr/>
        </p:nvSpPr>
        <p:spPr>
          <a:xfrm>
            <a:off x="2133600" y="2364259"/>
            <a:ext cx="7768281" cy="972065"/>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Central tendency is the middle-point of a distribution</a:t>
            </a:r>
          </a:p>
        </p:txBody>
      </p:sp>
      <mc:AlternateContent xmlns:mc="http://schemas.openxmlformats.org/markup-compatibility/2006" xmlns:p14="http://schemas.microsoft.com/office/powerpoint/2010/main">
        <mc:Choice Requires="p14">
          <p:contentPart p14:bwMode="auto" r:id="rId3">
            <p14:nvContentPartPr>
              <p14:cNvPr id="44" name="Ink 43">
                <a:extLst>
                  <a:ext uri="{FF2B5EF4-FFF2-40B4-BE49-F238E27FC236}">
                    <a16:creationId xmlns:a16="http://schemas.microsoft.com/office/drawing/2014/main" id="{D99DC8FA-B9B8-43D7-A64D-3C6350C871EF}"/>
                  </a:ext>
                </a:extLst>
              </p14:cNvPr>
              <p14:cNvContentPartPr/>
              <p14:nvPr/>
            </p14:nvContentPartPr>
            <p14:xfrm>
              <a:off x="629883" y="3828237"/>
              <a:ext cx="11880" cy="18360"/>
            </p14:xfrm>
          </p:contentPart>
        </mc:Choice>
        <mc:Fallback xmlns="">
          <p:pic>
            <p:nvPicPr>
              <p:cNvPr id="44" name="Ink 43">
                <a:extLst>
                  <a:ext uri="{FF2B5EF4-FFF2-40B4-BE49-F238E27FC236}">
                    <a16:creationId xmlns:a16="http://schemas.microsoft.com/office/drawing/2014/main" id="{D99DC8FA-B9B8-43D7-A64D-3C6350C871EF}"/>
                  </a:ext>
                </a:extLst>
              </p:cNvPr>
              <p:cNvPicPr/>
              <p:nvPr/>
            </p:nvPicPr>
            <p:blipFill>
              <a:blip r:embed="rId20"/>
              <a:stretch>
                <a:fillRect/>
              </a:stretch>
            </p:blipFill>
            <p:spPr>
              <a:xfrm>
                <a:off x="620883" y="3819597"/>
                <a:ext cx="295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48" name="Ink 47">
                <a:extLst>
                  <a:ext uri="{FF2B5EF4-FFF2-40B4-BE49-F238E27FC236}">
                    <a16:creationId xmlns:a16="http://schemas.microsoft.com/office/drawing/2014/main" id="{A4A3C07B-DC29-4145-A76E-AE21F69C0BCA}"/>
                  </a:ext>
                </a:extLst>
              </p14:cNvPr>
              <p14:cNvContentPartPr/>
              <p14:nvPr/>
            </p14:nvContentPartPr>
            <p14:xfrm>
              <a:off x="4913883" y="4142157"/>
              <a:ext cx="6480" cy="2160"/>
            </p14:xfrm>
          </p:contentPart>
        </mc:Choice>
        <mc:Fallback xmlns="">
          <p:pic>
            <p:nvPicPr>
              <p:cNvPr id="48" name="Ink 47">
                <a:extLst>
                  <a:ext uri="{FF2B5EF4-FFF2-40B4-BE49-F238E27FC236}">
                    <a16:creationId xmlns:a16="http://schemas.microsoft.com/office/drawing/2014/main" id="{A4A3C07B-DC29-4145-A76E-AE21F69C0BCA}"/>
                  </a:ext>
                </a:extLst>
              </p:cNvPr>
              <p:cNvPicPr/>
              <p:nvPr/>
            </p:nvPicPr>
            <p:blipFill>
              <a:blip r:embed="rId72"/>
              <a:stretch>
                <a:fillRect/>
              </a:stretch>
            </p:blipFill>
            <p:spPr>
              <a:xfrm>
                <a:off x="4905243" y="4133157"/>
                <a:ext cx="24120" cy="198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9" name="Ink 48">
                <a:extLst>
                  <a:ext uri="{FF2B5EF4-FFF2-40B4-BE49-F238E27FC236}">
                    <a16:creationId xmlns:a16="http://schemas.microsoft.com/office/drawing/2014/main" id="{45B95635-360D-4146-8A2F-922470888836}"/>
                  </a:ext>
                </a:extLst>
              </p14:cNvPr>
              <p14:cNvContentPartPr/>
              <p14:nvPr/>
            </p14:nvContentPartPr>
            <p14:xfrm>
              <a:off x="3965283" y="3871797"/>
              <a:ext cx="27720" cy="7200"/>
            </p14:xfrm>
          </p:contentPart>
        </mc:Choice>
        <mc:Fallback xmlns="">
          <p:pic>
            <p:nvPicPr>
              <p:cNvPr id="49" name="Ink 48">
                <a:extLst>
                  <a:ext uri="{FF2B5EF4-FFF2-40B4-BE49-F238E27FC236}">
                    <a16:creationId xmlns:a16="http://schemas.microsoft.com/office/drawing/2014/main" id="{45B95635-360D-4146-8A2F-922470888836}"/>
                  </a:ext>
                </a:extLst>
              </p:cNvPr>
              <p:cNvPicPr/>
              <p:nvPr/>
            </p:nvPicPr>
            <p:blipFill>
              <a:blip r:embed="rId74"/>
              <a:stretch>
                <a:fillRect/>
              </a:stretch>
            </p:blipFill>
            <p:spPr>
              <a:xfrm>
                <a:off x="3956283" y="3863157"/>
                <a:ext cx="45360" cy="24840"/>
              </a:xfrm>
              <a:prstGeom prst="rect">
                <a:avLst/>
              </a:prstGeom>
            </p:spPr>
          </p:pic>
        </mc:Fallback>
      </mc:AlternateContent>
    </p:spTree>
    <p:extLst>
      <p:ext uri="{BB962C8B-B14F-4D97-AF65-F5344CB8AC3E}">
        <p14:creationId xmlns:p14="http://schemas.microsoft.com/office/powerpoint/2010/main" val="419352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D35E5-6F97-4311-B267-63D91B7D7EE6}"/>
              </a:ext>
            </a:extLst>
          </p:cNvPr>
          <p:cNvSpPr>
            <a:spLocks noGrp="1"/>
          </p:cNvSpPr>
          <p:nvPr>
            <p:ph type="title"/>
          </p:nvPr>
        </p:nvSpPr>
        <p:spPr/>
        <p:txBody>
          <a:bodyPr/>
          <a:lstStyle/>
          <a:p>
            <a:pPr algn="ctr"/>
            <a:r>
              <a:rPr lang="en-IN" dirty="0"/>
              <a:t>Dispersion</a:t>
            </a:r>
          </a:p>
        </p:txBody>
      </p:sp>
      <p:sp>
        <p:nvSpPr>
          <p:cNvPr id="4" name="Content Placeholder 3">
            <a:extLst>
              <a:ext uri="{FF2B5EF4-FFF2-40B4-BE49-F238E27FC236}">
                <a16:creationId xmlns:a16="http://schemas.microsoft.com/office/drawing/2014/main" id="{8F982947-E389-4227-A5C8-C9562E0FE475}"/>
              </a:ext>
            </a:extLst>
          </p:cNvPr>
          <p:cNvSpPr>
            <a:spLocks noGrp="1"/>
          </p:cNvSpPr>
          <p:nvPr>
            <p:ph idx="1"/>
          </p:nvPr>
        </p:nvSpPr>
        <p:spPr>
          <a:xfrm>
            <a:off x="1606377" y="2064522"/>
            <a:ext cx="8684741" cy="85991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IN" dirty="0">
                <a:solidFill>
                  <a:srgbClr val="C00000"/>
                </a:solidFill>
              </a:rPr>
              <a:t>Dispersion is the spread of the data in a distribution</a:t>
            </a:r>
          </a:p>
        </p:txBody>
      </p:sp>
      <p:pic>
        <p:nvPicPr>
          <p:cNvPr id="6" name="Picture 5">
            <a:extLst>
              <a:ext uri="{FF2B5EF4-FFF2-40B4-BE49-F238E27FC236}">
                <a16:creationId xmlns:a16="http://schemas.microsoft.com/office/drawing/2014/main" id="{0318F0FB-30AB-4F5D-9B42-AE8B1EDA510F}"/>
              </a:ext>
            </a:extLst>
          </p:cNvPr>
          <p:cNvPicPr>
            <a:picLocks noChangeAspect="1"/>
          </p:cNvPicPr>
          <p:nvPr/>
        </p:nvPicPr>
        <p:blipFill>
          <a:blip r:embed="rId2"/>
          <a:stretch>
            <a:fillRect/>
          </a:stretch>
        </p:blipFill>
        <p:spPr>
          <a:xfrm>
            <a:off x="2812706" y="3582171"/>
            <a:ext cx="6021473" cy="2176077"/>
          </a:xfrm>
          <a:prstGeom prst="rect">
            <a:avLst/>
          </a:prstGeom>
        </p:spPr>
      </p:pic>
    </p:spTree>
    <p:extLst>
      <p:ext uri="{BB962C8B-B14F-4D97-AF65-F5344CB8AC3E}">
        <p14:creationId xmlns:p14="http://schemas.microsoft.com/office/powerpoint/2010/main" val="2920933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1000"/>
                                        <p:tgtEl>
                                          <p:spTgt spid="4">
                                            <p:bg/>
                                          </p:spTgt>
                                        </p:tgtEl>
                                      </p:cBhvr>
                                    </p:animEffect>
                                    <p:anim calcmode="lin" valueType="num">
                                      <p:cBhvr>
                                        <p:cTn id="8" dur="1000" fill="hold"/>
                                        <p:tgtEl>
                                          <p:spTgt spid="4">
                                            <p:bg/>
                                          </p:spTgt>
                                        </p:tgtEl>
                                        <p:attrNameLst>
                                          <p:attrName>ppt_x</p:attrName>
                                        </p:attrNameLst>
                                      </p:cBhvr>
                                      <p:tavLst>
                                        <p:tav tm="0">
                                          <p:val>
                                            <p:strVal val="#ppt_x"/>
                                          </p:val>
                                        </p:tav>
                                        <p:tav tm="100000">
                                          <p:val>
                                            <p:strVal val="#ppt_x"/>
                                          </p:val>
                                        </p:tav>
                                      </p:tavLst>
                                    </p:anim>
                                    <p:anim calcmode="lin" valueType="num">
                                      <p:cBhvr>
                                        <p:cTn id="9" dur="1000" fill="hold"/>
                                        <p:tgtEl>
                                          <p:spTgt spid="4">
                                            <p:bg/>
                                          </p:spTgt>
                                        </p:tgtEl>
                                        <p:attrNameLst>
                                          <p:attrName>ppt_y</p:attrName>
                                        </p:attrNameLst>
                                      </p:cBhvr>
                                      <p:tavLst>
                                        <p:tav tm="0">
                                          <p:val>
                                            <p:strVal val="#ppt_y+.1"/>
                                          </p:val>
                                        </p:tav>
                                        <p:tav tm="100000">
                                          <p:val>
                                            <p:strVal val="#ppt_y"/>
                                          </p:val>
                                        </p:tav>
                                      </p:tavLst>
                                    </p:anim>
                                  </p:childTnLst>
                                </p:cTn>
                              </p:par>
                              <p:par>
                                <p:cTn id="10" presetID="2" presetClass="entr" presetSubtype="4" fill="hold"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1000"/>
                                        <p:tgtEl>
                                          <p:spTgt spid="6"/>
                                        </p:tgtEl>
                                      </p:cBhvr>
                                    </p:animEffect>
                                    <p:anim calcmode="lin" valueType="num">
                                      <p:cBhvr>
                                        <p:cTn id="19" dur="1000" fill="hold"/>
                                        <p:tgtEl>
                                          <p:spTgt spid="6"/>
                                        </p:tgtEl>
                                        <p:attrNameLst>
                                          <p:attrName>ppt_x</p:attrName>
                                        </p:attrNameLst>
                                      </p:cBhvr>
                                      <p:tavLst>
                                        <p:tav tm="0">
                                          <p:val>
                                            <p:strVal val="#ppt_x"/>
                                          </p:val>
                                        </p:tav>
                                        <p:tav tm="100000">
                                          <p:val>
                                            <p:strVal val="#ppt_x"/>
                                          </p:val>
                                        </p:tav>
                                      </p:tavLst>
                                    </p:anim>
                                    <p:anim calcmode="lin" valueType="num">
                                      <p:cBhvr>
                                        <p:cTn id="20"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9E558-CE87-4317-9CE1-9802A33AAE6B}"/>
              </a:ext>
            </a:extLst>
          </p:cNvPr>
          <p:cNvSpPr>
            <a:spLocks noGrp="1"/>
          </p:cNvSpPr>
          <p:nvPr>
            <p:ph type="title"/>
          </p:nvPr>
        </p:nvSpPr>
        <p:spPr/>
        <p:txBody>
          <a:bodyPr/>
          <a:lstStyle/>
          <a:p>
            <a:pPr algn="ctr"/>
            <a:r>
              <a:rPr lang="en-IN" dirty="0"/>
              <a:t>Symmetry and Skewness</a:t>
            </a:r>
          </a:p>
        </p:txBody>
      </p:sp>
      <p:pic>
        <p:nvPicPr>
          <p:cNvPr id="5" name="Content Placeholder 4">
            <a:extLst>
              <a:ext uri="{FF2B5EF4-FFF2-40B4-BE49-F238E27FC236}">
                <a16:creationId xmlns:a16="http://schemas.microsoft.com/office/drawing/2014/main" id="{F9A504F8-61D7-4784-80FB-F9F37773F8F9}"/>
              </a:ext>
            </a:extLst>
          </p:cNvPr>
          <p:cNvPicPr>
            <a:picLocks noGrp="1" noChangeAspect="1"/>
          </p:cNvPicPr>
          <p:nvPr>
            <p:ph idx="1"/>
          </p:nvPr>
        </p:nvPicPr>
        <p:blipFill>
          <a:blip r:embed="rId2"/>
          <a:stretch>
            <a:fillRect/>
          </a:stretch>
        </p:blipFill>
        <p:spPr>
          <a:xfrm>
            <a:off x="73971" y="2214721"/>
            <a:ext cx="5805941" cy="2184559"/>
          </a:xfrm>
        </p:spPr>
      </p:pic>
      <p:pic>
        <p:nvPicPr>
          <p:cNvPr id="7" name="Picture 6">
            <a:extLst>
              <a:ext uri="{FF2B5EF4-FFF2-40B4-BE49-F238E27FC236}">
                <a16:creationId xmlns:a16="http://schemas.microsoft.com/office/drawing/2014/main" id="{83ACD781-CA5A-481F-8C3F-5782650BEF9E}"/>
              </a:ext>
            </a:extLst>
          </p:cNvPr>
          <p:cNvPicPr>
            <a:picLocks noChangeAspect="1"/>
          </p:cNvPicPr>
          <p:nvPr/>
        </p:nvPicPr>
        <p:blipFill>
          <a:blip r:embed="rId3"/>
          <a:stretch>
            <a:fillRect/>
          </a:stretch>
        </p:blipFill>
        <p:spPr>
          <a:xfrm>
            <a:off x="5855731" y="2106294"/>
            <a:ext cx="5773477" cy="2384426"/>
          </a:xfrm>
          <a:prstGeom prst="rect">
            <a:avLst/>
          </a:prstGeom>
        </p:spPr>
      </p:pic>
    </p:spTree>
    <p:extLst>
      <p:ext uri="{BB962C8B-B14F-4D97-AF65-F5344CB8AC3E}">
        <p14:creationId xmlns:p14="http://schemas.microsoft.com/office/powerpoint/2010/main" val="3947644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D88EE-12D8-407F-8636-0E7B662A954A}"/>
              </a:ext>
            </a:extLst>
          </p:cNvPr>
          <p:cNvSpPr>
            <a:spLocks noGrp="1"/>
          </p:cNvSpPr>
          <p:nvPr>
            <p:ph type="title"/>
          </p:nvPr>
        </p:nvSpPr>
        <p:spPr/>
        <p:txBody>
          <a:bodyPr/>
          <a:lstStyle/>
          <a:p>
            <a:pPr algn="ctr"/>
            <a:r>
              <a:rPr lang="en-IN" dirty="0"/>
              <a:t>Kurtosis (A measure of peaked-ness and tailed-ness)</a:t>
            </a:r>
          </a:p>
        </p:txBody>
      </p:sp>
      <p:pic>
        <p:nvPicPr>
          <p:cNvPr id="10" name="Content Placeholder 9">
            <a:extLst>
              <a:ext uri="{FF2B5EF4-FFF2-40B4-BE49-F238E27FC236}">
                <a16:creationId xmlns:a16="http://schemas.microsoft.com/office/drawing/2014/main" id="{A6BA0185-706B-FBA2-908C-082CFE491869}"/>
              </a:ext>
            </a:extLst>
          </p:cNvPr>
          <p:cNvPicPr>
            <a:picLocks noGrp="1" noChangeAspect="1"/>
          </p:cNvPicPr>
          <p:nvPr>
            <p:ph idx="1"/>
          </p:nvPr>
        </p:nvPicPr>
        <p:blipFill>
          <a:blip r:embed="rId3"/>
          <a:stretch>
            <a:fillRect/>
          </a:stretch>
        </p:blipFill>
        <p:spPr>
          <a:xfrm>
            <a:off x="2447145" y="1825625"/>
            <a:ext cx="7297710" cy="4351338"/>
          </a:xfrm>
          <a:prstGeom prst="rect">
            <a:avLst/>
          </a:prstGeom>
        </p:spPr>
      </p:pic>
    </p:spTree>
    <p:extLst>
      <p:ext uri="{BB962C8B-B14F-4D97-AF65-F5344CB8AC3E}">
        <p14:creationId xmlns:p14="http://schemas.microsoft.com/office/powerpoint/2010/main" val="1520171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CA4C6-911A-43E3-BAEA-54FF39B18846}"/>
              </a:ext>
            </a:extLst>
          </p:cNvPr>
          <p:cNvSpPr>
            <a:spLocks noGrp="1"/>
          </p:cNvSpPr>
          <p:nvPr>
            <p:ph type="title"/>
          </p:nvPr>
        </p:nvSpPr>
        <p:spPr/>
        <p:txBody>
          <a:bodyPr/>
          <a:lstStyle/>
          <a:p>
            <a:pPr algn="ctr"/>
            <a:r>
              <a:rPr lang="en-IN" dirty="0"/>
              <a:t>Mean</a:t>
            </a:r>
          </a:p>
        </p:txBody>
      </p:sp>
      <p:sp>
        <p:nvSpPr>
          <p:cNvPr id="4" name="Rectangle 3">
            <a:extLst>
              <a:ext uri="{FF2B5EF4-FFF2-40B4-BE49-F238E27FC236}">
                <a16:creationId xmlns:a16="http://schemas.microsoft.com/office/drawing/2014/main" id="{E221AA92-CD59-4FD8-8BB9-38A93CB24084}"/>
              </a:ext>
            </a:extLst>
          </p:cNvPr>
          <p:cNvSpPr/>
          <p:nvPr/>
        </p:nvSpPr>
        <p:spPr>
          <a:xfrm>
            <a:off x="2895600" y="2407920"/>
            <a:ext cx="3474720" cy="7112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Population Mean</a:t>
            </a:r>
          </a:p>
        </p:txBody>
      </p:sp>
      <p:sp>
        <p:nvSpPr>
          <p:cNvPr id="7" name="Content Placeholder 6">
            <a:extLst>
              <a:ext uri="{FF2B5EF4-FFF2-40B4-BE49-F238E27FC236}">
                <a16:creationId xmlns:a16="http://schemas.microsoft.com/office/drawing/2014/main" id="{153AB6A2-75ED-474A-8591-8C4FD70CE420}"/>
              </a:ext>
            </a:extLst>
          </p:cNvPr>
          <p:cNvSpPr>
            <a:spLocks noGrp="1"/>
          </p:cNvSpPr>
          <p:nvPr>
            <p:ph idx="1"/>
          </p:nvPr>
        </p:nvSpPr>
        <p:spPr/>
        <p:txBody>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IN"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indent="0">
              <a:buNone/>
            </a:pPr>
            <a:endParaRPr lang="en-IN" dirty="0"/>
          </a:p>
        </p:txBody>
      </p:sp>
      <p:sp>
        <p:nvSpPr>
          <p:cNvPr id="8" name="Rectangle 7">
            <a:extLst>
              <a:ext uri="{FF2B5EF4-FFF2-40B4-BE49-F238E27FC236}">
                <a16:creationId xmlns:a16="http://schemas.microsoft.com/office/drawing/2014/main" id="{9E69A1CF-66F1-4812-971C-8111003312F5}"/>
              </a:ext>
            </a:extLst>
          </p:cNvPr>
          <p:cNvSpPr/>
          <p:nvPr/>
        </p:nvSpPr>
        <p:spPr>
          <a:xfrm>
            <a:off x="2895600" y="3881120"/>
            <a:ext cx="3545840" cy="7112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Sample Mean</a:t>
            </a:r>
          </a:p>
        </p:txBody>
      </p:sp>
      <mc:AlternateContent xmlns:mc="http://schemas.openxmlformats.org/markup-compatibility/2006" xmlns:a14="http://schemas.microsoft.com/office/drawing/2010/main">
        <mc:Choice Requires="a14">
          <p:sp>
            <p:nvSpPr>
              <p:cNvPr id="9" name="Oval 8">
                <a:extLst>
                  <a:ext uri="{FF2B5EF4-FFF2-40B4-BE49-F238E27FC236}">
                    <a16:creationId xmlns:a16="http://schemas.microsoft.com/office/drawing/2014/main" id="{E44FBA90-53E3-4D29-8FDE-3E1F137A7A08}"/>
                  </a:ext>
                </a:extLst>
              </p:cNvPr>
              <p:cNvSpPr/>
              <p:nvPr/>
            </p:nvSpPr>
            <p:spPr>
              <a:xfrm>
                <a:off x="7894320" y="3799840"/>
                <a:ext cx="1290320" cy="97536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IN" i="1" smtClean="0">
                              <a:solidFill>
                                <a:srgbClr val="C00000"/>
                              </a:solidFill>
                              <a:latin typeface="Cambria Math" panose="02040503050406030204" pitchFamily="18" charset="0"/>
                            </a:rPr>
                          </m:ctrlPr>
                        </m:accPr>
                        <m:e>
                          <m:r>
                            <a:rPr lang="en-IN" b="0" i="1" smtClean="0">
                              <a:solidFill>
                                <a:srgbClr val="C00000"/>
                              </a:solidFill>
                              <a:latin typeface="Cambria Math" panose="02040503050406030204" pitchFamily="18" charset="0"/>
                            </a:rPr>
                            <m:t>𝑥</m:t>
                          </m:r>
                        </m:e>
                      </m:acc>
                    </m:oMath>
                  </m:oMathPara>
                </a14:m>
                <a:endParaRPr lang="en-IN" dirty="0"/>
              </a:p>
            </p:txBody>
          </p:sp>
        </mc:Choice>
        <mc:Fallback xmlns="">
          <p:sp>
            <p:nvSpPr>
              <p:cNvPr id="9" name="Oval 8">
                <a:extLst>
                  <a:ext uri="{FF2B5EF4-FFF2-40B4-BE49-F238E27FC236}">
                    <a16:creationId xmlns:a16="http://schemas.microsoft.com/office/drawing/2014/main" id="{E44FBA90-53E3-4D29-8FDE-3E1F137A7A08}"/>
                  </a:ext>
                </a:extLst>
              </p:cNvPr>
              <p:cNvSpPr>
                <a:spLocks noRot="1" noChangeAspect="1" noMove="1" noResize="1" noEditPoints="1" noAdjustHandles="1" noChangeArrowheads="1" noChangeShapeType="1" noTextEdit="1"/>
              </p:cNvSpPr>
              <p:nvPr/>
            </p:nvSpPr>
            <p:spPr>
              <a:xfrm>
                <a:off x="7894320" y="3799840"/>
                <a:ext cx="1290320" cy="975360"/>
              </a:xfrm>
              <a:prstGeom prst="ellipse">
                <a:avLst/>
              </a:prstGeom>
              <a:blipFill>
                <a:blip r:embed="rId2"/>
                <a:stretch>
                  <a:fillRect/>
                </a:stretch>
              </a:blipFill>
            </p:spPr>
            <p:txBody>
              <a:bodyPr/>
              <a:lstStyle/>
              <a:p>
                <a:r>
                  <a:rPr lang="en-IN">
                    <a:noFill/>
                  </a:rPr>
                  <a:t> </a:t>
                </a:r>
              </a:p>
            </p:txBody>
          </p:sp>
        </mc:Fallback>
      </mc:AlternateContent>
      <p:sp>
        <p:nvSpPr>
          <p:cNvPr id="10" name="Oval 9">
            <a:extLst>
              <a:ext uri="{FF2B5EF4-FFF2-40B4-BE49-F238E27FC236}">
                <a16:creationId xmlns:a16="http://schemas.microsoft.com/office/drawing/2014/main" id="{273F1E6B-8BCC-439A-B875-A5C253ED5C12}"/>
              </a:ext>
            </a:extLst>
          </p:cNvPr>
          <p:cNvSpPr/>
          <p:nvPr/>
        </p:nvSpPr>
        <p:spPr>
          <a:xfrm>
            <a:off x="7894320" y="2235200"/>
            <a:ext cx="1402080" cy="975360"/>
          </a:xfrm>
          <a:prstGeom prst="ellips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C00000"/>
                </a:solidFill>
              </a:rPr>
              <a:t>µ</a:t>
            </a:r>
          </a:p>
        </p:txBody>
      </p:sp>
      <p:cxnSp>
        <p:nvCxnSpPr>
          <p:cNvPr id="12" name="Straight Arrow Connector 11">
            <a:extLst>
              <a:ext uri="{FF2B5EF4-FFF2-40B4-BE49-F238E27FC236}">
                <a16:creationId xmlns:a16="http://schemas.microsoft.com/office/drawing/2014/main" id="{B7150EE0-D45B-4E8D-89CE-0BF54B2A918C}"/>
              </a:ext>
            </a:extLst>
          </p:cNvPr>
          <p:cNvCxnSpPr/>
          <p:nvPr/>
        </p:nvCxnSpPr>
        <p:spPr>
          <a:xfrm>
            <a:off x="6207760" y="2763520"/>
            <a:ext cx="219456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F9B12BD0-A962-43A6-8FE3-6B6AC70FA9CB}"/>
              </a:ext>
            </a:extLst>
          </p:cNvPr>
          <p:cNvCxnSpPr/>
          <p:nvPr/>
        </p:nvCxnSpPr>
        <p:spPr>
          <a:xfrm>
            <a:off x="6238240" y="4236720"/>
            <a:ext cx="2072640" cy="50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6893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anim calcmode="lin" valueType="num">
                                      <p:cBhvr>
                                        <p:cTn id="14" dur="1000" fill="hold"/>
                                        <p:tgtEl>
                                          <p:spTgt spid="12"/>
                                        </p:tgtEl>
                                        <p:attrNameLst>
                                          <p:attrName>ppt_x</p:attrName>
                                        </p:attrNameLst>
                                      </p:cBhvr>
                                      <p:tavLst>
                                        <p:tav tm="0">
                                          <p:val>
                                            <p:strVal val="#ppt_x"/>
                                          </p:val>
                                        </p:tav>
                                        <p:tav tm="100000">
                                          <p:val>
                                            <p:strVal val="#ppt_x"/>
                                          </p:val>
                                        </p:tav>
                                      </p:tavLst>
                                    </p:anim>
                                    <p:anim calcmode="lin" valueType="num">
                                      <p:cBhvr>
                                        <p:cTn id="15" dur="1000" fill="hold"/>
                                        <p:tgtEl>
                                          <p:spTgt spid="12"/>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1000"/>
                                        <p:tgtEl>
                                          <p:spTgt spid="10"/>
                                        </p:tgtEl>
                                      </p:cBhvr>
                                    </p:animEffect>
                                    <p:anim calcmode="lin" valueType="num">
                                      <p:cBhvr>
                                        <p:cTn id="19" dur="1000" fill="hold"/>
                                        <p:tgtEl>
                                          <p:spTgt spid="10"/>
                                        </p:tgtEl>
                                        <p:attrNameLst>
                                          <p:attrName>ppt_x</p:attrName>
                                        </p:attrNameLst>
                                      </p:cBhvr>
                                      <p:tavLst>
                                        <p:tav tm="0">
                                          <p:val>
                                            <p:strVal val="#ppt_x"/>
                                          </p:val>
                                        </p:tav>
                                        <p:tav tm="100000">
                                          <p:val>
                                            <p:strVal val="#ppt_x"/>
                                          </p:val>
                                        </p:tav>
                                      </p:tavLst>
                                    </p:anim>
                                    <p:anim calcmode="lin" valueType="num">
                                      <p:cBhvr>
                                        <p:cTn id="20"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1000"/>
                                        <p:tgtEl>
                                          <p:spTgt spid="14"/>
                                        </p:tgtEl>
                                      </p:cBhvr>
                                    </p:animEffect>
                                    <p:anim calcmode="lin" valueType="num">
                                      <p:cBhvr>
                                        <p:cTn id="32" dur="1000" fill="hold"/>
                                        <p:tgtEl>
                                          <p:spTgt spid="14"/>
                                        </p:tgtEl>
                                        <p:attrNameLst>
                                          <p:attrName>ppt_x</p:attrName>
                                        </p:attrNameLst>
                                      </p:cBhvr>
                                      <p:tavLst>
                                        <p:tav tm="0">
                                          <p:val>
                                            <p:strVal val="#ppt_x"/>
                                          </p:val>
                                        </p:tav>
                                        <p:tav tm="100000">
                                          <p:val>
                                            <p:strVal val="#ppt_x"/>
                                          </p:val>
                                        </p:tav>
                                      </p:tavLst>
                                    </p:anim>
                                    <p:anim calcmode="lin" valueType="num">
                                      <p:cBhvr>
                                        <p:cTn id="33" dur="1000" fill="hold"/>
                                        <p:tgtEl>
                                          <p:spTgt spid="14"/>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1000"/>
                                        <p:tgtEl>
                                          <p:spTgt spid="9"/>
                                        </p:tgtEl>
                                      </p:cBhvr>
                                    </p:animEffect>
                                    <p:anim calcmode="lin" valueType="num">
                                      <p:cBhvr>
                                        <p:cTn id="37" dur="1000" fill="hold"/>
                                        <p:tgtEl>
                                          <p:spTgt spid="9"/>
                                        </p:tgtEl>
                                        <p:attrNameLst>
                                          <p:attrName>ppt_x</p:attrName>
                                        </p:attrNameLst>
                                      </p:cBhvr>
                                      <p:tavLst>
                                        <p:tav tm="0">
                                          <p:val>
                                            <p:strVal val="#ppt_x"/>
                                          </p:val>
                                        </p:tav>
                                        <p:tav tm="100000">
                                          <p:val>
                                            <p:strVal val="#ppt_x"/>
                                          </p:val>
                                        </p:tav>
                                      </p:tavLst>
                                    </p:anim>
                                    <p:anim calcmode="lin" valueType="num">
                                      <p:cBhvr>
                                        <p:cTn id="3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EC40-1D96-401A-813C-864CFEF0F5DF}"/>
              </a:ext>
            </a:extLst>
          </p:cNvPr>
          <p:cNvSpPr>
            <a:spLocks noGrp="1"/>
          </p:cNvSpPr>
          <p:nvPr>
            <p:ph type="title"/>
          </p:nvPr>
        </p:nvSpPr>
        <p:spPr/>
        <p:txBody>
          <a:bodyPr/>
          <a:lstStyle/>
          <a:p>
            <a:pPr algn="ctr"/>
            <a:r>
              <a:rPr lang="en-IN" dirty="0"/>
              <a:t>Mean from ungrouped data</a:t>
            </a:r>
          </a:p>
        </p:txBody>
      </p:sp>
      <p:sp>
        <p:nvSpPr>
          <p:cNvPr id="4" name="Rectangle 3">
            <a:extLst>
              <a:ext uri="{FF2B5EF4-FFF2-40B4-BE49-F238E27FC236}">
                <a16:creationId xmlns:a16="http://schemas.microsoft.com/office/drawing/2014/main" id="{0FF7D19D-BA15-4C69-A3FA-E3301956C379}"/>
              </a:ext>
            </a:extLst>
          </p:cNvPr>
          <p:cNvSpPr/>
          <p:nvPr/>
        </p:nvSpPr>
        <p:spPr>
          <a:xfrm>
            <a:off x="1005840" y="1934369"/>
            <a:ext cx="9936480" cy="174752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Student:    		1	2	3	4	5	6	7</a:t>
            </a:r>
          </a:p>
          <a:p>
            <a:pPr algn="ctr"/>
            <a:r>
              <a:rPr lang="en-IN" dirty="0">
                <a:solidFill>
                  <a:srgbClr val="FF0000"/>
                </a:solidFill>
              </a:rPr>
              <a:t>Percentile in GATE: 	</a:t>
            </a:r>
            <a:r>
              <a:rPr lang="en-IN">
                <a:solidFill>
                  <a:srgbClr val="FF0000"/>
                </a:solidFill>
              </a:rPr>
              <a:t>	9</a:t>
            </a:r>
            <a:r>
              <a:rPr lang="en-IN" dirty="0">
                <a:solidFill>
                  <a:srgbClr val="FF0000"/>
                </a:solidFill>
              </a:rPr>
              <a:t>	7	7	6	4	4	2</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6010F215-7D94-47FC-910E-49BDFC56654F}"/>
                  </a:ext>
                </a:extLst>
              </p:cNvPr>
              <p:cNvSpPr/>
              <p:nvPr/>
            </p:nvSpPr>
            <p:spPr>
              <a:xfrm>
                <a:off x="2499360" y="4287520"/>
                <a:ext cx="1808480" cy="140208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acc>
                        <m:accPr>
                          <m:chr m:val="̅"/>
                          <m:ctrlPr>
                            <a:rPr lang="en-IN" b="0" i="1" smtClean="0">
                              <a:solidFill>
                                <a:srgbClr val="FF0000"/>
                              </a:solidFill>
                              <a:latin typeface="Cambria Math" panose="02040503050406030204" pitchFamily="18" charset="0"/>
                            </a:rPr>
                          </m:ctrlPr>
                        </m:accPr>
                        <m:e>
                          <m:r>
                            <a:rPr lang="en-IN" b="0" i="1" smtClean="0">
                              <a:solidFill>
                                <a:srgbClr val="FF0000"/>
                              </a:solidFill>
                              <a:latin typeface="Cambria Math" panose="02040503050406030204" pitchFamily="18" charset="0"/>
                            </a:rPr>
                            <m:t>𝑥</m:t>
                          </m:r>
                        </m:e>
                      </m:acc>
                      <m:r>
                        <a:rPr lang="en-IN" b="0" i="1" smtClean="0">
                          <a:solidFill>
                            <a:srgbClr val="FF0000"/>
                          </a:solidFill>
                          <a:latin typeface="Cambria Math" panose="02040503050406030204" pitchFamily="18" charset="0"/>
                        </a:rPr>
                        <m:t>=</m:t>
                      </m:r>
                      <m:f>
                        <m:fPr>
                          <m:ctrlPr>
                            <a:rPr lang="en-IN" b="0" i="1" smtClean="0">
                              <a:solidFill>
                                <a:srgbClr val="FF0000"/>
                              </a:solidFill>
                              <a:latin typeface="Cambria Math" panose="02040503050406030204" pitchFamily="18" charset="0"/>
                            </a:rPr>
                          </m:ctrlPr>
                        </m:fPr>
                        <m:num>
                          <m:nary>
                            <m:naryPr>
                              <m:chr m:val="∑"/>
                              <m:subHide m:val="on"/>
                              <m:supHide m:val="on"/>
                              <m:ctrlPr>
                                <a:rPr lang="en-IN" b="0" i="1" smtClean="0">
                                  <a:solidFill>
                                    <a:srgbClr val="FF0000"/>
                                  </a:solidFill>
                                  <a:latin typeface="Cambria Math" panose="02040503050406030204" pitchFamily="18" charset="0"/>
                                </a:rPr>
                              </m:ctrlPr>
                            </m:naryPr>
                            <m:sub/>
                            <m:sup/>
                            <m:e>
                              <m:r>
                                <a:rPr lang="en-IN" b="0" i="1" smtClean="0">
                                  <a:solidFill>
                                    <a:srgbClr val="FF0000"/>
                                  </a:solidFill>
                                  <a:latin typeface="Cambria Math" panose="02040503050406030204" pitchFamily="18" charset="0"/>
                                </a:rPr>
                                <m:t>𝑥</m:t>
                              </m:r>
                            </m:e>
                          </m:nary>
                        </m:num>
                        <m:den>
                          <m:r>
                            <a:rPr lang="en-IN" b="0" i="1" smtClean="0">
                              <a:solidFill>
                                <a:srgbClr val="FF0000"/>
                              </a:solidFill>
                              <a:latin typeface="Cambria Math" panose="02040503050406030204" pitchFamily="18" charset="0"/>
                            </a:rPr>
                            <m:t>𝑛</m:t>
                          </m:r>
                        </m:den>
                      </m:f>
                    </m:oMath>
                  </m:oMathPara>
                </a14:m>
                <a:endParaRPr lang="en-IN" dirty="0"/>
              </a:p>
            </p:txBody>
          </p:sp>
        </mc:Choice>
        <mc:Fallback xmlns="">
          <p:sp>
            <p:nvSpPr>
              <p:cNvPr id="6" name="Rectangle 5">
                <a:extLst>
                  <a:ext uri="{FF2B5EF4-FFF2-40B4-BE49-F238E27FC236}">
                    <a16:creationId xmlns:a16="http://schemas.microsoft.com/office/drawing/2014/main" id="{6010F215-7D94-47FC-910E-49BDFC56654F}"/>
                  </a:ext>
                </a:extLst>
              </p:cNvPr>
              <p:cNvSpPr>
                <a:spLocks noRot="1" noChangeAspect="1" noMove="1" noResize="1" noEditPoints="1" noAdjustHandles="1" noChangeArrowheads="1" noChangeShapeType="1" noTextEdit="1"/>
              </p:cNvSpPr>
              <p:nvPr/>
            </p:nvSpPr>
            <p:spPr>
              <a:xfrm>
                <a:off x="2499360" y="4287520"/>
                <a:ext cx="1808480" cy="1402080"/>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Content Placeholder 6">
                <a:extLst>
                  <a:ext uri="{FF2B5EF4-FFF2-40B4-BE49-F238E27FC236}">
                    <a16:creationId xmlns:a16="http://schemas.microsoft.com/office/drawing/2014/main" id="{AFCD92D7-8FAB-42C1-9DBE-AA02F1BCC354}"/>
                  </a:ext>
                </a:extLst>
              </p:cNvPr>
              <p:cNvSpPr>
                <a:spLocks noGrp="1"/>
              </p:cNvSpPr>
              <p:nvPr>
                <p:ph idx="1"/>
              </p:nvPr>
            </p:nvSpPr>
            <p:spPr>
              <a:xfrm>
                <a:off x="4841240" y="4287520"/>
                <a:ext cx="1808480" cy="1402080"/>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buNone/>
                </a:pPr>
                <a:r>
                  <a:rPr lang="en-IN" b="0" dirty="0">
                    <a:solidFill>
                      <a:srgbClr val="FF0000"/>
                    </a:solidFill>
                  </a:rPr>
                  <a:t>µ</a:t>
                </a:r>
                <a14:m>
                  <m:oMath xmlns:m="http://schemas.openxmlformats.org/officeDocument/2006/math">
                    <m:r>
                      <a:rPr lang="en-IN" b="0" i="1" smtClean="0">
                        <a:solidFill>
                          <a:srgbClr val="FF0000"/>
                        </a:solidFill>
                        <a:latin typeface="Cambria Math" panose="02040503050406030204" pitchFamily="18" charset="0"/>
                      </a:rPr>
                      <m:t>=</m:t>
                    </m:r>
                    <m:f>
                      <m:fPr>
                        <m:ctrlPr>
                          <a:rPr lang="en-IN" b="0" i="1" smtClean="0">
                            <a:solidFill>
                              <a:srgbClr val="FF0000"/>
                            </a:solidFill>
                            <a:latin typeface="Cambria Math" panose="02040503050406030204" pitchFamily="18" charset="0"/>
                          </a:rPr>
                        </m:ctrlPr>
                      </m:fPr>
                      <m:num>
                        <m:nary>
                          <m:naryPr>
                            <m:chr m:val="∑"/>
                            <m:subHide m:val="on"/>
                            <m:supHide m:val="on"/>
                            <m:ctrlPr>
                              <a:rPr lang="en-IN" b="0" i="1" smtClean="0">
                                <a:solidFill>
                                  <a:srgbClr val="FF0000"/>
                                </a:solidFill>
                                <a:latin typeface="Cambria Math" panose="02040503050406030204" pitchFamily="18" charset="0"/>
                              </a:rPr>
                            </m:ctrlPr>
                          </m:naryPr>
                          <m:sub/>
                          <m:sup/>
                          <m:e>
                            <m:r>
                              <a:rPr lang="en-IN" b="0" i="1" smtClean="0">
                                <a:solidFill>
                                  <a:srgbClr val="FF0000"/>
                                </a:solidFill>
                                <a:latin typeface="Cambria Math" panose="02040503050406030204" pitchFamily="18" charset="0"/>
                              </a:rPr>
                              <m:t>𝑥</m:t>
                            </m:r>
                          </m:e>
                        </m:nary>
                      </m:num>
                      <m:den>
                        <m:r>
                          <a:rPr lang="en-IN" b="0" i="1" smtClean="0">
                            <a:solidFill>
                              <a:srgbClr val="FF0000"/>
                            </a:solidFill>
                            <a:latin typeface="Cambria Math" panose="02040503050406030204" pitchFamily="18" charset="0"/>
                          </a:rPr>
                          <m:t>𝑁</m:t>
                        </m:r>
                      </m:den>
                    </m:f>
                  </m:oMath>
                </a14:m>
                <a:endParaRPr lang="en-IN" dirty="0"/>
              </a:p>
            </p:txBody>
          </p:sp>
        </mc:Choice>
        <mc:Fallback xmlns="">
          <p:sp>
            <p:nvSpPr>
              <p:cNvPr id="7" name="Content Placeholder 6">
                <a:extLst>
                  <a:ext uri="{FF2B5EF4-FFF2-40B4-BE49-F238E27FC236}">
                    <a16:creationId xmlns:a16="http://schemas.microsoft.com/office/drawing/2014/main" id="{AFCD92D7-8FAB-42C1-9DBE-AA02F1BCC354}"/>
                  </a:ext>
                </a:extLst>
              </p:cNvPr>
              <p:cNvSpPr>
                <a:spLocks noGrp="1" noRot="1" noChangeAspect="1" noMove="1" noResize="1" noEditPoints="1" noAdjustHandles="1" noChangeArrowheads="1" noChangeShapeType="1" noTextEdit="1"/>
              </p:cNvSpPr>
              <p:nvPr>
                <p:ph idx="1"/>
              </p:nvPr>
            </p:nvSpPr>
            <p:spPr>
              <a:xfrm>
                <a:off x="4841240" y="4287520"/>
                <a:ext cx="1808480" cy="1402080"/>
              </a:xfrm>
              <a:prstGeom prst="rect">
                <a:avLst/>
              </a:prstGeom>
              <a:blipFill>
                <a:blip r:embed="rId3"/>
                <a:stretch>
                  <a:fillRect/>
                </a:stretch>
              </a:blipFill>
            </p:spPr>
            <p:txBody>
              <a:bodyPr/>
              <a:lstStyle/>
              <a:p>
                <a:r>
                  <a:rPr lang="en-IN">
                    <a:noFill/>
                  </a:rPr>
                  <a:t> </a:t>
                </a:r>
              </a:p>
            </p:txBody>
          </p:sp>
        </mc:Fallback>
      </mc:AlternateContent>
      <p:sp>
        <p:nvSpPr>
          <p:cNvPr id="8" name="Rectangle 7">
            <a:extLst>
              <a:ext uri="{FF2B5EF4-FFF2-40B4-BE49-F238E27FC236}">
                <a16:creationId xmlns:a16="http://schemas.microsoft.com/office/drawing/2014/main" id="{8252EFA1-72D1-4193-867C-8271ACF77886}"/>
              </a:ext>
            </a:extLst>
          </p:cNvPr>
          <p:cNvSpPr/>
          <p:nvPr/>
        </p:nvSpPr>
        <p:spPr>
          <a:xfrm>
            <a:off x="7426960" y="4653280"/>
            <a:ext cx="1544320" cy="1036320"/>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39/7</a:t>
            </a:r>
          </a:p>
        </p:txBody>
      </p:sp>
    </p:spTree>
    <p:extLst>
      <p:ext uri="{BB962C8B-B14F-4D97-AF65-F5344CB8AC3E}">
        <p14:creationId xmlns:p14="http://schemas.microsoft.com/office/powerpoint/2010/main" val="71245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7">
                                            <p:bg/>
                                          </p:spTgt>
                                        </p:tgtEl>
                                        <p:attrNameLst>
                                          <p:attrName>style.visibility</p:attrName>
                                        </p:attrNameLst>
                                      </p:cBhvr>
                                      <p:to>
                                        <p:strVal val="visible"/>
                                      </p:to>
                                    </p:set>
                                    <p:animEffect transition="in" filter="fade">
                                      <p:cBhvr>
                                        <p:cTn id="20" dur="1000"/>
                                        <p:tgtEl>
                                          <p:spTgt spid="7">
                                            <p:bg/>
                                          </p:spTgt>
                                        </p:tgtEl>
                                      </p:cBhvr>
                                    </p:animEffect>
                                    <p:anim calcmode="lin" valueType="num">
                                      <p:cBhvr>
                                        <p:cTn id="21" dur="1000" fill="hold"/>
                                        <p:tgtEl>
                                          <p:spTgt spid="7">
                                            <p:bg/>
                                          </p:spTgt>
                                        </p:tgtEl>
                                        <p:attrNameLst>
                                          <p:attrName>ppt_x</p:attrName>
                                        </p:attrNameLst>
                                      </p:cBhvr>
                                      <p:tavLst>
                                        <p:tav tm="0">
                                          <p:val>
                                            <p:strVal val="#ppt_x"/>
                                          </p:val>
                                        </p:tav>
                                        <p:tav tm="100000">
                                          <p:val>
                                            <p:strVal val="#ppt_x"/>
                                          </p:val>
                                        </p:tav>
                                      </p:tavLst>
                                    </p:anim>
                                    <p:anim calcmode="lin" valueType="num">
                                      <p:cBhvr>
                                        <p:cTn id="22" dur="1000" fill="hold"/>
                                        <p:tgtEl>
                                          <p:spTgt spid="7">
                                            <p:bg/>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fade">
                                      <p:cBhvr>
                                        <p:cTn id="27" dur="1000"/>
                                        <p:tgtEl>
                                          <p:spTgt spid="7">
                                            <p:txEl>
                                              <p:pRg st="0" end="0"/>
                                            </p:txEl>
                                          </p:spTgt>
                                        </p:tgtEl>
                                      </p:cBhvr>
                                    </p:animEffect>
                                    <p:anim calcmode="lin" valueType="num">
                                      <p:cBhvr>
                                        <p:cTn id="2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1000"/>
                                        <p:tgtEl>
                                          <p:spTgt spid="8"/>
                                        </p:tgtEl>
                                      </p:cBhvr>
                                    </p:animEffect>
                                    <p:anim calcmode="lin" valueType="num">
                                      <p:cBhvr>
                                        <p:cTn id="35" dur="1000" fill="hold"/>
                                        <p:tgtEl>
                                          <p:spTgt spid="8"/>
                                        </p:tgtEl>
                                        <p:attrNameLst>
                                          <p:attrName>ppt_x</p:attrName>
                                        </p:attrNameLst>
                                      </p:cBhvr>
                                      <p:tavLst>
                                        <p:tav tm="0">
                                          <p:val>
                                            <p:strVal val="#ppt_x"/>
                                          </p:val>
                                        </p:tav>
                                        <p:tav tm="100000">
                                          <p:val>
                                            <p:strVal val="#ppt_x"/>
                                          </p:val>
                                        </p:tav>
                                      </p:tavLst>
                                    </p:anim>
                                    <p:anim calcmode="lin" valueType="num">
                                      <p:cBhvr>
                                        <p:cTn id="3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build="p" animBg="1"/>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03D59-C066-4CB4-B4E6-F03A1D7CF140}"/>
              </a:ext>
            </a:extLst>
          </p:cNvPr>
          <p:cNvSpPr>
            <a:spLocks noGrp="1"/>
          </p:cNvSpPr>
          <p:nvPr>
            <p:ph type="title"/>
          </p:nvPr>
        </p:nvSpPr>
        <p:spPr/>
        <p:txBody>
          <a:bodyPr/>
          <a:lstStyle/>
          <a:p>
            <a:pPr algn="ctr"/>
            <a:r>
              <a:rPr lang="en-IN" dirty="0"/>
              <a:t>Mean in grouped-data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B66445-C7C2-4617-A6DD-7F98A6730288}"/>
                  </a:ext>
                </a:extLst>
              </p:cNvPr>
              <p:cNvSpPr>
                <a:spLocks noGrp="1"/>
              </p:cNvSpPr>
              <p:nvPr>
                <p:ph idx="1"/>
              </p:nvPr>
            </p:nvSpPr>
            <p:spPr/>
            <p:txBody>
              <a:bodyPr/>
              <a:lstStyle/>
              <a:p>
                <a:pPr marL="0" indent="0">
                  <a:buNone/>
                </a:pPr>
                <a14:m>
                  <m:oMath xmlns:m="http://schemas.openxmlformats.org/officeDocument/2006/math">
                    <m:acc>
                      <m:accPr>
                        <m:chr m:val="̅"/>
                        <m:ctrlPr>
                          <a:rPr kumimoji="0" lang="en-IN" sz="18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ctrlPr>
                      </m:accPr>
                      <m:e>
                        <m:r>
                          <a:rPr kumimoji="0" lang="en-IN" sz="18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𝑥</m:t>
                        </m:r>
                      </m:e>
                    </m:acc>
                    <m:r>
                      <a:rPr kumimoji="0" lang="en-IN" sz="1800" b="0" i="1" u="none" strike="noStrike" kern="1200" cap="none" spc="0" normalizeH="0" baseline="0" noProof="0" smtClean="0">
                        <a:ln>
                          <a:noFill/>
                        </a:ln>
                        <a:solidFill>
                          <a:srgbClr val="FF0000"/>
                        </a:solidFill>
                        <a:effectLst/>
                        <a:uLnTx/>
                        <a:uFillTx/>
                        <a:latin typeface="Cambria Math" panose="02040503050406030204" pitchFamily="18" charset="0"/>
                        <a:ea typeface="+mn-ea"/>
                        <a:cs typeface="+mn-cs"/>
                      </a:rPr>
                      <m:t>=</m:t>
                    </m:r>
                  </m:oMath>
                </a14:m>
                <a:r>
                  <a:rPr lang="en-IN" dirty="0"/>
                  <a:t>?</a:t>
                </a:r>
              </a:p>
            </p:txBody>
          </p:sp>
        </mc:Choice>
        <mc:Fallback xmlns="">
          <p:sp>
            <p:nvSpPr>
              <p:cNvPr id="3" name="Content Placeholder 2">
                <a:extLst>
                  <a:ext uri="{FF2B5EF4-FFF2-40B4-BE49-F238E27FC236}">
                    <a16:creationId xmlns:a16="http://schemas.microsoft.com/office/drawing/2014/main" id="{B7B66445-C7C2-4617-A6DD-7F98A6730288}"/>
                  </a:ext>
                </a:extLst>
              </p:cNvPr>
              <p:cNvSpPr>
                <a:spLocks noGrp="1" noRot="1" noChangeAspect="1" noMove="1" noResize="1" noEditPoints="1" noAdjustHandles="1" noChangeArrowheads="1" noChangeShapeType="1" noTextEdit="1"/>
              </p:cNvSpPr>
              <p:nvPr>
                <p:ph idx="1"/>
              </p:nvPr>
            </p:nvSpPr>
            <p:spPr>
              <a:blipFill>
                <a:blip r:embed="rId2"/>
                <a:stretch>
                  <a:fillRect t="-2241"/>
                </a:stretch>
              </a:blipFill>
            </p:spPr>
            <p:txBody>
              <a:bodyPr/>
              <a:lstStyle/>
              <a:p>
                <a:r>
                  <a:rPr lang="en-IN">
                    <a:noFill/>
                  </a:rPr>
                  <a:t> </a:t>
                </a:r>
              </a:p>
            </p:txBody>
          </p:sp>
        </mc:Fallback>
      </mc:AlternateContent>
      <p:sp>
        <p:nvSpPr>
          <p:cNvPr id="4" name="Rectangle 3">
            <a:extLst>
              <a:ext uri="{FF2B5EF4-FFF2-40B4-BE49-F238E27FC236}">
                <a16:creationId xmlns:a16="http://schemas.microsoft.com/office/drawing/2014/main" id="{6735010B-F8FE-442F-A6CF-310804418FE9}"/>
              </a:ext>
            </a:extLst>
          </p:cNvPr>
          <p:cNvSpPr/>
          <p:nvPr/>
        </p:nvSpPr>
        <p:spPr>
          <a:xfrm>
            <a:off x="873760" y="2346959"/>
            <a:ext cx="8270240" cy="3870960"/>
          </a:xfrm>
          <a:prstGeom prst="rect">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 name="Picture 5">
            <a:extLst>
              <a:ext uri="{FF2B5EF4-FFF2-40B4-BE49-F238E27FC236}">
                <a16:creationId xmlns:a16="http://schemas.microsoft.com/office/drawing/2014/main" id="{7076CFF4-DA56-45D5-BD75-E35D1AD8D090}"/>
              </a:ext>
            </a:extLst>
          </p:cNvPr>
          <p:cNvPicPr>
            <a:picLocks noChangeAspect="1"/>
          </p:cNvPicPr>
          <p:nvPr/>
        </p:nvPicPr>
        <p:blipFill>
          <a:blip r:embed="rId3"/>
          <a:stretch>
            <a:fillRect/>
          </a:stretch>
        </p:blipFill>
        <p:spPr>
          <a:xfrm>
            <a:off x="2569210" y="3490913"/>
            <a:ext cx="4533900" cy="2686050"/>
          </a:xfrm>
          <a:prstGeom prst="rect">
            <a:avLst/>
          </a:prstGeom>
        </p:spPr>
      </p:pic>
      <p:sp>
        <p:nvSpPr>
          <p:cNvPr id="7" name="Rectangle 6">
            <a:extLst>
              <a:ext uri="{FF2B5EF4-FFF2-40B4-BE49-F238E27FC236}">
                <a16:creationId xmlns:a16="http://schemas.microsoft.com/office/drawing/2014/main" id="{7799ECDC-8C00-4841-B7A5-6A363479D8E3}"/>
              </a:ext>
            </a:extLst>
          </p:cNvPr>
          <p:cNvSpPr/>
          <p:nvPr/>
        </p:nvSpPr>
        <p:spPr>
          <a:xfrm>
            <a:off x="1910080" y="2692400"/>
            <a:ext cx="6350000" cy="66357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Average monthly balance of 600 customers in a bank</a:t>
            </a:r>
          </a:p>
        </p:txBody>
      </p:sp>
      <p:sp>
        <p:nvSpPr>
          <p:cNvPr id="8" name="Rectangle 7">
            <a:extLst>
              <a:ext uri="{FF2B5EF4-FFF2-40B4-BE49-F238E27FC236}">
                <a16:creationId xmlns:a16="http://schemas.microsoft.com/office/drawing/2014/main" id="{F6C9FBCF-EBFC-4A01-B73D-0BFE21B0D1BD}"/>
              </a:ext>
            </a:extLst>
          </p:cNvPr>
          <p:cNvSpPr/>
          <p:nvPr/>
        </p:nvSpPr>
        <p:spPr>
          <a:xfrm>
            <a:off x="4521200" y="1452880"/>
            <a:ext cx="6675120" cy="4551680"/>
          </a:xfrm>
          <a:prstGeom prst="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0" name="Picture 9">
            <a:extLst>
              <a:ext uri="{FF2B5EF4-FFF2-40B4-BE49-F238E27FC236}">
                <a16:creationId xmlns:a16="http://schemas.microsoft.com/office/drawing/2014/main" id="{B4675AB7-2EFD-4948-9931-E406918859C3}"/>
              </a:ext>
            </a:extLst>
          </p:cNvPr>
          <p:cNvPicPr>
            <a:picLocks noChangeAspect="1"/>
          </p:cNvPicPr>
          <p:nvPr/>
        </p:nvPicPr>
        <p:blipFill>
          <a:blip r:embed="rId4"/>
          <a:stretch>
            <a:fillRect/>
          </a:stretch>
        </p:blipFill>
        <p:spPr>
          <a:xfrm>
            <a:off x="4638358" y="1784669"/>
            <a:ext cx="6398847" cy="3071811"/>
          </a:xfrm>
          <a:prstGeom prst="rect">
            <a:avLst/>
          </a:prstGeom>
        </p:spPr>
      </p:pic>
      <p:sp>
        <p:nvSpPr>
          <p:cNvPr id="12" name="Rectangle 11">
            <a:extLst>
              <a:ext uri="{FF2B5EF4-FFF2-40B4-BE49-F238E27FC236}">
                <a16:creationId xmlns:a16="http://schemas.microsoft.com/office/drawing/2014/main" id="{2669357B-0186-4853-A371-8CF735955FFF}"/>
              </a:ext>
            </a:extLst>
          </p:cNvPr>
          <p:cNvSpPr/>
          <p:nvPr/>
        </p:nvSpPr>
        <p:spPr>
          <a:xfrm>
            <a:off x="5283200" y="5069840"/>
            <a:ext cx="1442720" cy="792480"/>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12">
            <a:extLst>
              <a:ext uri="{FF2B5EF4-FFF2-40B4-BE49-F238E27FC236}">
                <a16:creationId xmlns:a16="http://schemas.microsoft.com/office/drawing/2014/main" id="{F244411F-644A-4BD6-882D-4CFDA749D942}"/>
              </a:ext>
            </a:extLst>
          </p:cNvPr>
          <p:cNvPicPr>
            <a:picLocks noChangeAspect="1"/>
          </p:cNvPicPr>
          <p:nvPr/>
        </p:nvPicPr>
        <p:blipFill>
          <a:blip r:embed="rId5"/>
          <a:stretch>
            <a:fillRect/>
          </a:stretch>
        </p:blipFill>
        <p:spPr>
          <a:xfrm>
            <a:off x="7309804" y="5169308"/>
            <a:ext cx="2643504" cy="593543"/>
          </a:xfrm>
          <a:prstGeom prst="rect">
            <a:avLst/>
          </a:prstGeom>
        </p:spPr>
      </p:pic>
      <p:pic>
        <p:nvPicPr>
          <p:cNvPr id="15" name="Picture 14">
            <a:extLst>
              <a:ext uri="{FF2B5EF4-FFF2-40B4-BE49-F238E27FC236}">
                <a16:creationId xmlns:a16="http://schemas.microsoft.com/office/drawing/2014/main" id="{481BBB9E-84F4-4513-9848-6F2B926D36D2}"/>
              </a:ext>
            </a:extLst>
          </p:cNvPr>
          <p:cNvPicPr>
            <a:picLocks noChangeAspect="1"/>
          </p:cNvPicPr>
          <p:nvPr/>
        </p:nvPicPr>
        <p:blipFill>
          <a:blip r:embed="rId6"/>
          <a:stretch>
            <a:fillRect/>
          </a:stretch>
        </p:blipFill>
        <p:spPr>
          <a:xfrm>
            <a:off x="5420043" y="5211445"/>
            <a:ext cx="1247775" cy="438150"/>
          </a:xfrm>
          <a:prstGeom prst="rect">
            <a:avLst/>
          </a:prstGeom>
        </p:spPr>
      </p:pic>
      <p:pic>
        <p:nvPicPr>
          <p:cNvPr id="17" name="Picture 16">
            <a:extLst>
              <a:ext uri="{FF2B5EF4-FFF2-40B4-BE49-F238E27FC236}">
                <a16:creationId xmlns:a16="http://schemas.microsoft.com/office/drawing/2014/main" id="{6ED24FB3-83D9-4305-9613-932C2C2044D9}"/>
              </a:ext>
            </a:extLst>
          </p:cNvPr>
          <p:cNvPicPr>
            <a:picLocks noChangeAspect="1"/>
          </p:cNvPicPr>
          <p:nvPr/>
        </p:nvPicPr>
        <p:blipFill>
          <a:blip r:embed="rId7"/>
          <a:stretch>
            <a:fillRect/>
          </a:stretch>
        </p:blipFill>
        <p:spPr>
          <a:xfrm>
            <a:off x="7372985" y="5288915"/>
            <a:ext cx="2497455" cy="309903"/>
          </a:xfrm>
          <a:prstGeom prst="rect">
            <a:avLst/>
          </a:prstGeom>
        </p:spPr>
      </p:pic>
    </p:spTree>
    <p:extLst>
      <p:ext uri="{BB962C8B-B14F-4D97-AF65-F5344CB8AC3E}">
        <p14:creationId xmlns:p14="http://schemas.microsoft.com/office/powerpoint/2010/main" val="2090490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ppt_x"/>
                                          </p:val>
                                        </p:tav>
                                        <p:tav tm="100000">
                                          <p:val>
                                            <p:strVal val="#ppt_x"/>
                                          </p:val>
                                        </p:tav>
                                      </p:tavLst>
                                    </p:anim>
                                    <p:anim calcmode="lin" valueType="num">
                                      <p:cBhvr additive="base">
                                        <p:cTn id="34" dur="500" fill="hold"/>
                                        <p:tgtEl>
                                          <p:spTgt spid="12"/>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7AEF2-56F3-40FD-83CB-522BF9A7450F}"/>
              </a:ext>
            </a:extLst>
          </p:cNvPr>
          <p:cNvSpPr>
            <a:spLocks noGrp="1"/>
          </p:cNvSpPr>
          <p:nvPr>
            <p:ph type="title"/>
          </p:nvPr>
        </p:nvSpPr>
        <p:spPr/>
        <p:txBody>
          <a:bodyPr/>
          <a:lstStyle/>
          <a:p>
            <a:pPr algn="ctr"/>
            <a:r>
              <a:rPr lang="en-IN" dirty="0"/>
              <a:t>Advantages of Mean</a:t>
            </a:r>
          </a:p>
        </p:txBody>
      </p:sp>
      <p:sp>
        <p:nvSpPr>
          <p:cNvPr id="3" name="Content Placeholder 2">
            <a:extLst>
              <a:ext uri="{FF2B5EF4-FFF2-40B4-BE49-F238E27FC236}">
                <a16:creationId xmlns:a16="http://schemas.microsoft.com/office/drawing/2014/main" id="{35C5E0F9-F387-4779-BE73-D1EBF0DD334F}"/>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EF53A671-19C2-4F11-BBF9-5ACB3AB03481}"/>
              </a:ext>
            </a:extLst>
          </p:cNvPr>
          <p:cNvSpPr/>
          <p:nvPr/>
        </p:nvSpPr>
        <p:spPr>
          <a:xfrm>
            <a:off x="985520" y="2257426"/>
            <a:ext cx="4815840" cy="386080"/>
          </a:xfrm>
          <a:prstGeom prst="rect">
            <a:avLst/>
          </a:prstGeom>
          <a:solidFill>
            <a:schemeClr val="accent4">
              <a:lumMod val="40000"/>
              <a:lumOff val="6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Single number representing the whole data set</a:t>
            </a:r>
          </a:p>
        </p:txBody>
      </p:sp>
      <p:sp>
        <p:nvSpPr>
          <p:cNvPr id="5" name="Rectangle 4">
            <a:extLst>
              <a:ext uri="{FF2B5EF4-FFF2-40B4-BE49-F238E27FC236}">
                <a16:creationId xmlns:a16="http://schemas.microsoft.com/office/drawing/2014/main" id="{FA2C6A18-4111-4E8E-8606-E1F7F7E59168}"/>
              </a:ext>
            </a:extLst>
          </p:cNvPr>
          <p:cNvSpPr/>
          <p:nvPr/>
        </p:nvSpPr>
        <p:spPr>
          <a:xfrm>
            <a:off x="1005840" y="3584259"/>
            <a:ext cx="4886960" cy="302894"/>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Every data set has a mean and the mean is unique</a:t>
            </a:r>
          </a:p>
        </p:txBody>
      </p:sp>
      <p:sp>
        <p:nvSpPr>
          <p:cNvPr id="7" name="Rectangle 6">
            <a:extLst>
              <a:ext uri="{FF2B5EF4-FFF2-40B4-BE49-F238E27FC236}">
                <a16:creationId xmlns:a16="http://schemas.microsoft.com/office/drawing/2014/main" id="{99E1F9CF-CFE0-4A7A-83B7-6298C45148F3}"/>
              </a:ext>
            </a:extLst>
          </p:cNvPr>
          <p:cNvSpPr/>
          <p:nvPr/>
        </p:nvSpPr>
        <p:spPr>
          <a:xfrm>
            <a:off x="1005840" y="4827906"/>
            <a:ext cx="3942080" cy="817881"/>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rPr>
              <a:t>Mean is useful for performing statistical procedures such as computing the mean from several data sets</a:t>
            </a:r>
          </a:p>
        </p:txBody>
      </p:sp>
    </p:spTree>
    <p:extLst>
      <p:ext uri="{BB962C8B-B14F-4D97-AF65-F5344CB8AC3E}">
        <p14:creationId xmlns:p14="http://schemas.microsoft.com/office/powerpoint/2010/main" val="304308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073E3-B79B-43B1-B5E8-13E01076D176}"/>
              </a:ext>
            </a:extLst>
          </p:cNvPr>
          <p:cNvSpPr>
            <a:spLocks noGrp="1"/>
          </p:cNvSpPr>
          <p:nvPr>
            <p:ph type="title"/>
          </p:nvPr>
        </p:nvSpPr>
        <p:spPr/>
        <p:txBody>
          <a:bodyPr/>
          <a:lstStyle/>
          <a:p>
            <a:pPr algn="ctr"/>
            <a:r>
              <a:rPr lang="en-IN" dirty="0"/>
              <a:t>Disadvantages of Mean</a:t>
            </a:r>
          </a:p>
        </p:txBody>
      </p:sp>
      <p:pic>
        <p:nvPicPr>
          <p:cNvPr id="9" name="Content Placeholder 8">
            <a:extLst>
              <a:ext uri="{FF2B5EF4-FFF2-40B4-BE49-F238E27FC236}">
                <a16:creationId xmlns:a16="http://schemas.microsoft.com/office/drawing/2014/main" id="{9A6D3687-02C2-4754-93AF-285328FACCC2}"/>
              </a:ext>
            </a:extLst>
          </p:cNvPr>
          <p:cNvPicPr>
            <a:picLocks noGrp="1" noChangeAspect="1"/>
          </p:cNvPicPr>
          <p:nvPr>
            <p:ph idx="1"/>
          </p:nvPr>
        </p:nvPicPr>
        <p:blipFill>
          <a:blip r:embed="rId2"/>
          <a:stretch>
            <a:fillRect/>
          </a:stretch>
        </p:blipFill>
        <p:spPr>
          <a:xfrm>
            <a:off x="5756912" y="1337437"/>
            <a:ext cx="4493141" cy="2950720"/>
          </a:xfrm>
          <a:prstGeom prst="rect">
            <a:avLst/>
          </a:prstGeom>
        </p:spPr>
      </p:pic>
      <p:sp>
        <p:nvSpPr>
          <p:cNvPr id="4" name="Rectangle 3">
            <a:extLst>
              <a:ext uri="{FF2B5EF4-FFF2-40B4-BE49-F238E27FC236}">
                <a16:creationId xmlns:a16="http://schemas.microsoft.com/office/drawing/2014/main" id="{DD61CB2B-6E77-4C7E-9D0E-F09040BECEB8}"/>
              </a:ext>
            </a:extLst>
          </p:cNvPr>
          <p:cNvSpPr/>
          <p:nvPr/>
        </p:nvSpPr>
        <p:spPr>
          <a:xfrm>
            <a:off x="687131" y="1396904"/>
            <a:ext cx="4480560" cy="293624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6" name="Picture 5">
            <a:extLst>
              <a:ext uri="{FF2B5EF4-FFF2-40B4-BE49-F238E27FC236}">
                <a16:creationId xmlns:a16="http://schemas.microsoft.com/office/drawing/2014/main" id="{CD8B7D44-15FF-41B7-BD38-B78A48CE6EAB}"/>
              </a:ext>
            </a:extLst>
          </p:cNvPr>
          <p:cNvPicPr>
            <a:picLocks noChangeAspect="1"/>
          </p:cNvPicPr>
          <p:nvPr/>
        </p:nvPicPr>
        <p:blipFill>
          <a:blip r:embed="rId3"/>
          <a:stretch>
            <a:fillRect/>
          </a:stretch>
        </p:blipFill>
        <p:spPr>
          <a:xfrm>
            <a:off x="1196024" y="1493205"/>
            <a:ext cx="3295650" cy="695325"/>
          </a:xfrm>
          <a:prstGeom prst="rect">
            <a:avLst/>
          </a:prstGeom>
        </p:spPr>
      </p:pic>
      <p:pic>
        <p:nvPicPr>
          <p:cNvPr id="8" name="Picture 7">
            <a:extLst>
              <a:ext uri="{FF2B5EF4-FFF2-40B4-BE49-F238E27FC236}">
                <a16:creationId xmlns:a16="http://schemas.microsoft.com/office/drawing/2014/main" id="{1764A268-D3E0-4035-B360-5A9AE6B420E2}"/>
              </a:ext>
            </a:extLst>
          </p:cNvPr>
          <p:cNvPicPr>
            <a:picLocks noChangeAspect="1"/>
          </p:cNvPicPr>
          <p:nvPr/>
        </p:nvPicPr>
        <p:blipFill>
          <a:blip r:embed="rId4"/>
          <a:stretch>
            <a:fillRect/>
          </a:stretch>
        </p:blipFill>
        <p:spPr>
          <a:xfrm>
            <a:off x="1196024" y="2317118"/>
            <a:ext cx="2714625" cy="1876425"/>
          </a:xfrm>
          <a:prstGeom prst="rect">
            <a:avLst/>
          </a:prstGeom>
        </p:spPr>
      </p:pic>
      <p:pic>
        <p:nvPicPr>
          <p:cNvPr id="11" name="Picture 10">
            <a:extLst>
              <a:ext uri="{FF2B5EF4-FFF2-40B4-BE49-F238E27FC236}">
                <a16:creationId xmlns:a16="http://schemas.microsoft.com/office/drawing/2014/main" id="{A2B47C98-3CCD-4731-BD17-413467C0E593}"/>
              </a:ext>
            </a:extLst>
          </p:cNvPr>
          <p:cNvPicPr>
            <a:picLocks noChangeAspect="1"/>
          </p:cNvPicPr>
          <p:nvPr/>
        </p:nvPicPr>
        <p:blipFill>
          <a:blip r:embed="rId5"/>
          <a:stretch>
            <a:fillRect/>
          </a:stretch>
        </p:blipFill>
        <p:spPr>
          <a:xfrm>
            <a:off x="6346132" y="1500828"/>
            <a:ext cx="3314700" cy="800100"/>
          </a:xfrm>
          <a:prstGeom prst="rect">
            <a:avLst/>
          </a:prstGeom>
        </p:spPr>
      </p:pic>
      <p:sp>
        <p:nvSpPr>
          <p:cNvPr id="12" name="Rectangle 11">
            <a:extLst>
              <a:ext uri="{FF2B5EF4-FFF2-40B4-BE49-F238E27FC236}">
                <a16:creationId xmlns:a16="http://schemas.microsoft.com/office/drawing/2014/main" id="{C76804E4-69AD-4A15-B791-9AB99CE0DBCE}"/>
              </a:ext>
            </a:extLst>
          </p:cNvPr>
          <p:cNvSpPr/>
          <p:nvPr/>
        </p:nvSpPr>
        <p:spPr>
          <a:xfrm>
            <a:off x="6346132" y="2812797"/>
            <a:ext cx="3220720" cy="608963"/>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Open-ended Interval</a:t>
            </a:r>
          </a:p>
        </p:txBody>
      </p:sp>
      <p:sp>
        <p:nvSpPr>
          <p:cNvPr id="14" name="Rectangle 13">
            <a:extLst>
              <a:ext uri="{FF2B5EF4-FFF2-40B4-BE49-F238E27FC236}">
                <a16:creationId xmlns:a16="http://schemas.microsoft.com/office/drawing/2014/main" id="{A988B805-7CE7-4673-8B5E-D96C562CB29F}"/>
              </a:ext>
            </a:extLst>
          </p:cNvPr>
          <p:cNvSpPr/>
          <p:nvPr/>
        </p:nvSpPr>
        <p:spPr>
          <a:xfrm>
            <a:off x="4558479" y="1654557"/>
            <a:ext cx="522415" cy="2287523"/>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IN" dirty="0"/>
              <a:t>Extreme Values</a:t>
            </a:r>
          </a:p>
        </p:txBody>
      </p:sp>
      <p:sp>
        <p:nvSpPr>
          <p:cNvPr id="15" name="Rectangle 14">
            <a:extLst>
              <a:ext uri="{FF2B5EF4-FFF2-40B4-BE49-F238E27FC236}">
                <a16:creationId xmlns:a16="http://schemas.microsoft.com/office/drawing/2014/main" id="{D0F7EFA8-CC25-449B-AFBD-695890ADEBB5}"/>
              </a:ext>
            </a:extLst>
          </p:cNvPr>
          <p:cNvSpPr/>
          <p:nvPr/>
        </p:nvSpPr>
        <p:spPr>
          <a:xfrm>
            <a:off x="2843849" y="5116416"/>
            <a:ext cx="5223568" cy="808294"/>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Tedious to calculate with large number of ungrouped data</a:t>
            </a:r>
          </a:p>
        </p:txBody>
      </p:sp>
    </p:spTree>
    <p:extLst>
      <p:ext uri="{BB962C8B-B14F-4D97-AF65-F5344CB8AC3E}">
        <p14:creationId xmlns:p14="http://schemas.microsoft.com/office/powerpoint/2010/main" val="279756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ppt_x"/>
                                          </p:val>
                                        </p:tav>
                                        <p:tav tm="100000">
                                          <p:val>
                                            <p:strVal val="#ppt_x"/>
                                          </p:val>
                                        </p:tav>
                                      </p:tavLst>
                                    </p:anim>
                                    <p:anim calcmode="lin" valueType="num">
                                      <p:cBhvr additive="base">
                                        <p:cTn id="1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 calcmode="lin" valueType="num">
                                      <p:cBhvr additive="base">
                                        <p:cTn id="28" dur="500" fill="hold"/>
                                        <p:tgtEl>
                                          <p:spTgt spid="9"/>
                                        </p:tgtEl>
                                        <p:attrNameLst>
                                          <p:attrName>ppt_x</p:attrName>
                                        </p:attrNameLst>
                                      </p:cBhvr>
                                      <p:tavLst>
                                        <p:tav tm="0">
                                          <p:val>
                                            <p:strVal val="#ppt_x"/>
                                          </p:val>
                                        </p:tav>
                                        <p:tav tm="100000">
                                          <p:val>
                                            <p:strVal val="#ppt_x"/>
                                          </p:val>
                                        </p:tav>
                                      </p:tavLst>
                                    </p:anim>
                                    <p:anim calcmode="lin" valueType="num">
                                      <p:cBhvr additive="base">
                                        <p:cTn id="29" dur="500" fill="hold"/>
                                        <p:tgtEl>
                                          <p:spTgt spid="9"/>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ppt_x"/>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anim calcmode="lin" valueType="num">
                                      <p:cBhvr>
                                        <p:cTn id="39" dur="1000" fill="hold"/>
                                        <p:tgtEl>
                                          <p:spTgt spid="12"/>
                                        </p:tgtEl>
                                        <p:attrNameLst>
                                          <p:attrName>ppt_x</p:attrName>
                                        </p:attrNameLst>
                                      </p:cBhvr>
                                      <p:tavLst>
                                        <p:tav tm="0">
                                          <p:val>
                                            <p:strVal val="#ppt_x"/>
                                          </p:val>
                                        </p:tav>
                                        <p:tav tm="100000">
                                          <p:val>
                                            <p:strVal val="#ppt_x"/>
                                          </p:val>
                                        </p:tav>
                                      </p:tavLst>
                                    </p:anim>
                                    <p:anim calcmode="lin" valueType="num">
                                      <p:cBhvr>
                                        <p:cTn id="4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ppt_x"/>
                                          </p:val>
                                        </p:tav>
                                        <p:tav tm="100000">
                                          <p:val>
                                            <p:strVal val="#ppt_x"/>
                                          </p:val>
                                        </p:tav>
                                      </p:tavLst>
                                    </p:anim>
                                    <p:anim calcmode="lin" valueType="num">
                                      <p:cBhvr additive="base">
                                        <p:cTn id="46"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14" grpId="0" animBg="1"/>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EBC84-34C1-47DF-A3EF-DEC84230A517}"/>
              </a:ext>
            </a:extLst>
          </p:cNvPr>
          <p:cNvSpPr>
            <a:spLocks noGrp="1"/>
          </p:cNvSpPr>
          <p:nvPr>
            <p:ph type="title"/>
          </p:nvPr>
        </p:nvSpPr>
        <p:spPr/>
        <p:txBody>
          <a:bodyPr/>
          <a:lstStyle/>
          <a:p>
            <a:pPr algn="ctr"/>
            <a:r>
              <a:rPr lang="en-IN" dirty="0"/>
              <a:t>Weighted Mean</a:t>
            </a:r>
          </a:p>
        </p:txBody>
      </p:sp>
      <p:sp>
        <p:nvSpPr>
          <p:cNvPr id="4" name="Rectangle 3">
            <a:extLst>
              <a:ext uri="{FF2B5EF4-FFF2-40B4-BE49-F238E27FC236}">
                <a16:creationId xmlns:a16="http://schemas.microsoft.com/office/drawing/2014/main" id="{9B1A55D3-068A-48E6-B417-3994578036EE}"/>
              </a:ext>
            </a:extLst>
          </p:cNvPr>
          <p:cNvSpPr/>
          <p:nvPr/>
        </p:nvSpPr>
        <p:spPr>
          <a:xfrm>
            <a:off x="3220720" y="1528128"/>
            <a:ext cx="6075680" cy="325120"/>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Average that takes into account the importance of each value</a:t>
            </a:r>
          </a:p>
        </p:txBody>
      </p:sp>
      <p:sp>
        <p:nvSpPr>
          <p:cNvPr id="7" name="Rectangle 6">
            <a:extLst>
              <a:ext uri="{FF2B5EF4-FFF2-40B4-BE49-F238E27FC236}">
                <a16:creationId xmlns:a16="http://schemas.microsoft.com/office/drawing/2014/main" id="{70A502B3-BD06-4409-ABCE-22A78AA5CA86}"/>
              </a:ext>
            </a:extLst>
          </p:cNvPr>
          <p:cNvSpPr/>
          <p:nvPr/>
        </p:nvSpPr>
        <p:spPr>
          <a:xfrm>
            <a:off x="9408160" y="2254647"/>
            <a:ext cx="2473960" cy="1523206"/>
          </a:xfrm>
          <a:prstGeom prst="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Average cost of labour per hour for each of the products?</a:t>
            </a:r>
          </a:p>
        </p:txBody>
      </p:sp>
      <p:sp>
        <p:nvSpPr>
          <p:cNvPr id="8" name="Rectangle 7">
            <a:extLst>
              <a:ext uri="{FF2B5EF4-FFF2-40B4-BE49-F238E27FC236}">
                <a16:creationId xmlns:a16="http://schemas.microsoft.com/office/drawing/2014/main" id="{8A5F7985-1074-433F-ADD6-4EA48DFACA9C}"/>
              </a:ext>
            </a:extLst>
          </p:cNvPr>
          <p:cNvSpPr/>
          <p:nvPr/>
        </p:nvSpPr>
        <p:spPr>
          <a:xfrm>
            <a:off x="2854960" y="4026446"/>
            <a:ext cx="2275840" cy="1670863"/>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$8/hour</a:t>
            </a:r>
          </a:p>
          <a:p>
            <a:pPr algn="ctr"/>
            <a:r>
              <a:rPr lang="en-IN" dirty="0"/>
              <a:t>$6.8/hour</a:t>
            </a:r>
          </a:p>
        </p:txBody>
      </p:sp>
      <p:pic>
        <p:nvPicPr>
          <p:cNvPr id="6" name="Content Placeholder 5">
            <a:extLst>
              <a:ext uri="{FF2B5EF4-FFF2-40B4-BE49-F238E27FC236}">
                <a16:creationId xmlns:a16="http://schemas.microsoft.com/office/drawing/2014/main" id="{A51F5A45-8BAF-4F7E-834D-17F36384B0A9}"/>
              </a:ext>
            </a:extLst>
          </p:cNvPr>
          <p:cNvPicPr>
            <a:picLocks noGrp="1" noChangeAspect="1"/>
          </p:cNvPicPr>
          <p:nvPr>
            <p:ph idx="1"/>
          </p:nvPr>
        </p:nvPicPr>
        <p:blipFill>
          <a:blip r:embed="rId2"/>
          <a:stretch>
            <a:fillRect/>
          </a:stretch>
        </p:blipFill>
        <p:spPr>
          <a:xfrm>
            <a:off x="2783840" y="2180819"/>
            <a:ext cx="6197600" cy="1670863"/>
          </a:xfrm>
        </p:spPr>
      </p:pic>
    </p:spTree>
    <p:extLst>
      <p:ext uri="{BB962C8B-B14F-4D97-AF65-F5344CB8AC3E}">
        <p14:creationId xmlns:p14="http://schemas.microsoft.com/office/powerpoint/2010/main" val="1382605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6"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down)">
                                      <p:cBhvr>
                                        <p:cTn id="26" dur="580">
                                          <p:stCondLst>
                                            <p:cond delay="0"/>
                                          </p:stCondLst>
                                        </p:cTn>
                                        <p:tgtEl>
                                          <p:spTgt spid="8"/>
                                        </p:tgtEl>
                                      </p:cBhvr>
                                    </p:animEffect>
                                    <p:anim calcmode="lin" valueType="num">
                                      <p:cBhvr>
                                        <p:cTn id="27"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28"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9"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30"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31"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32" dur="26">
                                          <p:stCondLst>
                                            <p:cond delay="650"/>
                                          </p:stCondLst>
                                        </p:cTn>
                                        <p:tgtEl>
                                          <p:spTgt spid="8"/>
                                        </p:tgtEl>
                                      </p:cBhvr>
                                      <p:to x="100000" y="60000"/>
                                    </p:animScale>
                                    <p:animScale>
                                      <p:cBhvr>
                                        <p:cTn id="33" dur="166" decel="50000">
                                          <p:stCondLst>
                                            <p:cond delay="676"/>
                                          </p:stCondLst>
                                        </p:cTn>
                                        <p:tgtEl>
                                          <p:spTgt spid="8"/>
                                        </p:tgtEl>
                                      </p:cBhvr>
                                      <p:to x="100000" y="100000"/>
                                    </p:animScale>
                                    <p:animScale>
                                      <p:cBhvr>
                                        <p:cTn id="34" dur="26">
                                          <p:stCondLst>
                                            <p:cond delay="1312"/>
                                          </p:stCondLst>
                                        </p:cTn>
                                        <p:tgtEl>
                                          <p:spTgt spid="8"/>
                                        </p:tgtEl>
                                      </p:cBhvr>
                                      <p:to x="100000" y="80000"/>
                                    </p:animScale>
                                    <p:animScale>
                                      <p:cBhvr>
                                        <p:cTn id="35" dur="166" decel="50000">
                                          <p:stCondLst>
                                            <p:cond delay="1338"/>
                                          </p:stCondLst>
                                        </p:cTn>
                                        <p:tgtEl>
                                          <p:spTgt spid="8"/>
                                        </p:tgtEl>
                                      </p:cBhvr>
                                      <p:to x="100000" y="100000"/>
                                    </p:animScale>
                                    <p:animScale>
                                      <p:cBhvr>
                                        <p:cTn id="36" dur="26">
                                          <p:stCondLst>
                                            <p:cond delay="1642"/>
                                          </p:stCondLst>
                                        </p:cTn>
                                        <p:tgtEl>
                                          <p:spTgt spid="8"/>
                                        </p:tgtEl>
                                      </p:cBhvr>
                                      <p:to x="100000" y="90000"/>
                                    </p:animScale>
                                    <p:animScale>
                                      <p:cBhvr>
                                        <p:cTn id="37" dur="166" decel="50000">
                                          <p:stCondLst>
                                            <p:cond delay="1668"/>
                                          </p:stCondLst>
                                        </p:cTn>
                                        <p:tgtEl>
                                          <p:spTgt spid="8"/>
                                        </p:tgtEl>
                                      </p:cBhvr>
                                      <p:to x="100000" y="100000"/>
                                    </p:animScale>
                                    <p:animScale>
                                      <p:cBhvr>
                                        <p:cTn id="38" dur="26">
                                          <p:stCondLst>
                                            <p:cond delay="1808"/>
                                          </p:stCondLst>
                                        </p:cTn>
                                        <p:tgtEl>
                                          <p:spTgt spid="8"/>
                                        </p:tgtEl>
                                      </p:cBhvr>
                                      <p:to x="100000" y="95000"/>
                                    </p:animScale>
                                    <p:animScale>
                                      <p:cBhvr>
                                        <p:cTn id="39"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47833-8A43-4BDE-B883-25D30FC27F7E}"/>
              </a:ext>
            </a:extLst>
          </p:cNvPr>
          <p:cNvSpPr>
            <a:spLocks noGrp="1"/>
          </p:cNvSpPr>
          <p:nvPr>
            <p:ph type="title"/>
          </p:nvPr>
        </p:nvSpPr>
        <p:spPr/>
        <p:txBody>
          <a:bodyPr/>
          <a:lstStyle/>
          <a:p>
            <a:pPr algn="ctr"/>
            <a:r>
              <a:rPr lang="en-IN" dirty="0"/>
              <a:t>Median</a:t>
            </a:r>
          </a:p>
        </p:txBody>
      </p:sp>
      <p:sp>
        <p:nvSpPr>
          <p:cNvPr id="3" name="Content Placeholder 2">
            <a:extLst>
              <a:ext uri="{FF2B5EF4-FFF2-40B4-BE49-F238E27FC236}">
                <a16:creationId xmlns:a16="http://schemas.microsoft.com/office/drawing/2014/main" id="{8F581469-09F4-4351-A547-E40A5D077A93}"/>
              </a:ext>
            </a:extLst>
          </p:cNvPr>
          <p:cNvSpPr>
            <a:spLocks noGrp="1"/>
          </p:cNvSpPr>
          <p:nvPr>
            <p:ph idx="1"/>
          </p:nvPr>
        </p:nvSpPr>
        <p:spPr>
          <a:xfrm>
            <a:off x="838200" y="1825625"/>
            <a:ext cx="11211560" cy="4351338"/>
          </a:xfrm>
        </p:spPr>
        <p:txBody>
          <a:bodyPr/>
          <a:lstStyle/>
          <a:p>
            <a:r>
              <a:rPr lang="en-IN" dirty="0"/>
              <a:t>Most central item in the set of numbers</a:t>
            </a:r>
          </a:p>
          <a:p>
            <a:r>
              <a:rPr lang="en-IN" dirty="0"/>
              <a:t>Ungrouped data</a:t>
            </a:r>
          </a:p>
          <a:p>
            <a:endParaRPr lang="en-IN" dirty="0"/>
          </a:p>
        </p:txBody>
      </p:sp>
      <p:pic>
        <p:nvPicPr>
          <p:cNvPr id="5" name="Picture 4">
            <a:extLst>
              <a:ext uri="{FF2B5EF4-FFF2-40B4-BE49-F238E27FC236}">
                <a16:creationId xmlns:a16="http://schemas.microsoft.com/office/drawing/2014/main" id="{CCAD1E8A-BB09-47AD-A19D-E25BD9A2C51E}"/>
              </a:ext>
            </a:extLst>
          </p:cNvPr>
          <p:cNvPicPr>
            <a:picLocks noChangeAspect="1"/>
          </p:cNvPicPr>
          <p:nvPr/>
        </p:nvPicPr>
        <p:blipFill>
          <a:blip r:embed="rId2"/>
          <a:stretch>
            <a:fillRect/>
          </a:stretch>
        </p:blipFill>
        <p:spPr>
          <a:xfrm>
            <a:off x="1276350" y="2858770"/>
            <a:ext cx="9029700" cy="1790700"/>
          </a:xfrm>
          <a:prstGeom prst="rect">
            <a:avLst/>
          </a:prstGeom>
        </p:spPr>
      </p:pic>
      <p:pic>
        <p:nvPicPr>
          <p:cNvPr id="7" name="Picture 6">
            <a:extLst>
              <a:ext uri="{FF2B5EF4-FFF2-40B4-BE49-F238E27FC236}">
                <a16:creationId xmlns:a16="http://schemas.microsoft.com/office/drawing/2014/main" id="{CE04BCA1-4686-4002-AE8D-B9C324186C27}"/>
              </a:ext>
            </a:extLst>
          </p:cNvPr>
          <p:cNvPicPr>
            <a:picLocks noChangeAspect="1"/>
          </p:cNvPicPr>
          <p:nvPr/>
        </p:nvPicPr>
        <p:blipFill>
          <a:blip r:embed="rId3"/>
          <a:stretch>
            <a:fillRect/>
          </a:stretch>
        </p:blipFill>
        <p:spPr>
          <a:xfrm>
            <a:off x="1187767" y="4692015"/>
            <a:ext cx="8963025" cy="1981200"/>
          </a:xfrm>
          <a:prstGeom prst="rect">
            <a:avLst/>
          </a:prstGeom>
        </p:spPr>
      </p:pic>
    </p:spTree>
    <p:extLst>
      <p:ext uri="{BB962C8B-B14F-4D97-AF65-F5344CB8AC3E}">
        <p14:creationId xmlns:p14="http://schemas.microsoft.com/office/powerpoint/2010/main" val="331043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arn(inVertic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arn(inVertical)">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867F4-6497-47CA-99EA-B6E8B46CD9B4}"/>
              </a:ext>
            </a:extLst>
          </p:cNvPr>
          <p:cNvSpPr>
            <a:spLocks noGrp="1"/>
          </p:cNvSpPr>
          <p:nvPr>
            <p:ph type="title"/>
          </p:nvPr>
        </p:nvSpPr>
        <p:spPr/>
        <p:txBody>
          <a:bodyPr/>
          <a:lstStyle/>
          <a:p>
            <a:r>
              <a:rPr lang="en-IN" dirty="0"/>
              <a:t>…Median</a:t>
            </a:r>
          </a:p>
        </p:txBody>
      </p:sp>
      <p:sp>
        <p:nvSpPr>
          <p:cNvPr id="3" name="Content Placeholder 2">
            <a:extLst>
              <a:ext uri="{FF2B5EF4-FFF2-40B4-BE49-F238E27FC236}">
                <a16:creationId xmlns:a16="http://schemas.microsoft.com/office/drawing/2014/main" id="{8FDE3F4D-C345-40E3-AFD2-BAA15C98EDAD}"/>
              </a:ext>
            </a:extLst>
          </p:cNvPr>
          <p:cNvSpPr>
            <a:spLocks noGrp="1"/>
          </p:cNvSpPr>
          <p:nvPr>
            <p:ph idx="1"/>
          </p:nvPr>
        </p:nvSpPr>
        <p:spPr/>
        <p:txBody>
          <a:bodyPr/>
          <a:lstStyle/>
          <a:p>
            <a:r>
              <a:rPr lang="en-IN" dirty="0"/>
              <a:t>Grouped data</a:t>
            </a:r>
          </a:p>
        </p:txBody>
      </p:sp>
      <p:pic>
        <p:nvPicPr>
          <p:cNvPr id="5" name="Picture 4">
            <a:extLst>
              <a:ext uri="{FF2B5EF4-FFF2-40B4-BE49-F238E27FC236}">
                <a16:creationId xmlns:a16="http://schemas.microsoft.com/office/drawing/2014/main" id="{19340117-A9AE-4615-A9C8-1B89670B7096}"/>
              </a:ext>
            </a:extLst>
          </p:cNvPr>
          <p:cNvPicPr>
            <a:picLocks noChangeAspect="1"/>
          </p:cNvPicPr>
          <p:nvPr/>
        </p:nvPicPr>
        <p:blipFill>
          <a:blip r:embed="rId2"/>
          <a:stretch>
            <a:fillRect/>
          </a:stretch>
        </p:blipFill>
        <p:spPr>
          <a:xfrm>
            <a:off x="538480" y="2285365"/>
            <a:ext cx="4674552" cy="4468205"/>
          </a:xfrm>
          <a:prstGeom prst="rect">
            <a:avLst/>
          </a:prstGeom>
        </p:spPr>
      </p:pic>
      <p:pic>
        <p:nvPicPr>
          <p:cNvPr id="7" name="Picture 6">
            <a:extLst>
              <a:ext uri="{FF2B5EF4-FFF2-40B4-BE49-F238E27FC236}">
                <a16:creationId xmlns:a16="http://schemas.microsoft.com/office/drawing/2014/main" id="{26E463F3-CE8D-442F-BADB-ACC538BDB9D3}"/>
              </a:ext>
            </a:extLst>
          </p:cNvPr>
          <p:cNvPicPr>
            <a:picLocks noChangeAspect="1"/>
          </p:cNvPicPr>
          <p:nvPr/>
        </p:nvPicPr>
        <p:blipFill>
          <a:blip r:embed="rId3"/>
          <a:stretch>
            <a:fillRect/>
          </a:stretch>
        </p:blipFill>
        <p:spPr>
          <a:xfrm>
            <a:off x="5125640" y="6366419"/>
            <a:ext cx="1940720" cy="491581"/>
          </a:xfrm>
          <a:prstGeom prst="rect">
            <a:avLst/>
          </a:prstGeom>
        </p:spPr>
      </p:pic>
    </p:spTree>
    <p:extLst>
      <p:ext uri="{BB962C8B-B14F-4D97-AF65-F5344CB8AC3E}">
        <p14:creationId xmlns:p14="http://schemas.microsoft.com/office/powerpoint/2010/main" val="27579642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739B06-5B42-454F-9169-A54A7897231D}"/>
              </a:ext>
            </a:extLst>
          </p:cNvPr>
          <p:cNvSpPr>
            <a:spLocks noGrp="1"/>
          </p:cNvSpPr>
          <p:nvPr>
            <p:ph type="title"/>
          </p:nvPr>
        </p:nvSpPr>
        <p:spPr/>
        <p:txBody>
          <a:bodyPr/>
          <a:lstStyle/>
          <a:p>
            <a:pPr algn="ctr"/>
            <a:r>
              <a:rPr lang="en-IN" dirty="0"/>
              <a:t>Advantages</a:t>
            </a:r>
          </a:p>
        </p:txBody>
      </p:sp>
      <p:sp>
        <p:nvSpPr>
          <p:cNvPr id="3" name="Content Placeholder 2">
            <a:extLst>
              <a:ext uri="{FF2B5EF4-FFF2-40B4-BE49-F238E27FC236}">
                <a16:creationId xmlns:a16="http://schemas.microsoft.com/office/drawing/2014/main" id="{958485B7-26FA-48E4-B876-6146E9399F30}"/>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62A24FFC-6455-40C0-96CF-974431115E4C}"/>
              </a:ext>
            </a:extLst>
          </p:cNvPr>
          <p:cNvSpPr/>
          <p:nvPr/>
        </p:nvSpPr>
        <p:spPr>
          <a:xfrm>
            <a:off x="1655805" y="2372497"/>
            <a:ext cx="8106033" cy="65902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Extreme values don’t affect the median as strongly as they do mean</a:t>
            </a:r>
          </a:p>
        </p:txBody>
      </p:sp>
      <p:sp>
        <p:nvSpPr>
          <p:cNvPr id="5" name="Rectangle 4">
            <a:extLst>
              <a:ext uri="{FF2B5EF4-FFF2-40B4-BE49-F238E27FC236}">
                <a16:creationId xmlns:a16="http://schemas.microsoft.com/office/drawing/2014/main" id="{AC737799-9893-4C1C-B24F-3E044337E937}"/>
              </a:ext>
            </a:extLst>
          </p:cNvPr>
          <p:cNvSpPr/>
          <p:nvPr/>
        </p:nvSpPr>
        <p:spPr>
          <a:xfrm>
            <a:off x="1655805" y="3429000"/>
            <a:ext cx="8106033" cy="65902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Open-ended class doesn’t pose a problem to median, unless median falls in the open-ended class</a:t>
            </a:r>
          </a:p>
        </p:txBody>
      </p:sp>
      <p:sp>
        <p:nvSpPr>
          <p:cNvPr id="6" name="Rectangle 5">
            <a:extLst>
              <a:ext uri="{FF2B5EF4-FFF2-40B4-BE49-F238E27FC236}">
                <a16:creationId xmlns:a16="http://schemas.microsoft.com/office/drawing/2014/main" id="{3D86E55E-DD54-42B7-B160-43B6302E44DA}"/>
              </a:ext>
            </a:extLst>
          </p:cNvPr>
          <p:cNvSpPr/>
          <p:nvPr/>
        </p:nvSpPr>
        <p:spPr>
          <a:xfrm>
            <a:off x="1713470" y="4473146"/>
            <a:ext cx="8048368" cy="60136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Works even with qualitative data</a:t>
            </a:r>
          </a:p>
          <a:p>
            <a:pPr algn="ctr"/>
            <a:r>
              <a:rPr lang="en-IN" dirty="0">
                <a:solidFill>
                  <a:srgbClr val="FF0000"/>
                </a:solidFill>
              </a:rPr>
              <a:t>Very Strong, Moderately-Strong, Strong, Weak, Very Weak</a:t>
            </a:r>
          </a:p>
        </p:txBody>
      </p:sp>
    </p:spTree>
    <p:extLst>
      <p:ext uri="{BB962C8B-B14F-4D97-AF65-F5344CB8AC3E}">
        <p14:creationId xmlns:p14="http://schemas.microsoft.com/office/powerpoint/2010/main" val="1683341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9932-AD99-4E46-A6D8-380F1DB0120C}"/>
              </a:ext>
            </a:extLst>
          </p:cNvPr>
          <p:cNvSpPr>
            <a:spLocks noGrp="1"/>
          </p:cNvSpPr>
          <p:nvPr>
            <p:ph type="title"/>
          </p:nvPr>
        </p:nvSpPr>
        <p:spPr/>
        <p:txBody>
          <a:bodyPr/>
          <a:lstStyle/>
          <a:p>
            <a:pPr algn="ctr"/>
            <a:r>
              <a:rPr lang="en-IN" dirty="0"/>
              <a:t>Disadvantages</a:t>
            </a:r>
          </a:p>
        </p:txBody>
      </p:sp>
      <p:sp>
        <p:nvSpPr>
          <p:cNvPr id="3" name="Content Placeholder 2">
            <a:extLst>
              <a:ext uri="{FF2B5EF4-FFF2-40B4-BE49-F238E27FC236}">
                <a16:creationId xmlns:a16="http://schemas.microsoft.com/office/drawing/2014/main" id="{28763F6F-2F17-47D8-B645-282A2E852FB1}"/>
              </a:ext>
            </a:extLst>
          </p:cNvPr>
          <p:cNvSpPr>
            <a:spLocks noGrp="1"/>
          </p:cNvSpPr>
          <p:nvPr>
            <p:ph idx="1"/>
          </p:nvPr>
        </p:nvSpPr>
        <p:spPr/>
        <p:txBody>
          <a:bodyPr/>
          <a:lstStyle/>
          <a:p>
            <a:r>
              <a:rPr lang="en-IN" dirty="0"/>
              <a:t>Statistical procedures are complex with median than mean</a:t>
            </a:r>
          </a:p>
          <a:p>
            <a:r>
              <a:rPr lang="en-IN" dirty="0"/>
              <a:t>Sorting is required before calculation of median</a:t>
            </a:r>
          </a:p>
          <a:p>
            <a:r>
              <a:rPr lang="en-IN" dirty="0"/>
              <a:t>Mean is an easy estimate of the population parameter than median</a:t>
            </a:r>
          </a:p>
        </p:txBody>
      </p:sp>
    </p:spTree>
    <p:extLst>
      <p:ext uri="{BB962C8B-B14F-4D97-AF65-F5344CB8AC3E}">
        <p14:creationId xmlns:p14="http://schemas.microsoft.com/office/powerpoint/2010/main" val="1662190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BD975-513D-4534-9C36-BAEBC94F0729}"/>
              </a:ext>
            </a:extLst>
          </p:cNvPr>
          <p:cNvSpPr>
            <a:spLocks noGrp="1"/>
          </p:cNvSpPr>
          <p:nvPr>
            <p:ph type="title"/>
          </p:nvPr>
        </p:nvSpPr>
        <p:spPr/>
        <p:txBody>
          <a:bodyPr/>
          <a:lstStyle/>
          <a:p>
            <a:pPr algn="ctr"/>
            <a:r>
              <a:rPr lang="en-IN" dirty="0"/>
              <a:t>Mode</a:t>
            </a:r>
          </a:p>
        </p:txBody>
      </p:sp>
      <p:pic>
        <p:nvPicPr>
          <p:cNvPr id="6" name="Content Placeholder 5">
            <a:extLst>
              <a:ext uri="{FF2B5EF4-FFF2-40B4-BE49-F238E27FC236}">
                <a16:creationId xmlns:a16="http://schemas.microsoft.com/office/drawing/2014/main" id="{C4884071-4326-424D-9FDF-1594383743FD}"/>
              </a:ext>
            </a:extLst>
          </p:cNvPr>
          <p:cNvPicPr>
            <a:picLocks noGrp="1" noChangeAspect="1"/>
          </p:cNvPicPr>
          <p:nvPr>
            <p:ph idx="1"/>
          </p:nvPr>
        </p:nvPicPr>
        <p:blipFill>
          <a:blip r:embed="rId2"/>
          <a:stretch>
            <a:fillRect/>
          </a:stretch>
        </p:blipFill>
        <p:spPr>
          <a:xfrm>
            <a:off x="2191265" y="2533930"/>
            <a:ext cx="3586549" cy="1637952"/>
          </a:xfrm>
        </p:spPr>
      </p:pic>
      <p:sp>
        <p:nvSpPr>
          <p:cNvPr id="4" name="Rectangle 3">
            <a:extLst>
              <a:ext uri="{FF2B5EF4-FFF2-40B4-BE49-F238E27FC236}">
                <a16:creationId xmlns:a16="http://schemas.microsoft.com/office/drawing/2014/main" id="{9D8E6CD9-C181-4B2F-B9A8-840F630023BD}"/>
              </a:ext>
            </a:extLst>
          </p:cNvPr>
          <p:cNvSpPr/>
          <p:nvPr/>
        </p:nvSpPr>
        <p:spPr>
          <a:xfrm>
            <a:off x="2191265" y="2133601"/>
            <a:ext cx="5338119" cy="296562"/>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Value that is repeated most often in a data set</a:t>
            </a:r>
          </a:p>
        </p:txBody>
      </p:sp>
      <p:sp>
        <p:nvSpPr>
          <p:cNvPr id="7" name="Rectangle 6">
            <a:extLst>
              <a:ext uri="{FF2B5EF4-FFF2-40B4-BE49-F238E27FC236}">
                <a16:creationId xmlns:a16="http://schemas.microsoft.com/office/drawing/2014/main" id="{31018D11-F581-437E-85D4-4C0C4510ABBA}"/>
              </a:ext>
            </a:extLst>
          </p:cNvPr>
          <p:cNvSpPr/>
          <p:nvPr/>
        </p:nvSpPr>
        <p:spPr>
          <a:xfrm>
            <a:off x="6755027" y="2660822"/>
            <a:ext cx="2051222" cy="939113"/>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Never use mode for ungrouped data</a:t>
            </a:r>
          </a:p>
        </p:txBody>
      </p:sp>
      <p:sp>
        <p:nvSpPr>
          <p:cNvPr id="8" name="Speech Bubble: Oval 7">
            <a:extLst>
              <a:ext uri="{FF2B5EF4-FFF2-40B4-BE49-F238E27FC236}">
                <a16:creationId xmlns:a16="http://schemas.microsoft.com/office/drawing/2014/main" id="{8B0E453D-871C-47CA-BE14-DB656CFFF05B}"/>
              </a:ext>
            </a:extLst>
          </p:cNvPr>
          <p:cNvSpPr/>
          <p:nvPr/>
        </p:nvSpPr>
        <p:spPr>
          <a:xfrm rot="18663352">
            <a:off x="667266" y="1110153"/>
            <a:ext cx="2240692" cy="1779373"/>
          </a:xfrm>
          <a:prstGeom prst="wedgeEllipseCallou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mean is  6.7</a:t>
            </a:r>
          </a:p>
        </p:txBody>
      </p:sp>
      <p:sp>
        <p:nvSpPr>
          <p:cNvPr id="9" name="Rectangle 8">
            <a:extLst>
              <a:ext uri="{FF2B5EF4-FFF2-40B4-BE49-F238E27FC236}">
                <a16:creationId xmlns:a16="http://schemas.microsoft.com/office/drawing/2014/main" id="{E0C28B89-643A-47D5-93C4-DC8126E1E2A3}"/>
              </a:ext>
            </a:extLst>
          </p:cNvPr>
          <p:cNvSpPr/>
          <p:nvPr/>
        </p:nvSpPr>
        <p:spPr>
          <a:xfrm>
            <a:off x="2191265" y="4591824"/>
            <a:ext cx="4827373" cy="1558802"/>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dirty="0">
                <a:solidFill>
                  <a:srgbClr val="FF0000"/>
                </a:solidFill>
              </a:rPr>
              <a:t>In case of Grouped data,</a:t>
            </a:r>
            <a:r>
              <a:rPr lang="en-IN" dirty="0"/>
              <a:t> </a:t>
            </a:r>
            <a:r>
              <a:rPr lang="en-IN" dirty="0">
                <a:solidFill>
                  <a:schemeClr val="accent1">
                    <a:lumMod val="50000"/>
                  </a:schemeClr>
                </a:solidFill>
              </a:rPr>
              <a:t>Mode</a:t>
            </a:r>
            <a:r>
              <a:rPr lang="en-IN" dirty="0"/>
              <a:t>= </a:t>
            </a:r>
          </a:p>
        </p:txBody>
      </p:sp>
      <p:pic>
        <p:nvPicPr>
          <p:cNvPr id="11" name="Picture 10">
            <a:extLst>
              <a:ext uri="{FF2B5EF4-FFF2-40B4-BE49-F238E27FC236}">
                <a16:creationId xmlns:a16="http://schemas.microsoft.com/office/drawing/2014/main" id="{453D2097-B7CE-4940-96C1-13B1348B3A20}"/>
              </a:ext>
            </a:extLst>
          </p:cNvPr>
          <p:cNvPicPr>
            <a:picLocks noChangeAspect="1"/>
          </p:cNvPicPr>
          <p:nvPr/>
        </p:nvPicPr>
        <p:blipFill>
          <a:blip r:embed="rId3"/>
          <a:stretch>
            <a:fillRect/>
          </a:stretch>
        </p:blipFill>
        <p:spPr>
          <a:xfrm>
            <a:off x="5294621" y="5142017"/>
            <a:ext cx="1621901" cy="525616"/>
          </a:xfrm>
          <a:prstGeom prst="rect">
            <a:avLst/>
          </a:prstGeom>
        </p:spPr>
      </p:pic>
      <p:sp>
        <p:nvSpPr>
          <p:cNvPr id="12" name="Rectangle 11">
            <a:extLst>
              <a:ext uri="{FF2B5EF4-FFF2-40B4-BE49-F238E27FC236}">
                <a16:creationId xmlns:a16="http://schemas.microsoft.com/office/drawing/2014/main" id="{8852723E-3071-465D-BDA9-D73FD1DC7B4B}"/>
              </a:ext>
            </a:extLst>
          </p:cNvPr>
          <p:cNvSpPr/>
          <p:nvPr/>
        </p:nvSpPr>
        <p:spPr>
          <a:xfrm>
            <a:off x="7290486" y="4171883"/>
            <a:ext cx="4679092" cy="2368959"/>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4" name="Picture 13">
            <a:extLst>
              <a:ext uri="{FF2B5EF4-FFF2-40B4-BE49-F238E27FC236}">
                <a16:creationId xmlns:a16="http://schemas.microsoft.com/office/drawing/2014/main" id="{A4C5030F-0040-4EF6-9BE8-83BF42D49367}"/>
              </a:ext>
            </a:extLst>
          </p:cNvPr>
          <p:cNvPicPr>
            <a:picLocks noChangeAspect="1"/>
          </p:cNvPicPr>
          <p:nvPr/>
        </p:nvPicPr>
        <p:blipFill>
          <a:blip r:embed="rId4"/>
          <a:stretch>
            <a:fillRect/>
          </a:stretch>
        </p:blipFill>
        <p:spPr>
          <a:xfrm>
            <a:off x="7438768" y="4258963"/>
            <a:ext cx="4431955" cy="2174788"/>
          </a:xfrm>
          <a:prstGeom prst="rect">
            <a:avLst/>
          </a:prstGeom>
        </p:spPr>
      </p:pic>
      <p:sp>
        <p:nvSpPr>
          <p:cNvPr id="15" name="Rectangle 14">
            <a:extLst>
              <a:ext uri="{FF2B5EF4-FFF2-40B4-BE49-F238E27FC236}">
                <a16:creationId xmlns:a16="http://schemas.microsoft.com/office/drawing/2014/main" id="{3A439C3F-9DDE-4F76-950F-4188902B1165}"/>
              </a:ext>
            </a:extLst>
          </p:cNvPr>
          <p:cNvSpPr/>
          <p:nvPr/>
        </p:nvSpPr>
        <p:spPr>
          <a:xfrm>
            <a:off x="2191265" y="6325351"/>
            <a:ext cx="4827373" cy="375468"/>
          </a:xfrm>
          <a:prstGeom prst="rect">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Class with the largest frequency is the modal class</a:t>
            </a:r>
          </a:p>
        </p:txBody>
      </p:sp>
    </p:spTree>
    <p:extLst>
      <p:ext uri="{BB962C8B-B14F-4D97-AF65-F5344CB8AC3E}">
        <p14:creationId xmlns:p14="http://schemas.microsoft.com/office/powerpoint/2010/main" val="450027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fade">
                                      <p:cBhvr>
                                        <p:cTn id="27" dur="1000"/>
                                        <p:tgtEl>
                                          <p:spTgt spid="7"/>
                                        </p:tgtEl>
                                      </p:cBhvr>
                                    </p:animEffect>
                                    <p:anim calcmode="lin" valueType="num">
                                      <p:cBhvr>
                                        <p:cTn id="28" dur="1000" fill="hold"/>
                                        <p:tgtEl>
                                          <p:spTgt spid="7"/>
                                        </p:tgtEl>
                                        <p:attrNameLst>
                                          <p:attrName>ppt_x</p:attrName>
                                        </p:attrNameLst>
                                      </p:cBhvr>
                                      <p:tavLst>
                                        <p:tav tm="0">
                                          <p:val>
                                            <p:strVal val="#ppt_x"/>
                                          </p:val>
                                        </p:tav>
                                        <p:tav tm="100000">
                                          <p:val>
                                            <p:strVal val="#ppt_x"/>
                                          </p:val>
                                        </p:tav>
                                      </p:tavLst>
                                    </p:anim>
                                    <p:anim calcmode="lin" valueType="num">
                                      <p:cBhvr>
                                        <p:cTn id="2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anim calcmode="lin" valueType="num">
                                      <p:cBhvr>
                                        <p:cTn id="42" dur="1000" fill="hold"/>
                                        <p:tgtEl>
                                          <p:spTgt spid="11"/>
                                        </p:tgtEl>
                                        <p:attrNameLst>
                                          <p:attrName>ppt_x</p:attrName>
                                        </p:attrNameLst>
                                      </p:cBhvr>
                                      <p:tavLst>
                                        <p:tav tm="0">
                                          <p:val>
                                            <p:strVal val="#ppt_x"/>
                                          </p:val>
                                        </p:tav>
                                        <p:tav tm="100000">
                                          <p:val>
                                            <p:strVal val="#ppt_x"/>
                                          </p:val>
                                        </p:tav>
                                      </p:tavLst>
                                    </p:anim>
                                    <p:anim calcmode="lin" valueType="num">
                                      <p:cBhvr>
                                        <p:cTn id="43"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1000"/>
                                        <p:tgtEl>
                                          <p:spTgt spid="12"/>
                                        </p:tgtEl>
                                      </p:cBhvr>
                                    </p:animEffect>
                                    <p:anim calcmode="lin" valueType="num">
                                      <p:cBhvr>
                                        <p:cTn id="49" dur="1000" fill="hold"/>
                                        <p:tgtEl>
                                          <p:spTgt spid="12"/>
                                        </p:tgtEl>
                                        <p:attrNameLst>
                                          <p:attrName>ppt_x</p:attrName>
                                        </p:attrNameLst>
                                      </p:cBhvr>
                                      <p:tavLst>
                                        <p:tav tm="0">
                                          <p:val>
                                            <p:strVal val="#ppt_x"/>
                                          </p:val>
                                        </p:tav>
                                        <p:tav tm="100000">
                                          <p:val>
                                            <p:strVal val="#ppt_x"/>
                                          </p:val>
                                        </p:tav>
                                      </p:tavLst>
                                    </p:anim>
                                    <p:anim calcmode="lin" valueType="num">
                                      <p:cBhvr>
                                        <p:cTn id="50" dur="1000" fill="hold"/>
                                        <p:tgtEl>
                                          <p:spTgt spid="12"/>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ppt_x</p:attrName>
                                        </p:attrNameLst>
                                      </p:cBhvr>
                                      <p:tavLst>
                                        <p:tav tm="0">
                                          <p:val>
                                            <p:strVal val="#ppt_x"/>
                                          </p:val>
                                        </p:tav>
                                        <p:tav tm="100000">
                                          <p:val>
                                            <p:strVal val="#ppt_x"/>
                                          </p:val>
                                        </p:tav>
                                      </p:tavLst>
                                    </p:anim>
                                    <p:anim calcmode="lin" valueType="num">
                                      <p:cBhvr>
                                        <p:cTn id="5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1000"/>
                                        <p:tgtEl>
                                          <p:spTgt spid="15"/>
                                        </p:tgtEl>
                                      </p:cBhvr>
                                    </p:animEffect>
                                    <p:anim calcmode="lin" valueType="num">
                                      <p:cBhvr>
                                        <p:cTn id="61" dur="1000" fill="hold"/>
                                        <p:tgtEl>
                                          <p:spTgt spid="15"/>
                                        </p:tgtEl>
                                        <p:attrNameLst>
                                          <p:attrName>ppt_x</p:attrName>
                                        </p:attrNameLst>
                                      </p:cBhvr>
                                      <p:tavLst>
                                        <p:tav tm="0">
                                          <p:val>
                                            <p:strVal val="#ppt_x"/>
                                          </p:val>
                                        </p:tav>
                                        <p:tav tm="100000">
                                          <p:val>
                                            <p:strVal val="#ppt_x"/>
                                          </p:val>
                                        </p:tav>
                                      </p:tavLst>
                                    </p:anim>
                                    <p:anim calcmode="lin" valueType="num">
                                      <p:cBhvr>
                                        <p:cTn id="62"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2"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F0CA4-E766-43FD-951F-BDD275FFAC43}"/>
              </a:ext>
            </a:extLst>
          </p:cNvPr>
          <p:cNvSpPr>
            <a:spLocks noGrp="1"/>
          </p:cNvSpPr>
          <p:nvPr>
            <p:ph type="title"/>
          </p:nvPr>
        </p:nvSpPr>
        <p:spPr/>
        <p:txBody>
          <a:bodyPr/>
          <a:lstStyle/>
          <a:p>
            <a:pPr algn="ctr"/>
            <a:r>
              <a:rPr lang="en-IN" dirty="0"/>
              <a:t>Exercise</a:t>
            </a:r>
          </a:p>
        </p:txBody>
      </p:sp>
      <p:pic>
        <p:nvPicPr>
          <p:cNvPr id="4" name="Content Placeholder 3">
            <a:extLst>
              <a:ext uri="{FF2B5EF4-FFF2-40B4-BE49-F238E27FC236}">
                <a16:creationId xmlns:a16="http://schemas.microsoft.com/office/drawing/2014/main" id="{BFBC659A-34BA-4E2E-AE6B-6EEE00944C4D}"/>
              </a:ext>
            </a:extLst>
          </p:cNvPr>
          <p:cNvPicPr>
            <a:picLocks noGrp="1" noChangeAspect="1"/>
          </p:cNvPicPr>
          <p:nvPr>
            <p:ph idx="1"/>
          </p:nvPr>
        </p:nvPicPr>
        <p:blipFill>
          <a:blip r:embed="rId2"/>
          <a:stretch>
            <a:fillRect/>
          </a:stretch>
        </p:blipFill>
        <p:spPr>
          <a:xfrm>
            <a:off x="394011" y="2009818"/>
            <a:ext cx="6119100" cy="3618822"/>
          </a:xfrm>
          <a:prstGeom prst="rect">
            <a:avLst/>
          </a:prstGeom>
        </p:spPr>
      </p:pic>
      <p:pic>
        <p:nvPicPr>
          <p:cNvPr id="6" name="Picture 5">
            <a:extLst>
              <a:ext uri="{FF2B5EF4-FFF2-40B4-BE49-F238E27FC236}">
                <a16:creationId xmlns:a16="http://schemas.microsoft.com/office/drawing/2014/main" id="{ED3FC26D-C23F-4C7A-9927-73C4DAF03E81}"/>
              </a:ext>
            </a:extLst>
          </p:cNvPr>
          <p:cNvPicPr>
            <a:picLocks noChangeAspect="1"/>
          </p:cNvPicPr>
          <p:nvPr/>
        </p:nvPicPr>
        <p:blipFill>
          <a:blip r:embed="rId3"/>
          <a:stretch>
            <a:fillRect/>
          </a:stretch>
        </p:blipFill>
        <p:spPr>
          <a:xfrm>
            <a:off x="8169910" y="1964098"/>
            <a:ext cx="3086100" cy="2943225"/>
          </a:xfrm>
          <a:prstGeom prst="rect">
            <a:avLst/>
          </a:prstGeom>
        </p:spPr>
      </p:pic>
    </p:spTree>
    <p:extLst>
      <p:ext uri="{BB962C8B-B14F-4D97-AF65-F5344CB8AC3E}">
        <p14:creationId xmlns:p14="http://schemas.microsoft.com/office/powerpoint/2010/main" val="1102691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4BBCC-25D5-4D48-8E35-1702E39C3200}"/>
              </a:ext>
            </a:extLst>
          </p:cNvPr>
          <p:cNvSpPr>
            <a:spLocks noGrp="1"/>
          </p:cNvSpPr>
          <p:nvPr>
            <p:ph type="title"/>
          </p:nvPr>
        </p:nvSpPr>
        <p:spPr/>
        <p:txBody>
          <a:bodyPr/>
          <a:lstStyle/>
          <a:p>
            <a:pPr algn="ctr"/>
            <a:r>
              <a:rPr lang="en-IN" dirty="0"/>
              <a:t>Advantages &amp; Disadvantages</a:t>
            </a:r>
          </a:p>
        </p:txBody>
      </p:sp>
      <p:sp>
        <p:nvSpPr>
          <p:cNvPr id="3" name="Content Placeholder 2">
            <a:extLst>
              <a:ext uri="{FF2B5EF4-FFF2-40B4-BE49-F238E27FC236}">
                <a16:creationId xmlns:a16="http://schemas.microsoft.com/office/drawing/2014/main" id="{DDECF2E8-3604-49EC-85AC-23C7341DEBDB}"/>
              </a:ext>
            </a:extLst>
          </p:cNvPr>
          <p:cNvSpPr>
            <a:spLocks noGrp="1"/>
          </p:cNvSpPr>
          <p:nvPr>
            <p:ph idx="1"/>
          </p:nvPr>
        </p:nvSpPr>
        <p:spPr/>
        <p:txBody>
          <a:bodyPr>
            <a:normAutofit lnSpcReduction="10000"/>
          </a:bodyPr>
          <a:lstStyle/>
          <a:p>
            <a:r>
              <a:rPr lang="en-IN" dirty="0"/>
              <a:t>Advantages</a:t>
            </a:r>
          </a:p>
          <a:p>
            <a:pPr lvl="1"/>
            <a:r>
              <a:rPr lang="en-IN" dirty="0"/>
              <a:t>Can be used as central tendency</a:t>
            </a:r>
          </a:p>
          <a:p>
            <a:pPr lvl="1"/>
            <a:r>
              <a:rPr lang="en-IN" dirty="0"/>
              <a:t>Extreme values doesn’t affect mode</a:t>
            </a:r>
          </a:p>
          <a:p>
            <a:pPr lvl="1"/>
            <a:r>
              <a:rPr lang="en-IN" dirty="0"/>
              <a:t>Can work with open-ended classes</a:t>
            </a:r>
          </a:p>
          <a:p>
            <a:endParaRPr lang="en-IN" dirty="0"/>
          </a:p>
          <a:p>
            <a:r>
              <a:rPr lang="en-IN" dirty="0"/>
              <a:t>Disadvantages</a:t>
            </a:r>
          </a:p>
          <a:p>
            <a:pPr lvl="1"/>
            <a:r>
              <a:rPr lang="en-IN" dirty="0"/>
              <a:t>Despite these advantages, mode is not as popular as median or mean</a:t>
            </a:r>
          </a:p>
          <a:p>
            <a:pPr lvl="1"/>
            <a:r>
              <a:rPr lang="en-IN" dirty="0"/>
              <a:t>Also, too often data set doesn’t has values that are repeating</a:t>
            </a:r>
          </a:p>
          <a:p>
            <a:pPr lvl="1"/>
            <a:r>
              <a:rPr lang="en-IN" dirty="0"/>
              <a:t>Every value may be the mode</a:t>
            </a:r>
          </a:p>
          <a:p>
            <a:pPr lvl="1"/>
            <a:r>
              <a:rPr lang="en-IN" dirty="0"/>
              <a:t>When data sets contain two, three or more modes, they are hard to interpret and compare</a:t>
            </a:r>
          </a:p>
        </p:txBody>
      </p:sp>
    </p:spTree>
    <p:extLst>
      <p:ext uri="{BB962C8B-B14F-4D97-AF65-F5344CB8AC3E}">
        <p14:creationId xmlns:p14="http://schemas.microsoft.com/office/powerpoint/2010/main" val="490693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00653-6AD6-4EB5-B926-A945B0A8B632}"/>
              </a:ext>
            </a:extLst>
          </p:cNvPr>
          <p:cNvSpPr>
            <a:spLocks noGrp="1"/>
          </p:cNvSpPr>
          <p:nvPr>
            <p:ph type="title"/>
          </p:nvPr>
        </p:nvSpPr>
        <p:spPr/>
        <p:txBody>
          <a:bodyPr/>
          <a:lstStyle/>
          <a:p>
            <a:pPr algn="ctr"/>
            <a:r>
              <a:rPr lang="en-IN" dirty="0"/>
              <a:t>Comparing mean, median and mode</a:t>
            </a:r>
          </a:p>
        </p:txBody>
      </p:sp>
      <p:pic>
        <p:nvPicPr>
          <p:cNvPr id="8" name="Content Placeholder 7">
            <a:extLst>
              <a:ext uri="{FF2B5EF4-FFF2-40B4-BE49-F238E27FC236}">
                <a16:creationId xmlns:a16="http://schemas.microsoft.com/office/drawing/2014/main" id="{9D266BCD-11D2-4A23-B9DB-14E17D70D26C}"/>
              </a:ext>
            </a:extLst>
          </p:cNvPr>
          <p:cNvPicPr>
            <a:picLocks noGrp="1" noChangeAspect="1"/>
          </p:cNvPicPr>
          <p:nvPr>
            <p:ph idx="1"/>
          </p:nvPr>
        </p:nvPicPr>
        <p:blipFill>
          <a:blip r:embed="rId2"/>
          <a:stretch>
            <a:fillRect/>
          </a:stretch>
        </p:blipFill>
        <p:spPr>
          <a:xfrm>
            <a:off x="6988326" y="2289969"/>
            <a:ext cx="4815053" cy="3084671"/>
          </a:xfrm>
        </p:spPr>
      </p:pic>
      <p:sp>
        <p:nvSpPr>
          <p:cNvPr id="4" name="Rectangle 3">
            <a:extLst>
              <a:ext uri="{FF2B5EF4-FFF2-40B4-BE49-F238E27FC236}">
                <a16:creationId xmlns:a16="http://schemas.microsoft.com/office/drawing/2014/main" id="{2D431940-7107-4519-9583-AD43606210C8}"/>
              </a:ext>
            </a:extLst>
          </p:cNvPr>
          <p:cNvSpPr/>
          <p:nvPr/>
        </p:nvSpPr>
        <p:spPr>
          <a:xfrm>
            <a:off x="640080" y="1980089"/>
            <a:ext cx="6405880" cy="61976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Mean, Median and Mode are identical in a symmetric distribution</a:t>
            </a:r>
          </a:p>
        </p:txBody>
      </p:sp>
      <p:sp>
        <p:nvSpPr>
          <p:cNvPr id="5" name="Rectangle 4">
            <a:extLst>
              <a:ext uri="{FF2B5EF4-FFF2-40B4-BE49-F238E27FC236}">
                <a16:creationId xmlns:a16="http://schemas.microsoft.com/office/drawing/2014/main" id="{7699C4E7-5AA5-4295-9CEE-0C51A4F299EE}"/>
              </a:ext>
            </a:extLst>
          </p:cNvPr>
          <p:cNvSpPr/>
          <p:nvPr/>
        </p:nvSpPr>
        <p:spPr>
          <a:xfrm>
            <a:off x="640080" y="3255724"/>
            <a:ext cx="4719320" cy="48768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When data is skewed, median is better</a:t>
            </a:r>
          </a:p>
        </p:txBody>
      </p:sp>
      <p:sp>
        <p:nvSpPr>
          <p:cNvPr id="6" name="Rectangle 5">
            <a:extLst>
              <a:ext uri="{FF2B5EF4-FFF2-40B4-BE49-F238E27FC236}">
                <a16:creationId xmlns:a16="http://schemas.microsoft.com/office/drawing/2014/main" id="{274E0801-912E-4A01-ABD5-58980C1E321C}"/>
              </a:ext>
            </a:extLst>
          </p:cNvPr>
          <p:cNvSpPr/>
          <p:nvPr/>
        </p:nvSpPr>
        <p:spPr>
          <a:xfrm>
            <a:off x="612140" y="4399279"/>
            <a:ext cx="6192520" cy="88392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Median is not affected by extreme values (as in mean) and it is no influenced by the frequency of occurrence of a single value (as in mode)</a:t>
            </a:r>
          </a:p>
        </p:txBody>
      </p:sp>
    </p:spTree>
    <p:extLst>
      <p:ext uri="{BB962C8B-B14F-4D97-AF65-F5344CB8AC3E}">
        <p14:creationId xmlns:p14="http://schemas.microsoft.com/office/powerpoint/2010/main" val="316076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 calcmode="lin" valueType="num">
                                      <p:cBhvr additive="base">
                                        <p:cTn id="26" dur="500" fill="hold"/>
                                        <p:tgtEl>
                                          <p:spTgt spid="6"/>
                                        </p:tgtEl>
                                        <p:attrNameLst>
                                          <p:attrName>ppt_x</p:attrName>
                                        </p:attrNameLst>
                                      </p:cBhvr>
                                      <p:tavLst>
                                        <p:tav tm="0">
                                          <p:val>
                                            <p:strVal val="#ppt_x"/>
                                          </p:val>
                                        </p:tav>
                                        <p:tav tm="100000">
                                          <p:val>
                                            <p:strVal val="#ppt_x"/>
                                          </p:val>
                                        </p:tav>
                                      </p:tavLst>
                                    </p:anim>
                                    <p:anim calcmode="lin" valueType="num">
                                      <p:cBhvr additive="base">
                                        <p:cTn id="2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5AB81-F39B-42A1-3B48-63C28CE79DE8}"/>
              </a:ext>
            </a:extLst>
          </p:cNvPr>
          <p:cNvSpPr>
            <a:spLocks noGrp="1"/>
          </p:cNvSpPr>
          <p:nvPr>
            <p:ph type="title"/>
          </p:nvPr>
        </p:nvSpPr>
        <p:spPr/>
        <p:txBody>
          <a:bodyPr/>
          <a:lstStyle/>
          <a:p>
            <a:r>
              <a:rPr lang="en-IN" dirty="0"/>
              <a:t>Another Example why median is insensitive to outliers</a:t>
            </a:r>
          </a:p>
        </p:txBody>
      </p:sp>
      <p:sp>
        <p:nvSpPr>
          <p:cNvPr id="3" name="Content Placeholder 2">
            <a:extLst>
              <a:ext uri="{FF2B5EF4-FFF2-40B4-BE49-F238E27FC236}">
                <a16:creationId xmlns:a16="http://schemas.microsoft.com/office/drawing/2014/main" id="{DFC74FC1-89AC-F91E-DFC7-BB13E6A43BA7}"/>
              </a:ext>
            </a:extLst>
          </p:cNvPr>
          <p:cNvSpPr>
            <a:spLocks noGrp="1"/>
          </p:cNvSpPr>
          <p:nvPr>
            <p:ph idx="1"/>
          </p:nvPr>
        </p:nvSpPr>
        <p:spPr/>
        <p:txBody>
          <a:bodyPr/>
          <a:lstStyle/>
          <a:p>
            <a:r>
              <a:rPr lang="en-IN" dirty="0"/>
              <a:t>Suppose five people earn:</a:t>
            </a:r>
          </a:p>
          <a:p>
            <a:r>
              <a:rPr lang="en-IN" dirty="0"/>
              <a:t>₹30k, ₹35k, ₹40k, ₹45k, ₹1 crore</a:t>
            </a:r>
          </a:p>
          <a:p>
            <a:r>
              <a:rPr lang="en-IN" dirty="0"/>
              <a:t>Mean salary ≈ ₹21.0 lakh — looks like everyone is rich.</a:t>
            </a:r>
          </a:p>
          <a:p>
            <a:r>
              <a:rPr lang="en-IN" dirty="0"/>
              <a:t>Median salary = ₹40k — shows a more realistic typical income.</a:t>
            </a:r>
          </a:p>
        </p:txBody>
      </p:sp>
    </p:spTree>
    <p:extLst>
      <p:ext uri="{BB962C8B-B14F-4D97-AF65-F5344CB8AC3E}">
        <p14:creationId xmlns:p14="http://schemas.microsoft.com/office/powerpoint/2010/main" val="2399432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0D3AD-BBD8-49B6-978F-03B06A5FCC23}"/>
              </a:ext>
            </a:extLst>
          </p:cNvPr>
          <p:cNvSpPr>
            <a:spLocks noGrp="1"/>
          </p:cNvSpPr>
          <p:nvPr>
            <p:ph type="ctrTitle"/>
          </p:nvPr>
        </p:nvSpPr>
        <p:spPr/>
        <p:txBody>
          <a:bodyPr/>
          <a:lstStyle/>
          <a:p>
            <a:r>
              <a:rPr lang="en-IN" dirty="0"/>
              <a:t>Dispersion</a:t>
            </a:r>
          </a:p>
        </p:txBody>
      </p:sp>
      <p:sp>
        <p:nvSpPr>
          <p:cNvPr id="3" name="Subtitle 2">
            <a:extLst>
              <a:ext uri="{FF2B5EF4-FFF2-40B4-BE49-F238E27FC236}">
                <a16:creationId xmlns:a16="http://schemas.microsoft.com/office/drawing/2014/main" id="{202B883C-E0CD-46D0-9123-370685840E1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4056402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54110-43B6-4D97-8445-16544E5C4BC4}"/>
              </a:ext>
            </a:extLst>
          </p:cNvPr>
          <p:cNvSpPr>
            <a:spLocks noGrp="1"/>
          </p:cNvSpPr>
          <p:nvPr>
            <p:ph type="title"/>
          </p:nvPr>
        </p:nvSpPr>
        <p:spPr/>
        <p:txBody>
          <a:bodyPr/>
          <a:lstStyle/>
          <a:p>
            <a:pPr algn="ctr"/>
            <a:r>
              <a:rPr lang="en-IN" dirty="0"/>
              <a:t>Why dispersion is important?</a:t>
            </a:r>
          </a:p>
        </p:txBody>
      </p:sp>
      <p:sp>
        <p:nvSpPr>
          <p:cNvPr id="3" name="Content Placeholder 2">
            <a:extLst>
              <a:ext uri="{FF2B5EF4-FFF2-40B4-BE49-F238E27FC236}">
                <a16:creationId xmlns:a16="http://schemas.microsoft.com/office/drawing/2014/main" id="{B05084E0-F075-49B8-B3F5-C6619E3808C2}"/>
              </a:ext>
            </a:extLst>
          </p:cNvPr>
          <p:cNvSpPr>
            <a:spLocks noGrp="1"/>
          </p:cNvSpPr>
          <p:nvPr>
            <p:ph idx="1"/>
          </p:nvPr>
        </p:nvSpPr>
        <p:spPr/>
        <p:txBody>
          <a:bodyPr/>
          <a:lstStyle/>
          <a:p>
            <a:r>
              <a:rPr lang="en-IN" dirty="0"/>
              <a:t>To increase our understanding of the data pattern, we must know its dispersion-its spread, or variability</a:t>
            </a:r>
          </a:p>
          <a:p>
            <a:r>
              <a:rPr lang="en-IN" dirty="0"/>
              <a:t>Mean is same for all the three curves, but</a:t>
            </a:r>
          </a:p>
          <a:p>
            <a:pPr marL="0" indent="0">
              <a:buNone/>
            </a:pPr>
            <a:r>
              <a:rPr lang="en-IN" dirty="0"/>
              <a:t>   variability of A is less than B than C</a:t>
            </a:r>
          </a:p>
          <a:p>
            <a:r>
              <a:rPr lang="en-IN" dirty="0"/>
              <a:t> Mean, median or mode gives partial info</a:t>
            </a:r>
          </a:p>
          <a:p>
            <a:r>
              <a:rPr lang="en-IN" dirty="0"/>
              <a:t>Central tendency is less representative in C</a:t>
            </a:r>
          </a:p>
          <a:p>
            <a:r>
              <a:rPr lang="en-IN" dirty="0"/>
              <a:t>Financial use: Stock prices that possess large variance are risky</a:t>
            </a:r>
          </a:p>
          <a:p>
            <a:r>
              <a:rPr lang="en-IN" dirty="0"/>
              <a:t>Quality control: A drug that is average in purity but ranges from very pure to highly impure may endanger lives</a:t>
            </a:r>
          </a:p>
        </p:txBody>
      </p:sp>
      <p:pic>
        <p:nvPicPr>
          <p:cNvPr id="5" name="Picture 4">
            <a:extLst>
              <a:ext uri="{FF2B5EF4-FFF2-40B4-BE49-F238E27FC236}">
                <a16:creationId xmlns:a16="http://schemas.microsoft.com/office/drawing/2014/main" id="{B921EF0A-B1E1-43C5-90FB-7055344AC832}"/>
              </a:ext>
            </a:extLst>
          </p:cNvPr>
          <p:cNvPicPr>
            <a:picLocks noChangeAspect="1"/>
          </p:cNvPicPr>
          <p:nvPr/>
        </p:nvPicPr>
        <p:blipFill>
          <a:blip r:embed="rId2"/>
          <a:stretch>
            <a:fillRect/>
          </a:stretch>
        </p:blipFill>
        <p:spPr>
          <a:xfrm>
            <a:off x="7641938" y="2444407"/>
            <a:ext cx="3588294" cy="1969186"/>
          </a:xfrm>
          <a:prstGeom prst="rect">
            <a:avLst/>
          </a:prstGeom>
        </p:spPr>
      </p:pic>
    </p:spTree>
    <p:extLst>
      <p:ext uri="{BB962C8B-B14F-4D97-AF65-F5344CB8AC3E}">
        <p14:creationId xmlns:p14="http://schemas.microsoft.com/office/powerpoint/2010/main" val="1746991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23732-1A41-4F02-825F-8C1CE8394DF0}"/>
              </a:ext>
            </a:extLst>
          </p:cNvPr>
          <p:cNvSpPr>
            <a:spLocks noGrp="1"/>
          </p:cNvSpPr>
          <p:nvPr>
            <p:ph type="title"/>
          </p:nvPr>
        </p:nvSpPr>
        <p:spPr/>
        <p:txBody>
          <a:bodyPr/>
          <a:lstStyle/>
          <a:p>
            <a:pPr algn="ctr"/>
            <a:r>
              <a:rPr lang="en-IN" dirty="0"/>
              <a:t>Measures of dispersion</a:t>
            </a:r>
          </a:p>
        </p:txBody>
      </p:sp>
      <p:sp>
        <p:nvSpPr>
          <p:cNvPr id="3" name="Content Placeholder 2">
            <a:extLst>
              <a:ext uri="{FF2B5EF4-FFF2-40B4-BE49-F238E27FC236}">
                <a16:creationId xmlns:a16="http://schemas.microsoft.com/office/drawing/2014/main" id="{711D5134-C34C-4531-8477-D4C0CE7C481D}"/>
              </a:ext>
            </a:extLst>
          </p:cNvPr>
          <p:cNvSpPr>
            <a:spLocks noGrp="1"/>
          </p:cNvSpPr>
          <p:nvPr>
            <p:ph idx="1"/>
          </p:nvPr>
        </p:nvSpPr>
        <p:spPr/>
        <p:txBody>
          <a:bodyPr/>
          <a:lstStyle/>
          <a:p>
            <a:r>
              <a:rPr lang="en-IN" dirty="0"/>
              <a:t>Range</a:t>
            </a:r>
          </a:p>
          <a:p>
            <a:pPr lvl="1"/>
            <a:r>
              <a:rPr lang="en-IN" dirty="0"/>
              <a:t>Maximum observation – minimum observation</a:t>
            </a:r>
          </a:p>
          <a:p>
            <a:pPr lvl="1"/>
            <a:r>
              <a:rPr lang="en-IN" dirty="0"/>
              <a:t>affected by extreme values</a:t>
            </a:r>
          </a:p>
          <a:p>
            <a:pPr lvl="1"/>
            <a:r>
              <a:rPr lang="en-IN" dirty="0"/>
              <a:t>doesn’t work in open-ended class</a:t>
            </a:r>
          </a:p>
          <a:p>
            <a:pPr lvl="1"/>
            <a:r>
              <a:rPr lang="en-IN" dirty="0"/>
              <a:t>doesn’t take into account all the observations</a:t>
            </a:r>
          </a:p>
          <a:p>
            <a:r>
              <a:rPr lang="en-IN" dirty="0"/>
              <a:t>Interquartile Range</a:t>
            </a:r>
          </a:p>
          <a:p>
            <a:r>
              <a:rPr lang="en-IN" dirty="0"/>
              <a:t>Percentile is dividing your range into</a:t>
            </a:r>
          </a:p>
          <a:p>
            <a:pPr marL="0" indent="0">
              <a:buNone/>
            </a:pPr>
            <a:r>
              <a:rPr lang="en-IN" dirty="0"/>
              <a:t>   100 parts</a:t>
            </a:r>
          </a:p>
          <a:p>
            <a:r>
              <a:rPr lang="en-IN" dirty="0"/>
              <a:t>I got 90 percentile in GATE?</a:t>
            </a:r>
          </a:p>
        </p:txBody>
      </p:sp>
      <p:pic>
        <p:nvPicPr>
          <p:cNvPr id="5" name="Picture 4">
            <a:extLst>
              <a:ext uri="{FF2B5EF4-FFF2-40B4-BE49-F238E27FC236}">
                <a16:creationId xmlns:a16="http://schemas.microsoft.com/office/drawing/2014/main" id="{17B6DCCA-16AD-436A-8709-C19E344BB711}"/>
              </a:ext>
            </a:extLst>
          </p:cNvPr>
          <p:cNvPicPr>
            <a:picLocks noChangeAspect="1"/>
          </p:cNvPicPr>
          <p:nvPr/>
        </p:nvPicPr>
        <p:blipFill>
          <a:blip r:embed="rId2"/>
          <a:stretch>
            <a:fillRect/>
          </a:stretch>
        </p:blipFill>
        <p:spPr>
          <a:xfrm>
            <a:off x="6417276" y="4001295"/>
            <a:ext cx="5453448" cy="2310606"/>
          </a:xfrm>
          <a:prstGeom prst="rect">
            <a:avLst/>
          </a:prstGeom>
        </p:spPr>
      </p:pic>
    </p:spTree>
    <p:extLst>
      <p:ext uri="{BB962C8B-B14F-4D97-AF65-F5344CB8AC3E}">
        <p14:creationId xmlns:p14="http://schemas.microsoft.com/office/powerpoint/2010/main" val="38293184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D3B2765-9CE1-43CA-BDD2-6D6C61C6A08E}"/>
              </a:ext>
            </a:extLst>
          </p:cNvPr>
          <p:cNvSpPr/>
          <p:nvPr/>
        </p:nvSpPr>
        <p:spPr>
          <a:xfrm>
            <a:off x="990981" y="1444682"/>
            <a:ext cx="9517144" cy="1878363"/>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92CCE6DE-751F-4C2E-A713-7745CE14C549}"/>
              </a:ext>
            </a:extLst>
          </p:cNvPr>
          <p:cNvSpPr>
            <a:spLocks noGrp="1"/>
          </p:cNvSpPr>
          <p:nvPr>
            <p:ph type="title"/>
          </p:nvPr>
        </p:nvSpPr>
        <p:spPr/>
        <p:txBody>
          <a:bodyPr/>
          <a:lstStyle/>
          <a:p>
            <a:pPr algn="ctr"/>
            <a:r>
              <a:rPr lang="en-IN" dirty="0"/>
              <a:t>Exercises</a:t>
            </a:r>
          </a:p>
        </p:txBody>
      </p:sp>
      <p:pic>
        <p:nvPicPr>
          <p:cNvPr id="5" name="Content Placeholder 4">
            <a:extLst>
              <a:ext uri="{FF2B5EF4-FFF2-40B4-BE49-F238E27FC236}">
                <a16:creationId xmlns:a16="http://schemas.microsoft.com/office/drawing/2014/main" id="{C4A18B2E-B33D-4D87-B88C-20065A09DBB5}"/>
              </a:ext>
            </a:extLst>
          </p:cNvPr>
          <p:cNvPicPr>
            <a:picLocks noGrp="1" noChangeAspect="1"/>
          </p:cNvPicPr>
          <p:nvPr>
            <p:ph idx="1"/>
          </p:nvPr>
        </p:nvPicPr>
        <p:blipFill>
          <a:blip r:embed="rId3"/>
          <a:stretch>
            <a:fillRect/>
          </a:stretch>
        </p:blipFill>
        <p:spPr>
          <a:xfrm>
            <a:off x="1174277" y="1743425"/>
            <a:ext cx="9276189" cy="1376092"/>
          </a:xfrm>
        </p:spPr>
      </p:pic>
      <p:sp>
        <p:nvSpPr>
          <p:cNvPr id="6" name="Rectangle 5">
            <a:extLst>
              <a:ext uri="{FF2B5EF4-FFF2-40B4-BE49-F238E27FC236}">
                <a16:creationId xmlns:a16="http://schemas.microsoft.com/office/drawing/2014/main" id="{14AB81E2-4BDA-4485-8594-39643960F440}"/>
              </a:ext>
            </a:extLst>
          </p:cNvPr>
          <p:cNvSpPr/>
          <p:nvPr/>
        </p:nvSpPr>
        <p:spPr>
          <a:xfrm>
            <a:off x="975154" y="3534956"/>
            <a:ext cx="9835331" cy="3088267"/>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dirty="0">
                <a:solidFill>
                  <a:srgbClr val="FF0000"/>
                </a:solidFill>
              </a:rPr>
              <a:t>Develop the Box Plot for the following data:</a:t>
            </a:r>
          </a:p>
          <a:p>
            <a:pPr algn="ctr"/>
            <a:endParaRPr lang="en-IN" dirty="0">
              <a:solidFill>
                <a:srgbClr val="FF0000"/>
              </a:solidFill>
            </a:endParaRPr>
          </a:p>
          <a:p>
            <a:pPr algn="ctr"/>
            <a:endParaRPr lang="en-IN" dirty="0">
              <a:solidFill>
                <a:srgbClr val="FF0000"/>
              </a:solidFill>
            </a:endParaRPr>
          </a:p>
        </p:txBody>
      </p:sp>
      <p:pic>
        <p:nvPicPr>
          <p:cNvPr id="10" name="Picture 9">
            <a:extLst>
              <a:ext uri="{FF2B5EF4-FFF2-40B4-BE49-F238E27FC236}">
                <a16:creationId xmlns:a16="http://schemas.microsoft.com/office/drawing/2014/main" id="{AEC02AEC-4218-44EC-B0B9-18D4D02808B1}"/>
              </a:ext>
            </a:extLst>
          </p:cNvPr>
          <p:cNvPicPr>
            <a:picLocks noChangeAspect="1"/>
          </p:cNvPicPr>
          <p:nvPr/>
        </p:nvPicPr>
        <p:blipFill>
          <a:blip r:embed="rId4"/>
          <a:stretch>
            <a:fillRect/>
          </a:stretch>
        </p:blipFill>
        <p:spPr>
          <a:xfrm>
            <a:off x="1174277" y="4211799"/>
            <a:ext cx="9493723" cy="1995985"/>
          </a:xfrm>
          <a:prstGeom prst="rect">
            <a:avLst/>
          </a:prstGeom>
        </p:spPr>
      </p:pic>
    </p:spTree>
    <p:extLst>
      <p:ext uri="{BB962C8B-B14F-4D97-AF65-F5344CB8AC3E}">
        <p14:creationId xmlns:p14="http://schemas.microsoft.com/office/powerpoint/2010/main" val="14735743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BFD57-D964-4FD0-BB65-DD0EC7F93CD3}"/>
              </a:ext>
            </a:extLst>
          </p:cNvPr>
          <p:cNvSpPr>
            <a:spLocks noGrp="1"/>
          </p:cNvSpPr>
          <p:nvPr>
            <p:ph type="title"/>
          </p:nvPr>
        </p:nvSpPr>
        <p:spPr/>
        <p:txBody>
          <a:bodyPr/>
          <a:lstStyle/>
          <a:p>
            <a:r>
              <a:rPr lang="en-IN" dirty="0"/>
              <a:t>Average distance of individual observations from the mean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5DE50F-C7B0-4C2E-B5C6-572E02E9B03A}"/>
                  </a:ext>
                </a:extLst>
              </p:cNvPr>
              <p:cNvSpPr>
                <a:spLocks noGrp="1"/>
              </p:cNvSpPr>
              <p:nvPr>
                <p:ph idx="1"/>
              </p:nvPr>
            </p:nvSpPr>
            <p:spPr/>
            <p:txBody>
              <a:bodyPr/>
              <a:lstStyle/>
              <a:p>
                <a:r>
                  <a:rPr lang="en-IN" dirty="0"/>
                  <a:t>Range was the measure of dispersion from two extreme observations.</a:t>
                </a:r>
              </a:p>
              <a:p>
                <a:r>
                  <a:rPr lang="en-IN" dirty="0"/>
                  <a:t>Variance and Standard Deviation provides average individual distance from the mean.</a:t>
                </a:r>
              </a:p>
              <a:p>
                <a:r>
                  <a:rPr lang="en-IN" dirty="0"/>
                  <a:t>STDEV (    )=</a:t>
                </a:r>
                <a14:m>
                  <m:oMath xmlns:m="http://schemas.openxmlformats.org/officeDocument/2006/math">
                    <m:rad>
                      <m:radPr>
                        <m:degHide m:val="on"/>
                        <m:ctrlPr>
                          <a:rPr lang="en-IN" i="1" smtClean="0">
                            <a:latin typeface="Cambria Math" panose="02040503050406030204" pitchFamily="18" charset="0"/>
                          </a:rPr>
                        </m:ctrlPr>
                      </m:radPr>
                      <m:deg/>
                      <m:e>
                        <m:r>
                          <a:rPr lang="en-IN" b="0" i="1" smtClean="0">
                            <a:latin typeface="Cambria Math" panose="02040503050406030204" pitchFamily="18" charset="0"/>
                          </a:rPr>
                          <m:t>𝑉𝑎𝑟</m:t>
                        </m:r>
                      </m:e>
                    </m:rad>
                  </m:oMath>
                </a14:m>
                <a:r>
                  <a:rPr lang="en-IN" dirty="0"/>
                  <a:t> </a:t>
                </a:r>
              </a:p>
              <a:p>
                <a:r>
                  <a:rPr lang="en-IN" dirty="0"/>
                  <a:t>Population Standard Deviation </a:t>
                </a:r>
              </a:p>
            </p:txBody>
          </p:sp>
        </mc:Choice>
        <mc:Fallback xmlns="">
          <p:sp>
            <p:nvSpPr>
              <p:cNvPr id="3" name="Content Placeholder 2">
                <a:extLst>
                  <a:ext uri="{FF2B5EF4-FFF2-40B4-BE49-F238E27FC236}">
                    <a16:creationId xmlns:a16="http://schemas.microsoft.com/office/drawing/2014/main" id="{045DE50F-C7B0-4C2E-B5C6-572E02E9B03A}"/>
                  </a:ext>
                </a:extLst>
              </p:cNvPr>
              <p:cNvSpPr>
                <a:spLocks noGrp="1" noRot="1" noChangeAspect="1" noMove="1" noResize="1" noEditPoints="1" noAdjustHandles="1" noChangeArrowheads="1" noChangeShapeType="1" noTextEdit="1"/>
              </p:cNvSpPr>
              <p:nvPr>
                <p:ph idx="1"/>
              </p:nvPr>
            </p:nvSpPr>
            <p:spPr>
              <a:blipFill>
                <a:blip r:embed="rId2"/>
                <a:stretch>
                  <a:fillRect l="-1043" t="-2241" r="-986"/>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42D6B51E-4116-4050-AD78-EAEF524D0006}"/>
              </a:ext>
            </a:extLst>
          </p:cNvPr>
          <p:cNvPicPr>
            <a:picLocks noChangeAspect="1"/>
          </p:cNvPicPr>
          <p:nvPr/>
        </p:nvPicPr>
        <p:blipFill>
          <a:blip r:embed="rId3"/>
          <a:stretch>
            <a:fillRect/>
          </a:stretch>
        </p:blipFill>
        <p:spPr>
          <a:xfrm>
            <a:off x="6023790" y="3491706"/>
            <a:ext cx="3324225" cy="1019175"/>
          </a:xfrm>
          <a:prstGeom prst="rect">
            <a:avLst/>
          </a:prstGeom>
        </p:spPr>
      </p:pic>
      <p:pic>
        <p:nvPicPr>
          <p:cNvPr id="7" name="Picture 6">
            <a:extLst>
              <a:ext uri="{FF2B5EF4-FFF2-40B4-BE49-F238E27FC236}">
                <a16:creationId xmlns:a16="http://schemas.microsoft.com/office/drawing/2014/main" id="{971EC560-BD1F-48BD-BC02-396259484EEB}"/>
              </a:ext>
            </a:extLst>
          </p:cNvPr>
          <p:cNvPicPr>
            <a:picLocks noChangeAspect="1"/>
          </p:cNvPicPr>
          <p:nvPr/>
        </p:nvPicPr>
        <p:blipFill>
          <a:blip r:embed="rId4"/>
          <a:stretch>
            <a:fillRect/>
          </a:stretch>
        </p:blipFill>
        <p:spPr>
          <a:xfrm>
            <a:off x="1170802" y="4279685"/>
            <a:ext cx="6515100" cy="1247775"/>
          </a:xfrm>
          <a:prstGeom prst="rect">
            <a:avLst/>
          </a:prstGeom>
        </p:spPr>
      </p:pic>
      <p:pic>
        <p:nvPicPr>
          <p:cNvPr id="9" name="Picture 8">
            <a:extLst>
              <a:ext uri="{FF2B5EF4-FFF2-40B4-BE49-F238E27FC236}">
                <a16:creationId xmlns:a16="http://schemas.microsoft.com/office/drawing/2014/main" id="{BC9A852A-0449-45FF-845B-CDB28708B20C}"/>
              </a:ext>
            </a:extLst>
          </p:cNvPr>
          <p:cNvPicPr>
            <a:picLocks noChangeAspect="1"/>
          </p:cNvPicPr>
          <p:nvPr/>
        </p:nvPicPr>
        <p:blipFill>
          <a:blip r:embed="rId5"/>
          <a:stretch>
            <a:fillRect/>
          </a:stretch>
        </p:blipFill>
        <p:spPr>
          <a:xfrm>
            <a:off x="2298099" y="3329781"/>
            <a:ext cx="247650" cy="323850"/>
          </a:xfrm>
          <a:prstGeom prst="rect">
            <a:avLst/>
          </a:prstGeom>
        </p:spPr>
      </p:pic>
    </p:spTree>
    <p:extLst>
      <p:ext uri="{BB962C8B-B14F-4D97-AF65-F5344CB8AC3E}">
        <p14:creationId xmlns:p14="http://schemas.microsoft.com/office/powerpoint/2010/main" val="1183144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A91B88-52B7-44AF-823F-808A44FAA7F0}"/>
              </a:ext>
            </a:extLst>
          </p:cNvPr>
          <p:cNvSpPr>
            <a:spLocks noGrp="1"/>
          </p:cNvSpPr>
          <p:nvPr>
            <p:ph type="title"/>
          </p:nvPr>
        </p:nvSpPr>
        <p:spPr/>
        <p:txBody>
          <a:bodyPr/>
          <a:lstStyle/>
          <a:p>
            <a:pPr algn="ctr"/>
            <a:r>
              <a:rPr lang="en-IN" dirty="0"/>
              <a:t>Exercise</a:t>
            </a:r>
          </a:p>
        </p:txBody>
      </p:sp>
      <p:sp>
        <p:nvSpPr>
          <p:cNvPr id="3" name="Content Placeholder 2">
            <a:extLst>
              <a:ext uri="{FF2B5EF4-FFF2-40B4-BE49-F238E27FC236}">
                <a16:creationId xmlns:a16="http://schemas.microsoft.com/office/drawing/2014/main" id="{86DB6A5F-8DFF-4B78-88EF-1E2802B0AF16}"/>
              </a:ext>
            </a:extLst>
          </p:cNvPr>
          <p:cNvSpPr>
            <a:spLocks noGrp="1"/>
          </p:cNvSpPr>
          <p:nvPr>
            <p:ph idx="1"/>
          </p:nvPr>
        </p:nvSpPr>
        <p:spPr/>
        <p:txBody>
          <a:bodyPr/>
          <a:lstStyle/>
          <a:p>
            <a:r>
              <a:rPr lang="en-IN" dirty="0"/>
              <a:t>Find the standard deviation for the following data: 6, 2, 3, 1</a:t>
            </a:r>
          </a:p>
        </p:txBody>
      </p:sp>
      <p:pic>
        <p:nvPicPr>
          <p:cNvPr id="5" name="Picture 4">
            <a:extLst>
              <a:ext uri="{FF2B5EF4-FFF2-40B4-BE49-F238E27FC236}">
                <a16:creationId xmlns:a16="http://schemas.microsoft.com/office/drawing/2014/main" id="{A27BFAF3-7B61-4655-9A8D-9166CE889076}"/>
              </a:ext>
            </a:extLst>
          </p:cNvPr>
          <p:cNvPicPr>
            <a:picLocks noChangeAspect="1"/>
          </p:cNvPicPr>
          <p:nvPr/>
        </p:nvPicPr>
        <p:blipFill>
          <a:blip r:embed="rId2"/>
          <a:stretch>
            <a:fillRect/>
          </a:stretch>
        </p:blipFill>
        <p:spPr>
          <a:xfrm>
            <a:off x="1067443" y="2546650"/>
            <a:ext cx="3038475" cy="2390775"/>
          </a:xfrm>
          <a:prstGeom prst="rect">
            <a:avLst/>
          </a:prstGeom>
        </p:spPr>
      </p:pic>
      <p:pic>
        <p:nvPicPr>
          <p:cNvPr id="7" name="Picture 6">
            <a:extLst>
              <a:ext uri="{FF2B5EF4-FFF2-40B4-BE49-F238E27FC236}">
                <a16:creationId xmlns:a16="http://schemas.microsoft.com/office/drawing/2014/main" id="{3F5DF6FB-D0A3-47E5-9D55-63FE3D71627A}"/>
              </a:ext>
            </a:extLst>
          </p:cNvPr>
          <p:cNvPicPr>
            <a:picLocks noChangeAspect="1"/>
          </p:cNvPicPr>
          <p:nvPr/>
        </p:nvPicPr>
        <p:blipFill>
          <a:blip r:embed="rId3"/>
          <a:stretch>
            <a:fillRect/>
          </a:stretch>
        </p:blipFill>
        <p:spPr>
          <a:xfrm>
            <a:off x="1211348" y="5039369"/>
            <a:ext cx="1152525" cy="1171575"/>
          </a:xfrm>
          <a:prstGeom prst="rect">
            <a:avLst/>
          </a:prstGeom>
        </p:spPr>
      </p:pic>
      <p:pic>
        <p:nvPicPr>
          <p:cNvPr id="9" name="Picture 8">
            <a:extLst>
              <a:ext uri="{FF2B5EF4-FFF2-40B4-BE49-F238E27FC236}">
                <a16:creationId xmlns:a16="http://schemas.microsoft.com/office/drawing/2014/main" id="{8449FC38-9F7D-4576-9E04-FA1609D98342}"/>
              </a:ext>
            </a:extLst>
          </p:cNvPr>
          <p:cNvPicPr>
            <a:picLocks noChangeAspect="1"/>
          </p:cNvPicPr>
          <p:nvPr/>
        </p:nvPicPr>
        <p:blipFill>
          <a:blip r:embed="rId4"/>
          <a:stretch>
            <a:fillRect/>
          </a:stretch>
        </p:blipFill>
        <p:spPr>
          <a:xfrm>
            <a:off x="2737021" y="5493866"/>
            <a:ext cx="847725" cy="466725"/>
          </a:xfrm>
          <a:prstGeom prst="rect">
            <a:avLst/>
          </a:prstGeom>
        </p:spPr>
      </p:pic>
    </p:spTree>
    <p:extLst>
      <p:ext uri="{BB962C8B-B14F-4D97-AF65-F5344CB8AC3E}">
        <p14:creationId xmlns:p14="http://schemas.microsoft.com/office/powerpoint/2010/main" val="3553000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C18F3-9F45-4EE8-85C4-1031B6FF3F8C}"/>
              </a:ext>
            </a:extLst>
          </p:cNvPr>
          <p:cNvSpPr>
            <a:spLocks noGrp="1"/>
          </p:cNvSpPr>
          <p:nvPr>
            <p:ph type="title"/>
          </p:nvPr>
        </p:nvSpPr>
        <p:spPr>
          <a:xfrm>
            <a:off x="838200" y="359097"/>
            <a:ext cx="10515600" cy="1325563"/>
          </a:xfrm>
        </p:spPr>
        <p:txBody>
          <a:bodyPr/>
          <a:lstStyle/>
          <a:p>
            <a:pPr algn="ctr"/>
            <a:r>
              <a:rPr lang="en-IN" dirty="0"/>
              <a:t>Sample standard deviation</a:t>
            </a:r>
          </a:p>
        </p:txBody>
      </p:sp>
      <p:pic>
        <p:nvPicPr>
          <p:cNvPr id="5" name="Content Placeholder 4">
            <a:extLst>
              <a:ext uri="{FF2B5EF4-FFF2-40B4-BE49-F238E27FC236}">
                <a16:creationId xmlns:a16="http://schemas.microsoft.com/office/drawing/2014/main" id="{F419B357-251C-4B00-820B-37A847B76A06}"/>
              </a:ext>
            </a:extLst>
          </p:cNvPr>
          <p:cNvPicPr>
            <a:picLocks noGrp="1" noChangeAspect="1"/>
          </p:cNvPicPr>
          <p:nvPr>
            <p:ph idx="1"/>
          </p:nvPr>
        </p:nvPicPr>
        <p:blipFill>
          <a:blip r:embed="rId2"/>
          <a:stretch>
            <a:fillRect/>
          </a:stretch>
        </p:blipFill>
        <p:spPr>
          <a:xfrm>
            <a:off x="3227945" y="1882368"/>
            <a:ext cx="3067050" cy="1123950"/>
          </a:xfrm>
        </p:spPr>
      </p:pic>
      <p:cxnSp>
        <p:nvCxnSpPr>
          <p:cNvPr id="7" name="Straight Arrow Connector 6">
            <a:extLst>
              <a:ext uri="{FF2B5EF4-FFF2-40B4-BE49-F238E27FC236}">
                <a16:creationId xmlns:a16="http://schemas.microsoft.com/office/drawing/2014/main" id="{3AA9DEA5-CA4F-4AE6-BF2F-40000A953B2E}"/>
              </a:ext>
            </a:extLst>
          </p:cNvPr>
          <p:cNvCxnSpPr/>
          <p:nvPr/>
        </p:nvCxnSpPr>
        <p:spPr>
          <a:xfrm>
            <a:off x="2669059" y="3657600"/>
            <a:ext cx="70845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3F6825F-F12F-435F-8A2C-FDED40DB10D9}"/>
              </a:ext>
            </a:extLst>
          </p:cNvPr>
          <p:cNvSpPr txBox="1"/>
          <p:nvPr/>
        </p:nvSpPr>
        <p:spPr>
          <a:xfrm>
            <a:off x="2174789" y="3196281"/>
            <a:ext cx="395417" cy="769441"/>
          </a:xfrm>
          <a:prstGeom prst="rect">
            <a:avLst/>
          </a:prstGeom>
          <a:noFill/>
        </p:spPr>
        <p:txBody>
          <a:bodyPr wrap="square">
            <a:spAutoFit/>
          </a:bodyPr>
          <a:lstStyle/>
          <a:p>
            <a:r>
              <a:rPr kumimoji="0" lang="en-IN" sz="4400" b="0" i="0" u="none" strike="noStrike" kern="1200" cap="none" spc="0" normalizeH="0" baseline="0" noProof="0" dirty="0">
                <a:ln>
                  <a:noFill/>
                </a:ln>
                <a:solidFill>
                  <a:prstClr val="black"/>
                </a:solidFill>
                <a:effectLst/>
                <a:uLnTx/>
                <a:uFillTx/>
                <a:latin typeface="Calibri Light" panose="020F0302020204030204"/>
                <a:ea typeface="+mj-ea"/>
                <a:cs typeface="+mj-cs"/>
              </a:rPr>
              <a:t>µ</a:t>
            </a:r>
            <a:endParaRPr lang="en-IN"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217EAEC4-B6E9-446D-8E42-28F840C09892}"/>
                  </a:ext>
                </a:extLst>
              </p:cNvPr>
              <p:cNvSpPr txBox="1"/>
              <p:nvPr/>
            </p:nvSpPr>
            <p:spPr>
              <a:xfrm>
                <a:off x="3443417" y="3204026"/>
                <a:ext cx="518984" cy="76944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kumimoji="0" lang="en-IN" sz="4400" b="0" i="1" u="none" strike="noStrike" kern="1200" cap="none" spc="0" normalizeH="0" baseline="0" noProof="0" smtClean="0">
                              <a:ln>
                                <a:noFill/>
                              </a:ln>
                              <a:solidFill>
                                <a:prstClr val="black"/>
                              </a:solidFill>
                              <a:effectLst/>
                              <a:uLnTx/>
                              <a:uFillTx/>
                              <a:latin typeface="Cambria Math" panose="02040503050406030204" pitchFamily="18" charset="0"/>
                              <a:ea typeface="+mj-ea"/>
                              <a:cs typeface="+mj-cs"/>
                            </a:rPr>
                          </m:ctrlPr>
                        </m:accPr>
                        <m:e>
                          <m:r>
                            <a:rPr kumimoji="0" lang="en-IN" sz="4400" b="0" i="1" u="none" strike="noStrike" kern="1200" cap="none" spc="0" normalizeH="0" baseline="0" noProof="0" smtClean="0">
                              <a:ln>
                                <a:noFill/>
                              </a:ln>
                              <a:solidFill>
                                <a:prstClr val="black"/>
                              </a:solidFill>
                              <a:effectLst/>
                              <a:uLnTx/>
                              <a:uFillTx/>
                              <a:latin typeface="Cambria Math" panose="02040503050406030204" pitchFamily="18" charset="0"/>
                              <a:ea typeface="+mj-ea"/>
                              <a:cs typeface="+mj-cs"/>
                            </a:rPr>
                            <m:t>𝑥</m:t>
                          </m:r>
                        </m:e>
                      </m:acc>
                    </m:oMath>
                  </m:oMathPara>
                </a14:m>
                <a:endParaRPr lang="en-IN" dirty="0"/>
              </a:p>
            </p:txBody>
          </p:sp>
        </mc:Choice>
        <mc:Fallback xmlns="">
          <p:sp>
            <p:nvSpPr>
              <p:cNvPr id="11" name="TextBox 10">
                <a:extLst>
                  <a:ext uri="{FF2B5EF4-FFF2-40B4-BE49-F238E27FC236}">
                    <a16:creationId xmlns:a16="http://schemas.microsoft.com/office/drawing/2014/main" id="{217EAEC4-B6E9-446D-8E42-28F840C09892}"/>
                  </a:ext>
                </a:extLst>
              </p:cNvPr>
              <p:cNvSpPr txBox="1">
                <a:spLocks noRot="1" noChangeAspect="1" noMove="1" noResize="1" noEditPoints="1" noAdjustHandles="1" noChangeArrowheads="1" noChangeShapeType="1" noTextEdit="1"/>
              </p:cNvSpPr>
              <p:nvPr/>
            </p:nvSpPr>
            <p:spPr>
              <a:xfrm>
                <a:off x="3443417" y="3204026"/>
                <a:ext cx="518984" cy="769441"/>
              </a:xfrm>
              <a:prstGeom prst="rect">
                <a:avLst/>
              </a:prstGeom>
              <a:blipFill>
                <a:blip r:embed="rId3"/>
                <a:stretch>
                  <a:fillRect/>
                </a:stretch>
              </a:blipFill>
            </p:spPr>
            <p:txBody>
              <a:bodyPr/>
              <a:lstStyle/>
              <a:p>
                <a:r>
                  <a:rPr lang="en-IN">
                    <a:noFill/>
                  </a:rPr>
                  <a:t> </a:t>
                </a:r>
              </a:p>
            </p:txBody>
          </p:sp>
        </mc:Fallback>
      </mc:AlternateContent>
      <p:sp>
        <p:nvSpPr>
          <p:cNvPr id="13" name="TextBox 12">
            <a:extLst>
              <a:ext uri="{FF2B5EF4-FFF2-40B4-BE49-F238E27FC236}">
                <a16:creationId xmlns:a16="http://schemas.microsoft.com/office/drawing/2014/main" id="{EC337148-83CC-4A55-BFB4-1E1D07D79718}"/>
              </a:ext>
            </a:extLst>
          </p:cNvPr>
          <p:cNvSpPr txBox="1"/>
          <p:nvPr/>
        </p:nvSpPr>
        <p:spPr>
          <a:xfrm>
            <a:off x="2133599" y="4071949"/>
            <a:ext cx="535460" cy="769441"/>
          </a:xfrm>
          <a:prstGeom prst="rect">
            <a:avLst/>
          </a:prstGeom>
          <a:noFill/>
        </p:spPr>
        <p:txBody>
          <a:bodyPr wrap="square">
            <a:spAutoFit/>
          </a:bodyPr>
          <a:lstStyle/>
          <a:p>
            <a:r>
              <a:rPr kumimoji="0" lang="en-IN" sz="4400" b="0" i="0" u="none" strike="noStrike" kern="1200" cap="none" spc="0" normalizeH="0" baseline="0" noProof="0" dirty="0">
                <a:ln>
                  <a:noFill/>
                </a:ln>
                <a:solidFill>
                  <a:prstClr val="black"/>
                </a:solidFill>
                <a:effectLst/>
                <a:uLnTx/>
                <a:uFillTx/>
                <a:latin typeface="Calibri Light" panose="020F0302020204030204"/>
                <a:ea typeface="+mj-ea"/>
                <a:cs typeface="+mj-cs"/>
              </a:rPr>
              <a:t>N</a:t>
            </a:r>
            <a:endParaRPr lang="en-IN" dirty="0"/>
          </a:p>
        </p:txBody>
      </p:sp>
      <p:cxnSp>
        <p:nvCxnSpPr>
          <p:cNvPr id="15" name="Straight Arrow Connector 14">
            <a:extLst>
              <a:ext uri="{FF2B5EF4-FFF2-40B4-BE49-F238E27FC236}">
                <a16:creationId xmlns:a16="http://schemas.microsoft.com/office/drawing/2014/main" id="{B4372520-8ACF-4E60-9FFD-A1484AB9E7D2}"/>
              </a:ext>
            </a:extLst>
          </p:cNvPr>
          <p:cNvCxnSpPr>
            <a:cxnSpLocks/>
          </p:cNvCxnSpPr>
          <p:nvPr/>
        </p:nvCxnSpPr>
        <p:spPr>
          <a:xfrm>
            <a:off x="2669059" y="4456669"/>
            <a:ext cx="7743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741B918C-87B0-455A-8212-1C63ED7C6651}"/>
              </a:ext>
            </a:extLst>
          </p:cNvPr>
          <p:cNvSpPr txBox="1"/>
          <p:nvPr/>
        </p:nvSpPr>
        <p:spPr>
          <a:xfrm>
            <a:off x="3517558" y="3973467"/>
            <a:ext cx="1021492" cy="769441"/>
          </a:xfrm>
          <a:prstGeom prst="rect">
            <a:avLst/>
          </a:prstGeom>
          <a:noFill/>
        </p:spPr>
        <p:txBody>
          <a:bodyPr wrap="square">
            <a:spAutoFit/>
          </a:bodyPr>
          <a:lstStyle/>
          <a:p>
            <a:r>
              <a:rPr kumimoji="0" lang="en-IN" sz="4400" b="0" i="0" u="none" strike="noStrike" kern="1200" cap="none" spc="0" normalizeH="0" baseline="0" noProof="0" dirty="0">
                <a:ln>
                  <a:noFill/>
                </a:ln>
                <a:solidFill>
                  <a:prstClr val="black"/>
                </a:solidFill>
                <a:effectLst/>
                <a:uLnTx/>
                <a:uFillTx/>
                <a:latin typeface="Calibri Light" panose="020F0302020204030204"/>
                <a:ea typeface="+mj-ea"/>
                <a:cs typeface="+mj-cs"/>
              </a:rPr>
              <a:t>n-1</a:t>
            </a:r>
            <a:endParaRPr lang="en-IN" dirty="0"/>
          </a:p>
        </p:txBody>
      </p:sp>
    </p:spTree>
    <p:extLst>
      <p:ext uri="{BB962C8B-B14F-4D97-AF65-F5344CB8AC3E}">
        <p14:creationId xmlns:p14="http://schemas.microsoft.com/office/powerpoint/2010/main" val="2272342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17A864-6F29-4C76-91E9-A057FC9C7F45}"/>
              </a:ext>
            </a:extLst>
          </p:cNvPr>
          <p:cNvSpPr>
            <a:spLocks noGrp="1"/>
          </p:cNvSpPr>
          <p:nvPr>
            <p:ph type="title"/>
          </p:nvPr>
        </p:nvSpPr>
        <p:spPr/>
        <p:txBody>
          <a:bodyPr/>
          <a:lstStyle/>
          <a:p>
            <a:pPr algn="ctr"/>
            <a:r>
              <a:rPr lang="en-IN" dirty="0"/>
              <a:t>Standard Score</a:t>
            </a:r>
          </a:p>
        </p:txBody>
      </p:sp>
      <p:sp>
        <p:nvSpPr>
          <p:cNvPr id="3" name="Content Placeholder 2">
            <a:extLst>
              <a:ext uri="{FF2B5EF4-FFF2-40B4-BE49-F238E27FC236}">
                <a16:creationId xmlns:a16="http://schemas.microsoft.com/office/drawing/2014/main" id="{A0F7B34A-EBED-4C01-AA4D-AB068A75ACC8}"/>
              </a:ext>
            </a:extLst>
          </p:cNvPr>
          <p:cNvSpPr>
            <a:spLocks noGrp="1"/>
          </p:cNvSpPr>
          <p:nvPr>
            <p:ph idx="1"/>
          </p:nvPr>
        </p:nvSpPr>
        <p:spPr/>
        <p:txBody>
          <a:bodyPr/>
          <a:lstStyle/>
          <a:p>
            <a:r>
              <a:rPr lang="en-IN" dirty="0"/>
              <a:t>Standard score (z-score) gives us the number of standard deviations an observation lies above or below the mean</a:t>
            </a:r>
          </a:p>
          <a:p>
            <a:endParaRPr lang="en-IN" dirty="0"/>
          </a:p>
        </p:txBody>
      </p:sp>
      <p:pic>
        <p:nvPicPr>
          <p:cNvPr id="5" name="Picture 4">
            <a:extLst>
              <a:ext uri="{FF2B5EF4-FFF2-40B4-BE49-F238E27FC236}">
                <a16:creationId xmlns:a16="http://schemas.microsoft.com/office/drawing/2014/main" id="{25250B1D-9CAB-4E0E-9940-26BA7A90A1B9}"/>
              </a:ext>
            </a:extLst>
          </p:cNvPr>
          <p:cNvPicPr>
            <a:picLocks noChangeAspect="1"/>
          </p:cNvPicPr>
          <p:nvPr/>
        </p:nvPicPr>
        <p:blipFill>
          <a:blip r:embed="rId3"/>
          <a:stretch>
            <a:fillRect/>
          </a:stretch>
        </p:blipFill>
        <p:spPr>
          <a:xfrm>
            <a:off x="2320109" y="2720288"/>
            <a:ext cx="4371975" cy="857250"/>
          </a:xfrm>
          <a:prstGeom prst="rect">
            <a:avLst/>
          </a:prstGeom>
        </p:spPr>
      </p:pic>
      <p:pic>
        <p:nvPicPr>
          <p:cNvPr id="7" name="Picture 6">
            <a:extLst>
              <a:ext uri="{FF2B5EF4-FFF2-40B4-BE49-F238E27FC236}">
                <a16:creationId xmlns:a16="http://schemas.microsoft.com/office/drawing/2014/main" id="{7448DB9A-92AC-4D6C-87C1-20DE22FF3766}"/>
              </a:ext>
            </a:extLst>
          </p:cNvPr>
          <p:cNvPicPr>
            <a:picLocks noChangeAspect="1"/>
          </p:cNvPicPr>
          <p:nvPr/>
        </p:nvPicPr>
        <p:blipFill>
          <a:blip r:embed="rId4"/>
          <a:stretch>
            <a:fillRect/>
          </a:stretch>
        </p:blipFill>
        <p:spPr>
          <a:xfrm>
            <a:off x="2391676" y="3867600"/>
            <a:ext cx="3800475" cy="1009650"/>
          </a:xfrm>
          <a:prstGeom prst="rect">
            <a:avLst/>
          </a:prstGeom>
        </p:spPr>
      </p:pic>
      <p:sp>
        <p:nvSpPr>
          <p:cNvPr id="8" name="Rectangle 7">
            <a:extLst>
              <a:ext uri="{FF2B5EF4-FFF2-40B4-BE49-F238E27FC236}">
                <a16:creationId xmlns:a16="http://schemas.microsoft.com/office/drawing/2014/main" id="{7ABF2E1D-FA8C-4684-BDE9-DA67EF1C9443}"/>
              </a:ext>
            </a:extLst>
          </p:cNvPr>
          <p:cNvSpPr/>
          <p:nvPr/>
        </p:nvSpPr>
        <p:spPr>
          <a:xfrm>
            <a:off x="1183546" y="4879438"/>
            <a:ext cx="5596195" cy="779957"/>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Consider the data: 6, 2, 3, 1</a:t>
            </a:r>
          </a:p>
          <a:p>
            <a:pPr algn="ctr"/>
            <a:r>
              <a:rPr lang="en-IN" dirty="0">
                <a:solidFill>
                  <a:srgbClr val="FF0000"/>
                </a:solidFill>
              </a:rPr>
              <a:t>How many standard deviation is 6 apart from the mean?</a:t>
            </a:r>
          </a:p>
        </p:txBody>
      </p:sp>
    </p:spTree>
    <p:extLst>
      <p:ext uri="{BB962C8B-B14F-4D97-AF65-F5344CB8AC3E}">
        <p14:creationId xmlns:p14="http://schemas.microsoft.com/office/powerpoint/2010/main" val="287537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28E2A-AF35-46CA-84A3-3E7B3C4A9776}"/>
              </a:ext>
            </a:extLst>
          </p:cNvPr>
          <p:cNvSpPr>
            <a:spLocks noGrp="1"/>
          </p:cNvSpPr>
          <p:nvPr>
            <p:ph type="title"/>
          </p:nvPr>
        </p:nvSpPr>
        <p:spPr/>
        <p:txBody>
          <a:bodyPr/>
          <a:lstStyle/>
          <a:p>
            <a:pPr algn="ctr"/>
            <a:r>
              <a:rPr lang="en-IN" dirty="0"/>
              <a:t>Chebyshev’s Theorem</a:t>
            </a:r>
          </a:p>
        </p:txBody>
      </p:sp>
      <p:sp>
        <p:nvSpPr>
          <p:cNvPr id="3" name="Content Placeholder 2">
            <a:extLst>
              <a:ext uri="{FF2B5EF4-FFF2-40B4-BE49-F238E27FC236}">
                <a16:creationId xmlns:a16="http://schemas.microsoft.com/office/drawing/2014/main" id="{D9CB51E7-5653-4B88-B8A4-A2C87EBB9CED}"/>
              </a:ext>
            </a:extLst>
          </p:cNvPr>
          <p:cNvSpPr>
            <a:spLocks noGrp="1"/>
          </p:cNvSpPr>
          <p:nvPr>
            <p:ph idx="1"/>
          </p:nvPr>
        </p:nvSpPr>
        <p:spPr/>
        <p:txBody>
          <a:bodyPr/>
          <a:lstStyle/>
          <a:p>
            <a:pPr algn="just"/>
            <a:r>
              <a:rPr lang="en-IN" dirty="0"/>
              <a:t>No matter what the shape of the distribution is: at least 75 percent values lie within ± 2 Standard Deviations from the mean, and at least 89 percent values lie within ± 3 Standard Deviations from the mean.</a:t>
            </a:r>
          </a:p>
          <a:p>
            <a:pPr algn="just"/>
            <a:r>
              <a:rPr lang="en-IN" dirty="0"/>
              <a:t>In case of symmetrical bell-shaped curve:</a:t>
            </a:r>
          </a:p>
        </p:txBody>
      </p:sp>
      <p:pic>
        <p:nvPicPr>
          <p:cNvPr id="5" name="Picture 4">
            <a:extLst>
              <a:ext uri="{FF2B5EF4-FFF2-40B4-BE49-F238E27FC236}">
                <a16:creationId xmlns:a16="http://schemas.microsoft.com/office/drawing/2014/main" id="{105BCEC1-572A-4368-AC90-BF3C6D748CCE}"/>
              </a:ext>
            </a:extLst>
          </p:cNvPr>
          <p:cNvPicPr>
            <a:picLocks noChangeAspect="1"/>
          </p:cNvPicPr>
          <p:nvPr/>
        </p:nvPicPr>
        <p:blipFill>
          <a:blip r:embed="rId2"/>
          <a:stretch>
            <a:fillRect/>
          </a:stretch>
        </p:blipFill>
        <p:spPr>
          <a:xfrm>
            <a:off x="2150076" y="3494003"/>
            <a:ext cx="6531704" cy="3363997"/>
          </a:xfrm>
          <a:prstGeom prst="rect">
            <a:avLst/>
          </a:prstGeom>
        </p:spPr>
      </p:pic>
    </p:spTree>
    <p:extLst>
      <p:ext uri="{BB962C8B-B14F-4D97-AF65-F5344CB8AC3E}">
        <p14:creationId xmlns:p14="http://schemas.microsoft.com/office/powerpoint/2010/main" val="17668150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51307-A941-42B8-BF6B-730A4BEBFCC5}"/>
              </a:ext>
            </a:extLst>
          </p:cNvPr>
          <p:cNvSpPr>
            <a:spLocks noGrp="1"/>
          </p:cNvSpPr>
          <p:nvPr>
            <p:ph type="title"/>
          </p:nvPr>
        </p:nvSpPr>
        <p:spPr/>
        <p:txBody>
          <a:bodyPr/>
          <a:lstStyle/>
          <a:p>
            <a:pPr algn="ctr"/>
            <a:r>
              <a:rPr lang="en-IN" dirty="0"/>
              <a:t>Exercise</a:t>
            </a:r>
          </a:p>
        </p:txBody>
      </p:sp>
      <p:sp>
        <p:nvSpPr>
          <p:cNvPr id="3" name="Content Placeholder 2">
            <a:extLst>
              <a:ext uri="{FF2B5EF4-FFF2-40B4-BE49-F238E27FC236}">
                <a16:creationId xmlns:a16="http://schemas.microsoft.com/office/drawing/2014/main" id="{C85464BC-DC08-4A41-B718-CA6A350B2442}"/>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75F74050-022C-44E0-A6D9-E0A9970E2592}"/>
              </a:ext>
            </a:extLst>
          </p:cNvPr>
          <p:cNvSpPr/>
          <p:nvPr/>
        </p:nvSpPr>
        <p:spPr>
          <a:xfrm>
            <a:off x="1037969" y="2156554"/>
            <a:ext cx="9144000" cy="56841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FF0000"/>
                </a:solidFill>
              </a:rPr>
              <a:t>A set of 60 observations has a mean of 66.8, a variance of 12.60, and an unknown distribution shape</a:t>
            </a:r>
          </a:p>
        </p:txBody>
      </p:sp>
      <p:sp>
        <p:nvSpPr>
          <p:cNvPr id="5" name="Rectangle 4">
            <a:extLst>
              <a:ext uri="{FF2B5EF4-FFF2-40B4-BE49-F238E27FC236}">
                <a16:creationId xmlns:a16="http://schemas.microsoft.com/office/drawing/2014/main" id="{9BE5960B-BE40-44C8-A504-B2DE18EC46E3}"/>
              </a:ext>
            </a:extLst>
          </p:cNvPr>
          <p:cNvSpPr/>
          <p:nvPr/>
        </p:nvSpPr>
        <p:spPr>
          <a:xfrm>
            <a:off x="1037969" y="2888717"/>
            <a:ext cx="9144000" cy="568412"/>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FF0000"/>
                </a:solidFill>
              </a:rPr>
              <a:t>Between what values should at least 75 percent of the observations fall, according to Chebyshev’s theorem?</a:t>
            </a:r>
            <a:endParaRPr lang="en-IN" dirty="0">
              <a:solidFill>
                <a:srgbClr val="FF0000"/>
              </a:solidFill>
            </a:endParaRPr>
          </a:p>
        </p:txBody>
      </p:sp>
      <p:sp>
        <p:nvSpPr>
          <p:cNvPr id="6" name="Rectangle 5">
            <a:extLst>
              <a:ext uri="{FF2B5EF4-FFF2-40B4-BE49-F238E27FC236}">
                <a16:creationId xmlns:a16="http://schemas.microsoft.com/office/drawing/2014/main" id="{BD046EBB-5D9D-4519-BA41-637D36BF7A38}"/>
              </a:ext>
            </a:extLst>
          </p:cNvPr>
          <p:cNvSpPr/>
          <p:nvPr/>
        </p:nvSpPr>
        <p:spPr>
          <a:xfrm>
            <a:off x="1037969" y="3620881"/>
            <a:ext cx="9144000" cy="568412"/>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FF0000"/>
                </a:solidFill>
              </a:rPr>
              <a:t>If the distribution is symmetrical and bell-shaped, approximately how many observations should be found in the interval 59.7 to 73.9?</a:t>
            </a:r>
            <a:endParaRPr lang="en-IN" dirty="0">
              <a:solidFill>
                <a:srgbClr val="FF0000"/>
              </a:solidFill>
            </a:endParaRPr>
          </a:p>
        </p:txBody>
      </p:sp>
      <p:sp>
        <p:nvSpPr>
          <p:cNvPr id="8" name="Rectangle 7">
            <a:extLst>
              <a:ext uri="{FF2B5EF4-FFF2-40B4-BE49-F238E27FC236}">
                <a16:creationId xmlns:a16="http://schemas.microsoft.com/office/drawing/2014/main" id="{CF5021F5-04FE-4472-957B-F07EFBF74BC1}"/>
              </a:ext>
            </a:extLst>
          </p:cNvPr>
          <p:cNvSpPr/>
          <p:nvPr/>
        </p:nvSpPr>
        <p:spPr>
          <a:xfrm>
            <a:off x="1037969" y="4353045"/>
            <a:ext cx="9144000" cy="568412"/>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rgbClr val="FF0000"/>
                </a:solidFill>
              </a:rPr>
              <a:t>Find the standard scores for the following observations from the distribution: 61.45, 75.37, 84.65, and 51.50</a:t>
            </a:r>
            <a:endParaRPr lang="en-IN" dirty="0">
              <a:solidFill>
                <a:srgbClr val="FF0000"/>
              </a:solidFill>
            </a:endParaRPr>
          </a:p>
        </p:txBody>
      </p:sp>
      <p:sp>
        <p:nvSpPr>
          <p:cNvPr id="9" name="Flowchart: Sequential Access Storage 8">
            <a:extLst>
              <a:ext uri="{FF2B5EF4-FFF2-40B4-BE49-F238E27FC236}">
                <a16:creationId xmlns:a16="http://schemas.microsoft.com/office/drawing/2014/main" id="{D9538027-1AB2-49F7-8A3E-957E81193AC3}"/>
              </a:ext>
            </a:extLst>
          </p:cNvPr>
          <p:cNvSpPr/>
          <p:nvPr/>
        </p:nvSpPr>
        <p:spPr>
          <a:xfrm rot="21418767">
            <a:off x="110974" y="2265407"/>
            <a:ext cx="997876" cy="1111686"/>
          </a:xfrm>
          <a:prstGeom prst="flowChartMagneticTap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59.8, 73.8</a:t>
            </a:r>
          </a:p>
        </p:txBody>
      </p:sp>
      <p:sp>
        <p:nvSpPr>
          <p:cNvPr id="10" name="Flowchart: Sequential Access Storage 9">
            <a:extLst>
              <a:ext uri="{FF2B5EF4-FFF2-40B4-BE49-F238E27FC236}">
                <a16:creationId xmlns:a16="http://schemas.microsoft.com/office/drawing/2014/main" id="{A4AFEB83-C343-4D7C-8DEA-B0757B83470C}"/>
              </a:ext>
            </a:extLst>
          </p:cNvPr>
          <p:cNvSpPr/>
          <p:nvPr/>
        </p:nvSpPr>
        <p:spPr>
          <a:xfrm rot="20275114">
            <a:off x="238721" y="3346148"/>
            <a:ext cx="742380" cy="831888"/>
          </a:xfrm>
          <a:prstGeom prst="flowChartMagneticTape">
            <a:avLst/>
          </a:prstGeom>
          <a:solidFill>
            <a:schemeClr val="accent4"/>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rgbClr val="FF0000"/>
                </a:solidFill>
              </a:rPr>
              <a:t>57</a:t>
            </a:r>
          </a:p>
        </p:txBody>
      </p:sp>
      <p:sp>
        <p:nvSpPr>
          <p:cNvPr id="11" name="Flowchart: Sequential Access Storage 10">
            <a:extLst>
              <a:ext uri="{FF2B5EF4-FFF2-40B4-BE49-F238E27FC236}">
                <a16:creationId xmlns:a16="http://schemas.microsoft.com/office/drawing/2014/main" id="{E9CE7C6E-61FE-4FBF-BB49-6516D7045157}"/>
              </a:ext>
            </a:extLst>
          </p:cNvPr>
          <p:cNvSpPr/>
          <p:nvPr/>
        </p:nvSpPr>
        <p:spPr>
          <a:xfrm rot="16200000">
            <a:off x="2780133" y="4711876"/>
            <a:ext cx="1075830" cy="1100440"/>
          </a:xfrm>
          <a:prstGeom prst="flowChartMagneticTape">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algn="ctr"/>
            <a:r>
              <a:rPr lang="en-IN" dirty="0">
                <a:solidFill>
                  <a:srgbClr val="FF0000"/>
                </a:solidFill>
              </a:rPr>
              <a:t>-1.51, 2.41, 5.03, -4.31</a:t>
            </a:r>
          </a:p>
        </p:txBody>
      </p:sp>
    </p:spTree>
    <p:extLst>
      <p:ext uri="{BB962C8B-B14F-4D97-AF65-F5344CB8AC3E}">
        <p14:creationId xmlns:p14="http://schemas.microsoft.com/office/powerpoint/2010/main" val="3548859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1000"/>
                                        <p:tgtEl>
                                          <p:spTgt spid="5"/>
                                        </p:tgtEl>
                                      </p:cBhvr>
                                    </p:animEffect>
                                    <p:anim calcmode="lin" valueType="num">
                                      <p:cBhvr>
                                        <p:cTn id="14" dur="1000" fill="hold"/>
                                        <p:tgtEl>
                                          <p:spTgt spid="5"/>
                                        </p:tgtEl>
                                        <p:attrNameLst>
                                          <p:attrName>ppt_x</p:attrName>
                                        </p:attrNameLst>
                                      </p:cBhvr>
                                      <p:tavLst>
                                        <p:tav tm="0">
                                          <p:val>
                                            <p:strVal val="#ppt_x"/>
                                          </p:val>
                                        </p:tav>
                                        <p:tav tm="100000">
                                          <p:val>
                                            <p:strVal val="#ppt_x"/>
                                          </p:val>
                                        </p:tav>
                                      </p:tavLst>
                                    </p:anim>
                                    <p:anim calcmode="lin" valueType="num">
                                      <p:cBhvr>
                                        <p:cTn id="15"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1000"/>
                                        <p:tgtEl>
                                          <p:spTgt spid="9"/>
                                        </p:tgtEl>
                                      </p:cBhvr>
                                    </p:animEffect>
                                    <p:anim calcmode="lin" valueType="num">
                                      <p:cBhvr>
                                        <p:cTn id="21" dur="1000" fill="hold"/>
                                        <p:tgtEl>
                                          <p:spTgt spid="9"/>
                                        </p:tgtEl>
                                        <p:attrNameLst>
                                          <p:attrName>ppt_x</p:attrName>
                                        </p:attrNameLst>
                                      </p:cBhvr>
                                      <p:tavLst>
                                        <p:tav tm="0">
                                          <p:val>
                                            <p:strVal val="#ppt_x"/>
                                          </p:val>
                                        </p:tav>
                                        <p:tav tm="100000">
                                          <p:val>
                                            <p:strVal val="#ppt_x"/>
                                          </p:val>
                                        </p:tav>
                                      </p:tavLst>
                                    </p:anim>
                                    <p:anim calcmode="lin" valueType="num">
                                      <p:cBhvr>
                                        <p:cTn id="22"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1000"/>
                                        <p:tgtEl>
                                          <p:spTgt spid="6"/>
                                        </p:tgtEl>
                                      </p:cBhvr>
                                    </p:animEffect>
                                    <p:anim calcmode="lin" valueType="num">
                                      <p:cBhvr>
                                        <p:cTn id="28" dur="1000" fill="hold"/>
                                        <p:tgtEl>
                                          <p:spTgt spid="6"/>
                                        </p:tgtEl>
                                        <p:attrNameLst>
                                          <p:attrName>ppt_x</p:attrName>
                                        </p:attrNameLst>
                                      </p:cBhvr>
                                      <p:tavLst>
                                        <p:tav tm="0">
                                          <p:val>
                                            <p:strVal val="#ppt_x"/>
                                          </p:val>
                                        </p:tav>
                                        <p:tav tm="100000">
                                          <p:val>
                                            <p:strVal val="#ppt_x"/>
                                          </p:val>
                                        </p:tav>
                                      </p:tavLst>
                                    </p:anim>
                                    <p:anim calcmode="lin" valueType="num">
                                      <p:cBhvr>
                                        <p:cTn id="2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1000"/>
                                        <p:tgtEl>
                                          <p:spTgt spid="10"/>
                                        </p:tgtEl>
                                      </p:cBhvr>
                                    </p:animEffect>
                                    <p:anim calcmode="lin" valueType="num">
                                      <p:cBhvr>
                                        <p:cTn id="35" dur="1000" fill="hold"/>
                                        <p:tgtEl>
                                          <p:spTgt spid="10"/>
                                        </p:tgtEl>
                                        <p:attrNameLst>
                                          <p:attrName>ppt_x</p:attrName>
                                        </p:attrNameLst>
                                      </p:cBhvr>
                                      <p:tavLst>
                                        <p:tav tm="0">
                                          <p:val>
                                            <p:strVal val="#ppt_x"/>
                                          </p:val>
                                        </p:tav>
                                        <p:tav tm="100000">
                                          <p:val>
                                            <p:strVal val="#ppt_x"/>
                                          </p:val>
                                        </p:tav>
                                      </p:tavLst>
                                    </p:anim>
                                    <p:anim calcmode="lin" valueType="num">
                                      <p:cBhvr>
                                        <p:cTn id="3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1000"/>
                                        <p:tgtEl>
                                          <p:spTgt spid="8"/>
                                        </p:tgtEl>
                                      </p:cBhvr>
                                    </p:animEffect>
                                    <p:anim calcmode="lin" valueType="num">
                                      <p:cBhvr>
                                        <p:cTn id="42" dur="1000" fill="hold"/>
                                        <p:tgtEl>
                                          <p:spTgt spid="8"/>
                                        </p:tgtEl>
                                        <p:attrNameLst>
                                          <p:attrName>ppt_x</p:attrName>
                                        </p:attrNameLst>
                                      </p:cBhvr>
                                      <p:tavLst>
                                        <p:tav tm="0">
                                          <p:val>
                                            <p:strVal val="#ppt_x"/>
                                          </p:val>
                                        </p:tav>
                                        <p:tav tm="100000">
                                          <p:val>
                                            <p:strVal val="#ppt_x"/>
                                          </p:val>
                                        </p:tav>
                                      </p:tavLst>
                                    </p:anim>
                                    <p:anim calcmode="lin" valueType="num">
                                      <p:cBhvr>
                                        <p:cTn id="4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1000"/>
                                        <p:tgtEl>
                                          <p:spTgt spid="11"/>
                                        </p:tgtEl>
                                      </p:cBhvr>
                                    </p:animEffect>
                                    <p:anim calcmode="lin" valueType="num">
                                      <p:cBhvr>
                                        <p:cTn id="49" dur="1000" fill="hold"/>
                                        <p:tgtEl>
                                          <p:spTgt spid="11"/>
                                        </p:tgtEl>
                                        <p:attrNameLst>
                                          <p:attrName>ppt_x</p:attrName>
                                        </p:attrNameLst>
                                      </p:cBhvr>
                                      <p:tavLst>
                                        <p:tav tm="0">
                                          <p:val>
                                            <p:strVal val="#ppt_x"/>
                                          </p:val>
                                        </p:tav>
                                        <p:tav tm="100000">
                                          <p:val>
                                            <p:strVal val="#ppt_x"/>
                                          </p:val>
                                        </p:tav>
                                      </p:tavLst>
                                    </p:anim>
                                    <p:anim calcmode="lin" valueType="num">
                                      <p:cBhvr>
                                        <p:cTn id="5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8" grpId="0" animBg="1"/>
      <p:bldP spid="9" grpId="0" animBg="1"/>
      <p:bldP spid="10" grpId="0" animBg="1"/>
      <p:bldP spid="11"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BAB5A-EC54-FBAF-7C44-62E7235258A2}"/>
              </a:ext>
            </a:extLst>
          </p:cNvPr>
          <p:cNvSpPr>
            <a:spLocks noGrp="1"/>
          </p:cNvSpPr>
          <p:nvPr>
            <p:ph type="title"/>
          </p:nvPr>
        </p:nvSpPr>
        <p:spPr/>
        <p:txBody>
          <a:bodyPr/>
          <a:lstStyle/>
          <a:p>
            <a:pPr algn="ctr"/>
            <a:r>
              <a:rPr lang="en-IN" dirty="0"/>
              <a:t>Central Limit Theorem</a:t>
            </a:r>
          </a:p>
        </p:txBody>
      </p:sp>
      <p:sp>
        <p:nvSpPr>
          <p:cNvPr id="3" name="Content Placeholder 2">
            <a:extLst>
              <a:ext uri="{FF2B5EF4-FFF2-40B4-BE49-F238E27FC236}">
                <a16:creationId xmlns:a16="http://schemas.microsoft.com/office/drawing/2014/main" id="{F782F0B5-213F-2BD7-684E-37806539B1EB}"/>
              </a:ext>
            </a:extLst>
          </p:cNvPr>
          <p:cNvSpPr>
            <a:spLocks noGrp="1"/>
          </p:cNvSpPr>
          <p:nvPr>
            <p:ph idx="1"/>
          </p:nvPr>
        </p:nvSpPr>
        <p:spPr/>
        <p:txBody>
          <a:bodyPr/>
          <a:lstStyle/>
          <a:p>
            <a:r>
              <a:rPr lang="en-US" dirty="0"/>
              <a:t>The sampling distribution of the sample mean approaches a normal distribution as the sample size increases, regardless of the shape of the population distribution.</a:t>
            </a:r>
            <a:endParaRPr lang="en-IN" dirty="0"/>
          </a:p>
        </p:txBody>
      </p:sp>
      <p:sp>
        <p:nvSpPr>
          <p:cNvPr id="5" name="Rectangle 2">
            <a:extLst>
              <a:ext uri="{FF2B5EF4-FFF2-40B4-BE49-F238E27FC236}">
                <a16:creationId xmlns:a16="http://schemas.microsoft.com/office/drawing/2014/main" id="{43346CA3-CD95-4628-74D6-C52790884219}"/>
              </a:ext>
            </a:extLst>
          </p:cNvPr>
          <p:cNvSpPr>
            <a:spLocks noChangeArrowheads="1"/>
          </p:cNvSpPr>
          <p:nvPr/>
        </p:nvSpPr>
        <p:spPr bwMode="auto">
          <a:xfrm>
            <a:off x="838200" y="3041571"/>
            <a:ext cx="11486507"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t>As sample size n increases, the distribution of sample means becomes approximately normal.</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t>Mean of sampling distribution = population mean (μ).</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t>Standard deviation of sampling distribution = σ / √n (Standard Error).</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t>Implication:</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t>Works for any population with finite mean (μ) and variance (σ²).</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2800" dirty="0"/>
              <a:t>Allows use of normal-based inference (e.g., confidence intervals, hypothesis testing) even when the population is not normally distributed.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89954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E61AE-2DCC-4DDA-BE79-5CC8C95D7647}"/>
              </a:ext>
            </a:extLst>
          </p:cNvPr>
          <p:cNvSpPr>
            <a:spLocks noGrp="1"/>
          </p:cNvSpPr>
          <p:nvPr>
            <p:ph type="title"/>
          </p:nvPr>
        </p:nvSpPr>
        <p:spPr/>
        <p:txBody>
          <a:bodyPr/>
          <a:lstStyle/>
          <a:p>
            <a:pPr algn="ctr"/>
            <a:r>
              <a:rPr lang="en-IN" dirty="0"/>
              <a:t>Types of estimates</a:t>
            </a:r>
          </a:p>
        </p:txBody>
      </p:sp>
      <p:sp>
        <p:nvSpPr>
          <p:cNvPr id="6" name="TextBox 5">
            <a:extLst>
              <a:ext uri="{FF2B5EF4-FFF2-40B4-BE49-F238E27FC236}">
                <a16:creationId xmlns:a16="http://schemas.microsoft.com/office/drawing/2014/main" id="{22AA76FD-4F35-4C55-A216-BFDF1D449D2C}"/>
              </a:ext>
            </a:extLst>
          </p:cNvPr>
          <p:cNvSpPr txBox="1"/>
          <p:nvPr/>
        </p:nvSpPr>
        <p:spPr>
          <a:xfrm>
            <a:off x="2608691" y="3848441"/>
            <a:ext cx="7214929" cy="1754326"/>
          </a:xfrm>
          <a:prstGeom prst="rect">
            <a:avLst/>
          </a:prstGeom>
          <a:noFill/>
        </p:spPr>
        <p:txBody>
          <a:bodyPr wrap="square" rtlCol="0">
            <a:spAutoFit/>
          </a:bodyPr>
          <a:lstStyle/>
          <a:p>
            <a:r>
              <a:rPr lang="en-US" dirty="0"/>
              <a:t>A point estimate is often insufficient, because it is either right or wrong.</a:t>
            </a:r>
          </a:p>
          <a:p>
            <a:endParaRPr lang="en-US" dirty="0"/>
          </a:p>
          <a:p>
            <a:endParaRPr lang="en-US" dirty="0"/>
          </a:p>
          <a:p>
            <a:r>
              <a:rPr lang="en-US" dirty="0"/>
              <a:t>An interval estimate is a range of values used to estimate a population parameter. It indicates the error in two ways: by the extent of its range and by the probability of the true population parameter lying within that range.</a:t>
            </a:r>
            <a:endParaRPr lang="en-IN" dirty="0"/>
          </a:p>
        </p:txBody>
      </p:sp>
      <p:sp>
        <p:nvSpPr>
          <p:cNvPr id="3" name="TextBox 2">
            <a:extLst>
              <a:ext uri="{FF2B5EF4-FFF2-40B4-BE49-F238E27FC236}">
                <a16:creationId xmlns:a16="http://schemas.microsoft.com/office/drawing/2014/main" id="{165E4E69-6289-45F9-9F55-7BD30D973A2F}"/>
              </a:ext>
            </a:extLst>
          </p:cNvPr>
          <p:cNvSpPr txBox="1"/>
          <p:nvPr/>
        </p:nvSpPr>
        <p:spPr>
          <a:xfrm>
            <a:off x="2608691" y="2496064"/>
            <a:ext cx="7214929" cy="942541"/>
          </a:xfrm>
          <a:prstGeom prst="rect">
            <a:avLst/>
          </a:prstGeom>
          <a:noFill/>
        </p:spPr>
        <p:txBody>
          <a:bodyPr wrap="square" rtlCol="0">
            <a:spAutoFit/>
          </a:bodyPr>
          <a:lstStyle/>
          <a:p>
            <a:pPr algn="just"/>
            <a:r>
              <a:rPr lang="en-IN" dirty="0"/>
              <a:t>Two types of estimates: Point estimate and Interval estimate</a:t>
            </a:r>
          </a:p>
          <a:p>
            <a:pPr algn="just"/>
            <a:r>
              <a:rPr lang="en-IN" dirty="0"/>
              <a:t>A point estimate is a single number that is used to estimate an unknown population parameter.</a:t>
            </a:r>
          </a:p>
        </p:txBody>
      </p:sp>
      <p:sp>
        <p:nvSpPr>
          <p:cNvPr id="7" name="Content Placeholder 6">
            <a:extLst>
              <a:ext uri="{FF2B5EF4-FFF2-40B4-BE49-F238E27FC236}">
                <a16:creationId xmlns:a16="http://schemas.microsoft.com/office/drawing/2014/main" id="{7B17EC3F-ED49-45B7-ABD6-A2A341A34785}"/>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37551755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A978A-1E06-440A-BFDA-87F5459C699A}"/>
              </a:ext>
            </a:extLst>
          </p:cNvPr>
          <p:cNvSpPr>
            <a:spLocks noGrp="1"/>
          </p:cNvSpPr>
          <p:nvPr>
            <p:ph type="title"/>
          </p:nvPr>
        </p:nvSpPr>
        <p:spPr/>
        <p:txBody>
          <a:bodyPr/>
          <a:lstStyle/>
          <a:p>
            <a:pPr algn="ctr"/>
            <a:r>
              <a:rPr lang="en-IN" dirty="0"/>
              <a:t>Estimator and Estimates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A31E04-CC44-43B6-84CE-01F32E1C5715}"/>
                  </a:ext>
                </a:extLst>
              </p:cNvPr>
              <p:cNvSpPr>
                <a:spLocks noGrp="1"/>
              </p:cNvSpPr>
              <p:nvPr>
                <p:ph idx="1"/>
              </p:nvPr>
            </p:nvSpPr>
            <p:spPr/>
            <p:txBody>
              <a:bodyPr/>
              <a:lstStyle/>
              <a:p>
                <a:r>
                  <a:rPr lang="en-US" dirty="0"/>
                  <a:t>Any sample statistic that is used to estimate a population parameter is called an estimator.</a:t>
                </a:r>
              </a:p>
              <a:p>
                <a:r>
                  <a:rPr lang="en-US" dirty="0"/>
                  <a:t>The sample mean </a:t>
                </a:r>
                <a14:m>
                  <m:oMath xmlns:m="http://schemas.openxmlformats.org/officeDocument/2006/math">
                    <m:acc>
                      <m:accPr>
                        <m:chr m:val="̅"/>
                        <m:ctrlPr>
                          <a:rPr lang="en-US" i="1" smtClean="0">
                            <a:latin typeface="Cambria Math" panose="02040503050406030204" pitchFamily="18" charset="0"/>
                          </a:rPr>
                        </m:ctrlPr>
                      </m:accPr>
                      <m:e>
                        <m:r>
                          <a:rPr lang="en-IN" b="0" i="1" smtClean="0">
                            <a:latin typeface="Cambria Math" panose="02040503050406030204" pitchFamily="18" charset="0"/>
                          </a:rPr>
                          <m:t>𝑥</m:t>
                        </m:r>
                      </m:e>
                    </m:acc>
                  </m:oMath>
                </a14:m>
                <a:r>
                  <a:rPr lang="en-US" dirty="0"/>
                  <a:t> can be an estimator of the population mean μ, and the sample proportion can be used as an estimator of the population proportion.</a:t>
                </a:r>
              </a:p>
              <a:p>
                <a:r>
                  <a:rPr lang="en-US" dirty="0"/>
                  <a:t>When we have observed a specific numerical value of our estimator, we call that value an estimate.</a:t>
                </a:r>
                <a:endParaRPr lang="en-IN" dirty="0"/>
              </a:p>
            </p:txBody>
          </p:sp>
        </mc:Choice>
        <mc:Fallback xmlns="">
          <p:sp>
            <p:nvSpPr>
              <p:cNvPr id="3" name="Content Placeholder 2">
                <a:extLst>
                  <a:ext uri="{FF2B5EF4-FFF2-40B4-BE49-F238E27FC236}">
                    <a16:creationId xmlns:a16="http://schemas.microsoft.com/office/drawing/2014/main" id="{EDA31E04-CC44-43B6-84CE-01F32E1C57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8018786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A1C28-76D5-45D1-A7FA-8156122A4183}"/>
              </a:ext>
            </a:extLst>
          </p:cNvPr>
          <p:cNvSpPr>
            <a:spLocks noGrp="1"/>
          </p:cNvSpPr>
          <p:nvPr>
            <p:ph type="title"/>
          </p:nvPr>
        </p:nvSpPr>
        <p:spPr/>
        <p:txBody>
          <a:bodyPr/>
          <a:lstStyle/>
          <a:p>
            <a:r>
              <a:rPr lang="en-IN" dirty="0"/>
              <a:t>Populations, Population parameter, Sample Estimators, Sample Estimates</a:t>
            </a:r>
          </a:p>
        </p:txBody>
      </p:sp>
      <p:pic>
        <p:nvPicPr>
          <p:cNvPr id="5" name="Content Placeholder 4">
            <a:extLst>
              <a:ext uri="{FF2B5EF4-FFF2-40B4-BE49-F238E27FC236}">
                <a16:creationId xmlns:a16="http://schemas.microsoft.com/office/drawing/2014/main" id="{CDCA375E-20F6-443F-8ED6-64C4DDC8A477}"/>
              </a:ext>
            </a:extLst>
          </p:cNvPr>
          <p:cNvPicPr>
            <a:picLocks noGrp="1" noChangeAspect="1"/>
          </p:cNvPicPr>
          <p:nvPr>
            <p:ph idx="1"/>
          </p:nvPr>
        </p:nvPicPr>
        <p:blipFill>
          <a:blip r:embed="rId2"/>
          <a:stretch>
            <a:fillRect/>
          </a:stretch>
        </p:blipFill>
        <p:spPr>
          <a:xfrm>
            <a:off x="584371" y="2158314"/>
            <a:ext cx="11139449" cy="3230026"/>
          </a:xfrm>
        </p:spPr>
      </p:pic>
    </p:spTree>
    <p:extLst>
      <p:ext uri="{BB962C8B-B14F-4D97-AF65-F5344CB8AC3E}">
        <p14:creationId xmlns:p14="http://schemas.microsoft.com/office/powerpoint/2010/main" val="403704598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482DC-72D2-44C3-B78E-4E4C8FA258EF}"/>
              </a:ext>
            </a:extLst>
          </p:cNvPr>
          <p:cNvSpPr>
            <a:spLocks noGrp="1"/>
          </p:cNvSpPr>
          <p:nvPr>
            <p:ph type="title"/>
          </p:nvPr>
        </p:nvSpPr>
        <p:spPr/>
        <p:txBody>
          <a:bodyPr/>
          <a:lstStyle/>
          <a:p>
            <a:r>
              <a:rPr lang="en-IN" dirty="0"/>
              <a:t>Confidence Level and Confidence Intervals</a:t>
            </a:r>
          </a:p>
        </p:txBody>
      </p:sp>
      <p:sp>
        <p:nvSpPr>
          <p:cNvPr id="3" name="Content Placeholder 2">
            <a:extLst>
              <a:ext uri="{FF2B5EF4-FFF2-40B4-BE49-F238E27FC236}">
                <a16:creationId xmlns:a16="http://schemas.microsoft.com/office/drawing/2014/main" id="{22EE8DA8-0794-4CFC-B906-BC17E542525A}"/>
              </a:ext>
            </a:extLst>
          </p:cNvPr>
          <p:cNvSpPr>
            <a:spLocks noGrp="1"/>
          </p:cNvSpPr>
          <p:nvPr>
            <p:ph idx="1"/>
          </p:nvPr>
        </p:nvSpPr>
        <p:spPr/>
        <p:txBody>
          <a:bodyPr/>
          <a:lstStyle/>
          <a:p>
            <a:pPr algn="just"/>
            <a:r>
              <a:rPr lang="en-US" dirty="0"/>
              <a:t>The confidence interval is the range of the estimate we are making. If we report that we are 90 percent confident that the mean of the population of incomes of people in a certain community will lie between $8,000 and $24,000, then the range $8,000–$24,000 is our confidence interval, and 90% is our level of confidence.</a:t>
            </a:r>
            <a:endParaRPr lang="en-IN" dirty="0"/>
          </a:p>
        </p:txBody>
      </p:sp>
      <p:sp>
        <p:nvSpPr>
          <p:cNvPr id="5" name="TextBox 4">
            <a:extLst>
              <a:ext uri="{FF2B5EF4-FFF2-40B4-BE49-F238E27FC236}">
                <a16:creationId xmlns:a16="http://schemas.microsoft.com/office/drawing/2014/main" id="{984CFE5C-57EB-4B1C-B730-5A315EBC2C32}"/>
              </a:ext>
            </a:extLst>
          </p:cNvPr>
          <p:cNvSpPr txBox="1"/>
          <p:nvPr/>
        </p:nvSpPr>
        <p:spPr>
          <a:xfrm>
            <a:off x="838200" y="4003576"/>
            <a:ext cx="10515600" cy="2215991"/>
          </a:xfrm>
          <a:prstGeom prst="rect">
            <a:avLst/>
          </a:prstGeom>
          <a:noFill/>
        </p:spPr>
        <p:txBody>
          <a:bodyPr wrap="square">
            <a:spAutoFit/>
          </a:bodyPr>
          <a:lstStyle/>
          <a:p>
            <a:pPr marL="342900" indent="-342900">
              <a:buFont typeface="Arial" panose="020B0604020202020204" pitchFamily="34" charset="0"/>
              <a:buChar char="•"/>
            </a:pPr>
            <a:r>
              <a:rPr lang="en-US" sz="2400" dirty="0"/>
              <a:t>“We are 95 percent confident that the mean battery life of the population lies within 30 and 42 months.” </a:t>
            </a:r>
          </a:p>
          <a:p>
            <a:endParaRPr lang="en-US" dirty="0"/>
          </a:p>
          <a:p>
            <a:pPr lvl="1"/>
            <a:r>
              <a:rPr lang="en-US" dirty="0"/>
              <a:t>This statement does not mean that the chance is 0.95 that the mean life of all our batteries falls within the interval established from this one sample. Instead, it means that if we select many random samples of the same size and calculate a confidence interval for each of these samples, then in about 95 percent of these cases, the population mean will lie within that interval.</a:t>
            </a:r>
            <a:endParaRPr lang="en-IN" dirty="0"/>
          </a:p>
        </p:txBody>
      </p:sp>
      <mc:AlternateContent xmlns:mc="http://schemas.openxmlformats.org/markup-compatibility/2006" xmlns:p14="http://schemas.microsoft.com/office/powerpoint/2010/main">
        <mc:Choice Requires="p14">
          <p:contentPart p14:bwMode="auto" r:id="rId3">
            <p14:nvContentPartPr>
              <p14:cNvPr id="93" name="Ink 92">
                <a:extLst>
                  <a:ext uri="{FF2B5EF4-FFF2-40B4-BE49-F238E27FC236}">
                    <a16:creationId xmlns:a16="http://schemas.microsoft.com/office/drawing/2014/main" id="{3739509B-F626-40BE-9927-75C1ED018AD4}"/>
                  </a:ext>
                </a:extLst>
              </p14:cNvPr>
              <p14:cNvContentPartPr/>
              <p14:nvPr/>
            </p14:nvContentPartPr>
            <p14:xfrm>
              <a:off x="5665923" y="4879077"/>
              <a:ext cx="19080" cy="4680"/>
            </p14:xfrm>
          </p:contentPart>
        </mc:Choice>
        <mc:Fallback xmlns="">
          <p:pic>
            <p:nvPicPr>
              <p:cNvPr id="93" name="Ink 92">
                <a:extLst>
                  <a:ext uri="{FF2B5EF4-FFF2-40B4-BE49-F238E27FC236}">
                    <a16:creationId xmlns:a16="http://schemas.microsoft.com/office/drawing/2014/main" id="{3739509B-F626-40BE-9927-75C1ED018AD4}"/>
                  </a:ext>
                </a:extLst>
              </p:cNvPr>
              <p:cNvPicPr/>
              <p:nvPr/>
            </p:nvPicPr>
            <p:blipFill>
              <a:blip r:embed="rId4"/>
              <a:stretch>
                <a:fillRect/>
              </a:stretch>
            </p:blipFill>
            <p:spPr>
              <a:xfrm>
                <a:off x="5656923" y="4870077"/>
                <a:ext cx="36720" cy="22320"/>
              </a:xfrm>
              <a:prstGeom prst="rect">
                <a:avLst/>
              </a:prstGeom>
            </p:spPr>
          </p:pic>
        </mc:Fallback>
      </mc:AlternateContent>
    </p:spTree>
    <p:extLst>
      <p:ext uri="{BB962C8B-B14F-4D97-AF65-F5344CB8AC3E}">
        <p14:creationId xmlns:p14="http://schemas.microsoft.com/office/powerpoint/2010/main" val="21990759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D5A38-13A7-4461-B859-CA14A9A94CB6}"/>
              </a:ext>
            </a:extLst>
          </p:cNvPr>
          <p:cNvSpPr>
            <a:spLocks noGrp="1"/>
          </p:cNvSpPr>
          <p:nvPr>
            <p:ph type="title"/>
          </p:nvPr>
        </p:nvSpPr>
        <p:spPr/>
        <p:txBody>
          <a:bodyPr/>
          <a:lstStyle/>
          <a:p>
            <a:r>
              <a:rPr lang="en-IN" dirty="0"/>
              <a:t>Confidence Interval Interpretation</a:t>
            </a:r>
          </a:p>
        </p:txBody>
      </p:sp>
      <p:pic>
        <p:nvPicPr>
          <p:cNvPr id="5" name="Content Placeholder 4">
            <a:extLst>
              <a:ext uri="{FF2B5EF4-FFF2-40B4-BE49-F238E27FC236}">
                <a16:creationId xmlns:a16="http://schemas.microsoft.com/office/drawing/2014/main" id="{AD51CA12-CEB9-4354-A3BA-67ECA8194846}"/>
              </a:ext>
            </a:extLst>
          </p:cNvPr>
          <p:cNvPicPr>
            <a:picLocks noGrp="1" noChangeAspect="1"/>
          </p:cNvPicPr>
          <p:nvPr>
            <p:ph idx="1"/>
          </p:nvPr>
        </p:nvPicPr>
        <p:blipFill>
          <a:blip r:embed="rId2"/>
          <a:stretch>
            <a:fillRect/>
          </a:stretch>
        </p:blipFill>
        <p:spPr>
          <a:xfrm>
            <a:off x="1960606" y="1613596"/>
            <a:ext cx="7727092" cy="5244404"/>
          </a:xfr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8AC5D6A-DE4B-4114-AAF2-237B0F25B4B1}"/>
                  </a:ext>
                </a:extLst>
              </p14:cNvPr>
              <p14:cNvContentPartPr/>
              <p14:nvPr/>
            </p14:nvContentPartPr>
            <p14:xfrm>
              <a:off x="6030243" y="3865317"/>
              <a:ext cx="61920" cy="32760"/>
            </p14:xfrm>
          </p:contentPart>
        </mc:Choice>
        <mc:Fallback xmlns="">
          <p:pic>
            <p:nvPicPr>
              <p:cNvPr id="3" name="Ink 2">
                <a:extLst>
                  <a:ext uri="{FF2B5EF4-FFF2-40B4-BE49-F238E27FC236}">
                    <a16:creationId xmlns:a16="http://schemas.microsoft.com/office/drawing/2014/main" id="{48AC5D6A-DE4B-4114-AAF2-237B0F25B4B1}"/>
                  </a:ext>
                </a:extLst>
              </p:cNvPr>
              <p:cNvPicPr/>
              <p:nvPr/>
            </p:nvPicPr>
            <p:blipFill>
              <a:blip r:embed="rId4"/>
              <a:stretch>
                <a:fillRect/>
              </a:stretch>
            </p:blipFill>
            <p:spPr>
              <a:xfrm>
                <a:off x="6021603" y="3856677"/>
                <a:ext cx="7956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34" name="Ink 133">
                <a:extLst>
                  <a:ext uri="{FF2B5EF4-FFF2-40B4-BE49-F238E27FC236}">
                    <a16:creationId xmlns:a16="http://schemas.microsoft.com/office/drawing/2014/main" id="{F1E25E24-1556-477C-8249-40984095C1FD}"/>
                  </a:ext>
                </a:extLst>
              </p14:cNvPr>
              <p14:cNvContentPartPr/>
              <p14:nvPr/>
            </p14:nvContentPartPr>
            <p14:xfrm>
              <a:off x="6063723" y="3856317"/>
              <a:ext cx="12960" cy="4680"/>
            </p14:xfrm>
          </p:contentPart>
        </mc:Choice>
        <mc:Fallback xmlns="">
          <p:pic>
            <p:nvPicPr>
              <p:cNvPr id="134" name="Ink 133">
                <a:extLst>
                  <a:ext uri="{FF2B5EF4-FFF2-40B4-BE49-F238E27FC236}">
                    <a16:creationId xmlns:a16="http://schemas.microsoft.com/office/drawing/2014/main" id="{F1E25E24-1556-477C-8249-40984095C1FD}"/>
                  </a:ext>
                </a:extLst>
              </p:cNvPr>
              <p:cNvPicPr/>
              <p:nvPr/>
            </p:nvPicPr>
            <p:blipFill>
              <a:blip r:embed="rId6"/>
              <a:stretch>
                <a:fillRect/>
              </a:stretch>
            </p:blipFill>
            <p:spPr>
              <a:xfrm>
                <a:off x="6054723" y="3847677"/>
                <a:ext cx="30600" cy="2232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01" name="Ink 200">
                <a:extLst>
                  <a:ext uri="{FF2B5EF4-FFF2-40B4-BE49-F238E27FC236}">
                    <a16:creationId xmlns:a16="http://schemas.microsoft.com/office/drawing/2014/main" id="{0F1A9B8B-9E49-45B9-855F-684C21A58673}"/>
                  </a:ext>
                </a:extLst>
              </p14:cNvPr>
              <p14:cNvContentPartPr/>
              <p14:nvPr/>
            </p14:nvContentPartPr>
            <p14:xfrm>
              <a:off x="5564763" y="3754077"/>
              <a:ext cx="19800" cy="16560"/>
            </p14:xfrm>
          </p:contentPart>
        </mc:Choice>
        <mc:Fallback xmlns="">
          <p:pic>
            <p:nvPicPr>
              <p:cNvPr id="201" name="Ink 200">
                <a:extLst>
                  <a:ext uri="{FF2B5EF4-FFF2-40B4-BE49-F238E27FC236}">
                    <a16:creationId xmlns:a16="http://schemas.microsoft.com/office/drawing/2014/main" id="{0F1A9B8B-9E49-45B9-855F-684C21A58673}"/>
                  </a:ext>
                </a:extLst>
              </p:cNvPr>
              <p:cNvPicPr/>
              <p:nvPr/>
            </p:nvPicPr>
            <p:blipFill>
              <a:blip r:embed="rId8"/>
              <a:stretch>
                <a:fillRect/>
              </a:stretch>
            </p:blipFill>
            <p:spPr>
              <a:xfrm>
                <a:off x="5555763" y="3745077"/>
                <a:ext cx="3744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7" name="Ink 206">
                <a:extLst>
                  <a:ext uri="{FF2B5EF4-FFF2-40B4-BE49-F238E27FC236}">
                    <a16:creationId xmlns:a16="http://schemas.microsoft.com/office/drawing/2014/main" id="{EA46A74A-16F5-406F-BFF2-07427E35329A}"/>
                  </a:ext>
                </a:extLst>
              </p14:cNvPr>
              <p14:cNvContentPartPr/>
              <p14:nvPr/>
            </p14:nvContentPartPr>
            <p14:xfrm>
              <a:off x="5453523" y="3865317"/>
              <a:ext cx="45360" cy="23400"/>
            </p14:xfrm>
          </p:contentPart>
        </mc:Choice>
        <mc:Fallback xmlns="">
          <p:pic>
            <p:nvPicPr>
              <p:cNvPr id="207" name="Ink 206">
                <a:extLst>
                  <a:ext uri="{FF2B5EF4-FFF2-40B4-BE49-F238E27FC236}">
                    <a16:creationId xmlns:a16="http://schemas.microsoft.com/office/drawing/2014/main" id="{EA46A74A-16F5-406F-BFF2-07427E35329A}"/>
                  </a:ext>
                </a:extLst>
              </p:cNvPr>
              <p:cNvPicPr/>
              <p:nvPr/>
            </p:nvPicPr>
            <p:blipFill>
              <a:blip r:embed="rId10"/>
              <a:stretch>
                <a:fillRect/>
              </a:stretch>
            </p:blipFill>
            <p:spPr>
              <a:xfrm>
                <a:off x="5444523" y="3856317"/>
                <a:ext cx="63000" cy="41040"/>
              </a:xfrm>
              <a:prstGeom prst="rect">
                <a:avLst/>
              </a:prstGeom>
            </p:spPr>
          </p:pic>
        </mc:Fallback>
      </mc:AlternateContent>
    </p:spTree>
    <p:extLst>
      <p:ext uri="{BB962C8B-B14F-4D97-AF65-F5344CB8AC3E}">
        <p14:creationId xmlns:p14="http://schemas.microsoft.com/office/powerpoint/2010/main" val="31289876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A65E0-F4BF-43B7-8322-BDEBBC5F840C}"/>
              </a:ext>
            </a:extLst>
          </p:cNvPr>
          <p:cNvSpPr>
            <a:spLocks noGrp="1"/>
          </p:cNvSpPr>
          <p:nvPr>
            <p:ph type="title"/>
          </p:nvPr>
        </p:nvSpPr>
        <p:spPr/>
        <p:txBody>
          <a:bodyPr/>
          <a:lstStyle/>
          <a:p>
            <a:r>
              <a:rPr lang="en-IN" dirty="0"/>
              <a:t>				Problem 1</a:t>
            </a:r>
          </a:p>
        </p:txBody>
      </p:sp>
      <p:sp>
        <p:nvSpPr>
          <p:cNvPr id="3" name="Content Placeholder 2">
            <a:extLst>
              <a:ext uri="{FF2B5EF4-FFF2-40B4-BE49-F238E27FC236}">
                <a16:creationId xmlns:a16="http://schemas.microsoft.com/office/drawing/2014/main" id="{662474DE-3350-487B-AF2A-FB526621C540}"/>
              </a:ext>
            </a:extLst>
          </p:cNvPr>
          <p:cNvSpPr>
            <a:spLocks noGrp="1"/>
          </p:cNvSpPr>
          <p:nvPr>
            <p:ph idx="1"/>
          </p:nvPr>
        </p:nvSpPr>
        <p:spPr>
          <a:xfrm>
            <a:off x="1066800" y="1686780"/>
            <a:ext cx="10515600" cy="4351338"/>
          </a:xfrm>
        </p:spPr>
        <p:txBody>
          <a:bodyPr/>
          <a:lstStyle/>
          <a:p>
            <a:pPr marL="0" indent="0" algn="just">
              <a:buNone/>
            </a:pPr>
            <a:r>
              <a:rPr lang="en-US" dirty="0"/>
              <a:t>For a population with a known variance of 185, a sample of 64 individuals leads to 217 as an estimate of the mean.</a:t>
            </a:r>
          </a:p>
          <a:p>
            <a:pPr marL="0" indent="0" algn="just">
              <a:buNone/>
            </a:pPr>
            <a:r>
              <a:rPr lang="en-US" dirty="0"/>
              <a:t> (a) Find the standard error of the mean. </a:t>
            </a:r>
          </a:p>
          <a:p>
            <a:pPr marL="0" indent="0" algn="just">
              <a:buNone/>
            </a:pPr>
            <a:r>
              <a:rPr lang="en-US" dirty="0"/>
              <a:t>(b) Establish an interval estimate that should include the population mean 68.3 percent of the time.</a:t>
            </a:r>
            <a:endParaRPr lang="en-IN" dirty="0"/>
          </a:p>
        </p:txBody>
      </p:sp>
      <p:pic>
        <p:nvPicPr>
          <p:cNvPr id="5" name="Picture 4">
            <a:extLst>
              <a:ext uri="{FF2B5EF4-FFF2-40B4-BE49-F238E27FC236}">
                <a16:creationId xmlns:a16="http://schemas.microsoft.com/office/drawing/2014/main" id="{323335A0-5125-4195-A10B-6AE7D73778E2}"/>
              </a:ext>
            </a:extLst>
          </p:cNvPr>
          <p:cNvPicPr>
            <a:picLocks noChangeAspect="1"/>
          </p:cNvPicPr>
          <p:nvPr/>
        </p:nvPicPr>
        <p:blipFill>
          <a:blip r:embed="rId3"/>
          <a:stretch>
            <a:fillRect/>
          </a:stretch>
        </p:blipFill>
        <p:spPr>
          <a:xfrm>
            <a:off x="1157932" y="4440194"/>
            <a:ext cx="9563100" cy="1371600"/>
          </a:xfrm>
          <a:prstGeom prst="rect">
            <a:avLst/>
          </a:prstGeom>
        </p:spPr>
      </p:pic>
      <mc:AlternateContent xmlns:mc="http://schemas.openxmlformats.org/markup-compatibility/2006" xmlns:p14="http://schemas.microsoft.com/office/powerpoint/2010/main">
        <mc:Choice Requires="p14">
          <p:contentPart p14:bwMode="auto" r:id="rId4">
            <p14:nvContentPartPr>
              <p14:cNvPr id="179" name="Ink 178">
                <a:extLst>
                  <a:ext uri="{FF2B5EF4-FFF2-40B4-BE49-F238E27FC236}">
                    <a16:creationId xmlns:a16="http://schemas.microsoft.com/office/drawing/2014/main" id="{AAF61BFA-887E-4681-8BDA-3B18596E2797}"/>
                  </a:ext>
                </a:extLst>
              </p14:cNvPr>
              <p14:cNvContentPartPr/>
              <p14:nvPr/>
            </p14:nvContentPartPr>
            <p14:xfrm>
              <a:off x="7902963" y="6264441"/>
              <a:ext cx="17640" cy="10440"/>
            </p14:xfrm>
          </p:contentPart>
        </mc:Choice>
        <mc:Fallback xmlns="">
          <p:pic>
            <p:nvPicPr>
              <p:cNvPr id="179" name="Ink 178">
                <a:extLst>
                  <a:ext uri="{FF2B5EF4-FFF2-40B4-BE49-F238E27FC236}">
                    <a16:creationId xmlns:a16="http://schemas.microsoft.com/office/drawing/2014/main" id="{AAF61BFA-887E-4681-8BDA-3B18596E2797}"/>
                  </a:ext>
                </a:extLst>
              </p:cNvPr>
              <p:cNvPicPr/>
              <p:nvPr/>
            </p:nvPicPr>
            <p:blipFill>
              <a:blip r:embed="rId5"/>
              <a:stretch>
                <a:fillRect/>
              </a:stretch>
            </p:blipFill>
            <p:spPr>
              <a:xfrm>
                <a:off x="7893963" y="6255801"/>
                <a:ext cx="35280" cy="28080"/>
              </a:xfrm>
              <a:prstGeom prst="rect">
                <a:avLst/>
              </a:prstGeom>
            </p:spPr>
          </p:pic>
        </mc:Fallback>
      </mc:AlternateContent>
    </p:spTree>
    <p:extLst>
      <p:ext uri="{BB962C8B-B14F-4D97-AF65-F5344CB8AC3E}">
        <p14:creationId xmlns:p14="http://schemas.microsoft.com/office/powerpoint/2010/main" val="8193252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8E80D-7F08-4936-A5B5-E35C031ACC9D}"/>
              </a:ext>
            </a:extLst>
          </p:cNvPr>
          <p:cNvSpPr>
            <a:spLocks noGrp="1"/>
          </p:cNvSpPr>
          <p:nvPr>
            <p:ph type="title"/>
          </p:nvPr>
        </p:nvSpPr>
        <p:spPr>
          <a:xfrm>
            <a:off x="440703" y="346647"/>
            <a:ext cx="10515600" cy="1325563"/>
          </a:xfrm>
        </p:spPr>
        <p:txBody>
          <a:bodyPr/>
          <a:lstStyle/>
          <a:p>
            <a:pPr algn="ctr"/>
            <a:r>
              <a:rPr lang="en-IN" dirty="0"/>
              <a:t>Problem-2</a:t>
            </a:r>
          </a:p>
        </p:txBody>
      </p:sp>
      <p:sp>
        <p:nvSpPr>
          <p:cNvPr id="3" name="Content Placeholder 2">
            <a:extLst>
              <a:ext uri="{FF2B5EF4-FFF2-40B4-BE49-F238E27FC236}">
                <a16:creationId xmlns:a16="http://schemas.microsoft.com/office/drawing/2014/main" id="{EC401DA3-A57F-4600-9ACB-A638730337F2}"/>
              </a:ext>
            </a:extLst>
          </p:cNvPr>
          <p:cNvSpPr>
            <a:spLocks noGrp="1"/>
          </p:cNvSpPr>
          <p:nvPr>
            <p:ph idx="1"/>
          </p:nvPr>
        </p:nvSpPr>
        <p:spPr/>
        <p:txBody>
          <a:bodyPr/>
          <a:lstStyle/>
          <a:p>
            <a:r>
              <a:rPr lang="en-US" dirty="0"/>
              <a:t>Given the following confidence levels, express the lower and upper limits of the confidence interval for these levels in terms of    and σ  . (a) 54 percent. (b) 75 percent. (c) 94 percent. (d) 98 percent</a:t>
            </a:r>
            <a:endParaRPr lang="en-IN" dirty="0"/>
          </a:p>
        </p:txBody>
      </p:sp>
      <p:pic>
        <p:nvPicPr>
          <p:cNvPr id="5" name="Picture 4">
            <a:extLst>
              <a:ext uri="{FF2B5EF4-FFF2-40B4-BE49-F238E27FC236}">
                <a16:creationId xmlns:a16="http://schemas.microsoft.com/office/drawing/2014/main" id="{CF7A1571-AC91-4C09-BFA9-B85E145616D8}"/>
              </a:ext>
            </a:extLst>
          </p:cNvPr>
          <p:cNvPicPr>
            <a:picLocks noChangeAspect="1"/>
          </p:cNvPicPr>
          <p:nvPr/>
        </p:nvPicPr>
        <p:blipFill>
          <a:blip r:embed="rId3"/>
          <a:stretch>
            <a:fillRect/>
          </a:stretch>
        </p:blipFill>
        <p:spPr>
          <a:xfrm>
            <a:off x="1161020" y="3610769"/>
            <a:ext cx="9029700" cy="390525"/>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DA3EEAC-AD87-4173-9519-B6CFCA2D5A68}"/>
                  </a:ext>
                </a:extLst>
              </p:cNvPr>
              <p:cNvSpPr txBox="1"/>
              <p:nvPr/>
            </p:nvSpPr>
            <p:spPr>
              <a:xfrm>
                <a:off x="9662984" y="2302699"/>
                <a:ext cx="28008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IN" i="1" smtClean="0">
                              <a:latin typeface="Cambria Math" panose="02040503050406030204" pitchFamily="18" charset="0"/>
                            </a:rPr>
                          </m:ctrlPr>
                        </m:accPr>
                        <m:e>
                          <m:r>
                            <a:rPr lang="en-IN" b="0" i="1" smtClean="0">
                              <a:latin typeface="Cambria Math" panose="02040503050406030204" pitchFamily="18" charset="0"/>
                            </a:rPr>
                            <m:t>𝑥</m:t>
                          </m:r>
                        </m:e>
                      </m:acc>
                    </m:oMath>
                  </m:oMathPara>
                </a14:m>
                <a:endParaRPr lang="en-IN" dirty="0"/>
              </a:p>
            </p:txBody>
          </p:sp>
        </mc:Choice>
        <mc:Fallback xmlns="">
          <p:sp>
            <p:nvSpPr>
              <p:cNvPr id="4" name="TextBox 3">
                <a:extLst>
                  <a:ext uri="{FF2B5EF4-FFF2-40B4-BE49-F238E27FC236}">
                    <a16:creationId xmlns:a16="http://schemas.microsoft.com/office/drawing/2014/main" id="{0DA3EEAC-AD87-4173-9519-B6CFCA2D5A68}"/>
                  </a:ext>
                </a:extLst>
              </p:cNvPr>
              <p:cNvSpPr txBox="1">
                <a:spLocks noRot="1" noChangeAspect="1" noMove="1" noResize="1" noEditPoints="1" noAdjustHandles="1" noChangeArrowheads="1" noChangeShapeType="1" noTextEdit="1"/>
              </p:cNvSpPr>
              <p:nvPr/>
            </p:nvSpPr>
            <p:spPr>
              <a:xfrm>
                <a:off x="9662984" y="2302699"/>
                <a:ext cx="280086" cy="276999"/>
              </a:xfrm>
              <a:prstGeom prst="rect">
                <a:avLst/>
              </a:prstGeom>
              <a:blipFill>
                <a:blip r:embed="rId4"/>
                <a:stretch>
                  <a:fillRect r="-7826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66A50C8-962D-4D17-B3C1-3707D8893E2D}"/>
                  </a:ext>
                </a:extLst>
              </p:cNvPr>
              <p:cNvSpPr txBox="1"/>
              <p:nvPr/>
            </p:nvSpPr>
            <p:spPr>
              <a:xfrm>
                <a:off x="10663882" y="2441198"/>
                <a:ext cx="280086" cy="276999"/>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IN" i="1" smtClean="0">
                              <a:latin typeface="Cambria Math" panose="02040503050406030204" pitchFamily="18" charset="0"/>
                            </a:rPr>
                          </m:ctrlPr>
                        </m:accPr>
                        <m:e>
                          <m:r>
                            <a:rPr lang="en-IN" b="0" i="1" smtClean="0">
                              <a:latin typeface="Cambria Math" panose="02040503050406030204" pitchFamily="18" charset="0"/>
                            </a:rPr>
                            <m:t>𝑥</m:t>
                          </m:r>
                        </m:e>
                      </m:acc>
                    </m:oMath>
                  </m:oMathPara>
                </a14:m>
                <a:endParaRPr lang="en-IN" dirty="0"/>
              </a:p>
            </p:txBody>
          </p:sp>
        </mc:Choice>
        <mc:Fallback xmlns="">
          <p:sp>
            <p:nvSpPr>
              <p:cNvPr id="7" name="TextBox 6">
                <a:extLst>
                  <a:ext uri="{FF2B5EF4-FFF2-40B4-BE49-F238E27FC236}">
                    <a16:creationId xmlns:a16="http://schemas.microsoft.com/office/drawing/2014/main" id="{F66A50C8-962D-4D17-B3C1-3707D8893E2D}"/>
                  </a:ext>
                </a:extLst>
              </p:cNvPr>
              <p:cNvSpPr txBox="1">
                <a:spLocks noRot="1" noChangeAspect="1" noMove="1" noResize="1" noEditPoints="1" noAdjustHandles="1" noChangeArrowheads="1" noChangeShapeType="1" noTextEdit="1"/>
              </p:cNvSpPr>
              <p:nvPr/>
            </p:nvSpPr>
            <p:spPr>
              <a:xfrm>
                <a:off x="10663882" y="2441198"/>
                <a:ext cx="280086" cy="276999"/>
              </a:xfrm>
              <a:prstGeom prst="rect">
                <a:avLst/>
              </a:prstGeom>
              <a:blipFill>
                <a:blip r:embed="rId5"/>
                <a:stretch>
                  <a:fillRect r="-78261"/>
                </a:stretch>
              </a:blipFill>
            </p:spPr>
            <p:txBody>
              <a:bodyPr/>
              <a:lstStyle/>
              <a:p>
                <a:r>
                  <a:rPr lang="en-IN">
                    <a:noFill/>
                  </a:rPr>
                  <a:t> </a:t>
                </a:r>
              </a:p>
            </p:txBody>
          </p:sp>
        </mc:Fallback>
      </mc:AlternateContent>
    </p:spTree>
    <p:extLst>
      <p:ext uri="{BB962C8B-B14F-4D97-AF65-F5344CB8AC3E}">
        <p14:creationId xmlns:p14="http://schemas.microsoft.com/office/powerpoint/2010/main" val="29585564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AE631-7183-47BD-80B5-158544B40C62}"/>
              </a:ext>
            </a:extLst>
          </p:cNvPr>
          <p:cNvSpPr>
            <a:spLocks noGrp="1"/>
          </p:cNvSpPr>
          <p:nvPr>
            <p:ph type="title"/>
          </p:nvPr>
        </p:nvSpPr>
        <p:spPr/>
        <p:txBody>
          <a:bodyPr/>
          <a:lstStyle/>
          <a:p>
            <a:pPr algn="ctr"/>
            <a:r>
              <a:rPr lang="en-IN" dirty="0"/>
              <a:t>Problem-3</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E9B33D0-01C0-4434-99C9-CD7D59FC40C6}"/>
                  </a:ext>
                </a:extLst>
              </p:cNvPr>
              <p:cNvSpPr>
                <a:spLocks noGrp="1"/>
              </p:cNvSpPr>
              <p:nvPr>
                <p:ph idx="1"/>
              </p:nvPr>
            </p:nvSpPr>
            <p:spPr/>
            <p:txBody>
              <a:bodyPr>
                <a:normAutofit/>
              </a:bodyPr>
              <a:lstStyle/>
              <a:p>
                <a:r>
                  <a:rPr lang="en-US" sz="2400" dirty="0"/>
                  <a:t>A large automotive-parts wholesaler needs an estimate of the mean life it can expect from windshield wiper blades under typical driving conditions. Already, management has determined that the standard deviation of the population life is 6 months. Suppose we select a simple random sample of 100 wiper blades, collect data on their useful lives, and obtain these results: </a:t>
                </a:r>
              </a:p>
              <a:p>
                <a:r>
                  <a:rPr lang="en-US" sz="2400" dirty="0"/>
                  <a:t>n = 100 ← Sample size </a:t>
                </a:r>
              </a:p>
              <a:p>
                <a14:m>
                  <m:oMath xmlns:m="http://schemas.openxmlformats.org/officeDocument/2006/math">
                    <m:acc>
                      <m:accPr>
                        <m:chr m:val="̅"/>
                        <m:ctrlPr>
                          <a:rPr lang="en-IN" sz="2400" i="1" smtClean="0">
                            <a:latin typeface="Cambria Math" panose="02040503050406030204" pitchFamily="18" charset="0"/>
                          </a:rPr>
                        </m:ctrlPr>
                      </m:accPr>
                      <m:e>
                        <m:r>
                          <a:rPr lang="en-IN" sz="2400" b="0" i="1" smtClean="0">
                            <a:latin typeface="Cambria Math" panose="02040503050406030204" pitchFamily="18" charset="0"/>
                          </a:rPr>
                          <m:t>𝑥</m:t>
                        </m:r>
                      </m:e>
                    </m:acc>
                  </m:oMath>
                </a14:m>
                <a:r>
                  <a:rPr lang="en-US" sz="2400" dirty="0"/>
                  <a:t> = 21 months ← Sample mean </a:t>
                </a:r>
              </a:p>
              <a:p>
                <a:r>
                  <a:rPr lang="en-US" sz="2400" dirty="0"/>
                  <a:t>σ = 6 months ← Population standard deviation</a:t>
                </a:r>
              </a:p>
              <a:p>
                <a:pPr marL="0" indent="0">
                  <a:buNone/>
                </a:pPr>
                <a:r>
                  <a:rPr lang="en-US" sz="2400" dirty="0"/>
                  <a:t>Because the wholesaler uses tens of thousands of these wiper blades annually, it requests that we find an interval estimate with a confidence level of 95 percent?</a:t>
                </a:r>
                <a:endParaRPr lang="en-IN" sz="2400" dirty="0"/>
              </a:p>
            </p:txBody>
          </p:sp>
        </mc:Choice>
        <mc:Fallback xmlns="">
          <p:sp>
            <p:nvSpPr>
              <p:cNvPr id="3" name="Content Placeholder 2">
                <a:extLst>
                  <a:ext uri="{FF2B5EF4-FFF2-40B4-BE49-F238E27FC236}">
                    <a16:creationId xmlns:a16="http://schemas.microsoft.com/office/drawing/2014/main" id="{6E9B33D0-01C0-4434-99C9-CD7D59FC40C6}"/>
                  </a:ext>
                </a:extLst>
              </p:cNvPr>
              <p:cNvSpPr>
                <a:spLocks noGrp="1" noRot="1" noChangeAspect="1" noMove="1" noResize="1" noEditPoints="1" noAdjustHandles="1" noChangeArrowheads="1" noChangeShapeType="1" noTextEdit="1"/>
              </p:cNvSpPr>
              <p:nvPr>
                <p:ph idx="1"/>
              </p:nvPr>
            </p:nvSpPr>
            <p:spPr>
              <a:blipFill>
                <a:blip r:embed="rId3"/>
                <a:stretch>
                  <a:fillRect l="-928" t="-1961" r="-754"/>
                </a:stretch>
              </a:blipFill>
            </p:spPr>
            <p:txBody>
              <a:bodyPr/>
              <a:lstStyle/>
              <a:p>
                <a:r>
                  <a:rPr lang="en-IN">
                    <a:noFill/>
                  </a:rPr>
                  <a:t> </a:t>
                </a:r>
              </a:p>
            </p:txBody>
          </p:sp>
        </mc:Fallback>
      </mc:AlternateContent>
      <p:sp>
        <p:nvSpPr>
          <p:cNvPr id="4" name="TextBox 3">
            <a:extLst>
              <a:ext uri="{FF2B5EF4-FFF2-40B4-BE49-F238E27FC236}">
                <a16:creationId xmlns:a16="http://schemas.microsoft.com/office/drawing/2014/main" id="{F9411B40-8A64-42F7-A325-1C9243228B99}"/>
              </a:ext>
            </a:extLst>
          </p:cNvPr>
          <p:cNvSpPr txBox="1"/>
          <p:nvPr/>
        </p:nvSpPr>
        <p:spPr>
          <a:xfrm>
            <a:off x="5638800" y="2973859"/>
            <a:ext cx="65" cy="276999"/>
          </a:xfrm>
          <a:prstGeom prst="rect">
            <a:avLst/>
          </a:prstGeom>
          <a:noFill/>
        </p:spPr>
        <p:txBody>
          <a:bodyPr wrap="none" lIns="0" tIns="0" rIns="0" bIns="0" rtlCol="0">
            <a:spAutoFit/>
          </a:bodyPr>
          <a:lstStyle/>
          <a:p>
            <a:endParaRPr lang="en-IN" dirty="0"/>
          </a:p>
        </p:txBody>
      </p:sp>
    </p:spTree>
    <p:extLst>
      <p:ext uri="{BB962C8B-B14F-4D97-AF65-F5344CB8AC3E}">
        <p14:creationId xmlns:p14="http://schemas.microsoft.com/office/powerpoint/2010/main" val="11044335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3526</TotalTime>
  <Words>1752</Words>
  <Application>Microsoft Office PowerPoint</Application>
  <PresentationFormat>Widescreen</PresentationFormat>
  <Paragraphs>181</Paragraphs>
  <Slides>40</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Calibri Light</vt:lpstr>
      <vt:lpstr>Cambria Math</vt:lpstr>
      <vt:lpstr>Office Theme</vt:lpstr>
      <vt:lpstr>Deep Learning Lect#1</vt:lpstr>
      <vt:lpstr>Central Tendency</vt:lpstr>
      <vt:lpstr>Central Tendency</vt:lpstr>
      <vt:lpstr>Dispersion</vt:lpstr>
      <vt:lpstr>Symmetry and Skewness</vt:lpstr>
      <vt:lpstr>Kurtosis (A measure of peaked-ness and tailed-ness)</vt:lpstr>
      <vt:lpstr>Mean</vt:lpstr>
      <vt:lpstr>Mean from ungrouped data</vt:lpstr>
      <vt:lpstr>Mean in grouped-data</vt:lpstr>
      <vt:lpstr>Advantages of Mean</vt:lpstr>
      <vt:lpstr>Disadvantages of Mean</vt:lpstr>
      <vt:lpstr>Weighted Mean</vt:lpstr>
      <vt:lpstr>Median</vt:lpstr>
      <vt:lpstr>…Median</vt:lpstr>
      <vt:lpstr>Advantages</vt:lpstr>
      <vt:lpstr>Disadvantages</vt:lpstr>
      <vt:lpstr>Mode</vt:lpstr>
      <vt:lpstr>Exercise</vt:lpstr>
      <vt:lpstr>Advantages &amp; Disadvantages</vt:lpstr>
      <vt:lpstr>Comparing mean, median and mode</vt:lpstr>
      <vt:lpstr>Another Example why median is insensitive to outliers</vt:lpstr>
      <vt:lpstr>Dispersion</vt:lpstr>
      <vt:lpstr>Why dispersion is important?</vt:lpstr>
      <vt:lpstr>Measures of dispersion</vt:lpstr>
      <vt:lpstr>Exercises</vt:lpstr>
      <vt:lpstr>Average distance of individual observations from the mean</vt:lpstr>
      <vt:lpstr>Exercise</vt:lpstr>
      <vt:lpstr>Sample standard deviation</vt:lpstr>
      <vt:lpstr>Standard Score</vt:lpstr>
      <vt:lpstr>Chebyshev’s Theorem</vt:lpstr>
      <vt:lpstr>Exercise</vt:lpstr>
      <vt:lpstr>Central Limit Theorem</vt:lpstr>
      <vt:lpstr>Types of estimates</vt:lpstr>
      <vt:lpstr>Estimator and Estimates</vt:lpstr>
      <vt:lpstr>Populations, Population parameter, Sample Estimators, Sample Estimates</vt:lpstr>
      <vt:lpstr>Confidence Level and Confidence Intervals</vt:lpstr>
      <vt:lpstr>Confidence Interval Interpretation</vt:lpstr>
      <vt:lpstr>    Problem 1</vt:lpstr>
      <vt:lpstr>Problem-2</vt:lpstr>
      <vt:lpstr>Problem-3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Prateek Pandey</dc:creator>
  <cp:lastModifiedBy>Prateek Pandey</cp:lastModifiedBy>
  <cp:revision>10</cp:revision>
  <dcterms:created xsi:type="dcterms:W3CDTF">2025-07-20T10:17:48Z</dcterms:created>
  <dcterms:modified xsi:type="dcterms:W3CDTF">2025-07-28T14:30:41Z</dcterms:modified>
</cp:coreProperties>
</file>