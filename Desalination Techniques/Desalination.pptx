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8" r:id="rId2"/>
    <p:sldId id="257" r:id="rId3"/>
    <p:sldId id="259" r:id="rId4"/>
    <p:sldId id="261" r:id="rId5"/>
    <p:sldId id="260" r:id="rId6"/>
    <p:sldId id="279" r:id="rId7"/>
    <p:sldId id="284" r:id="rId8"/>
    <p:sldId id="280" r:id="rId9"/>
    <p:sldId id="281" r:id="rId10"/>
    <p:sldId id="282" r:id="rId11"/>
    <p:sldId id="267" r:id="rId12"/>
    <p:sldId id="272" r:id="rId13"/>
    <p:sldId id="268" r:id="rId14"/>
    <p:sldId id="285" r:id="rId15"/>
    <p:sldId id="283" r:id="rId16"/>
    <p:sldId id="277" r:id="rId17"/>
    <p:sldId id="27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1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951" autoAdjust="0"/>
  </p:normalViewPr>
  <p:slideViewPr>
    <p:cSldViewPr>
      <p:cViewPr varScale="1">
        <p:scale>
          <a:sx n="115" d="100"/>
          <a:sy n="115" d="100"/>
        </p:scale>
        <p:origin x="-15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1906F1-5298-4E42-88F5-DA183F79DC21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918A91-1929-4A3E-91BF-4F5FA195D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Scarcity of fresh water has serious implications. 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It can slow or stop economic expansion, reduce agricultural output, hamper food independence, and degrade public health and quality of life. 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331B1-5984-4147-8EB5-64AE712B7C1B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US" smtClean="0"/>
              <a:t>Link takes you to a Water Desalination Module created by the General Electric Company</a:t>
            </a:r>
          </a:p>
          <a:p>
            <a:r>
              <a:rPr lang="en-US" smtClean="0"/>
              <a:t>See: http://www.gewater.com/images/multimedia/desal/index_flash.html 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027E520-DA8C-40B2-8C6D-AE879270B738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US" sz="1100" smtClean="0"/>
              <a:t>Water, water, every where, </a:t>
            </a:r>
            <a:br>
              <a:rPr lang="en-US" sz="1100" smtClean="0"/>
            </a:br>
            <a:r>
              <a:rPr lang="en-US" sz="1100" smtClean="0"/>
              <a:t>Nor any drop to drink. </a:t>
            </a:r>
          </a:p>
          <a:p>
            <a:r>
              <a:rPr lang="en-US" sz="1100" smtClean="0"/>
              <a:t>    —Samuel Taylor Coleridge, </a:t>
            </a:r>
            <a:r>
              <a:rPr lang="en-US" sz="1100" i="1" smtClean="0"/>
              <a:t>The Rime of the Ancient Mariner</a:t>
            </a:r>
            <a:r>
              <a:rPr lang="en-US" sz="1100" smtClean="0"/>
              <a:t>, part II, stanza 9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139F123-0B5B-4EBB-B745-80179390410B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95CB7C5-D18D-4CCF-8185-602A5D94A137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US" smtClean="0"/>
              <a:t>Evaporator: Takes in saltwater and produces vapor and brine</a:t>
            </a:r>
          </a:p>
          <a:p>
            <a:r>
              <a:rPr lang="en-US" smtClean="0"/>
              <a:t>Condenser: Takes in vapor and produces water</a:t>
            </a:r>
          </a:p>
          <a:p>
            <a:r>
              <a:rPr lang="en-US" smtClean="0"/>
              <a:t>Membrane: Takes in saltwater or water and produces a cleaner version of it</a:t>
            </a:r>
          </a:p>
          <a:p>
            <a:r>
              <a:rPr lang="en-US" smtClean="0"/>
              <a:t>Clean water: a holding tank for the clean water </a:t>
            </a:r>
          </a:p>
          <a:p>
            <a:r>
              <a:rPr lang="en-US" smtClean="0"/>
              <a:t>Waste tank: A place to collect all waste products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71899D3-704C-407E-8024-3FBA5DA6BBB8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F0AF46E-0FD7-491C-A0AE-56261C837A47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US" smtClean="0"/>
              <a:t>Source: http://en.wikipedia.org/wiki/Desalination </a:t>
            </a:r>
            <a:br>
              <a:rPr lang="en-US" smtClean="0"/>
            </a:br>
            <a:r>
              <a:rPr lang="en-US" smtClean="0"/>
              <a:t>&gt; Existing facilities and facilities under construction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155DD4-E88D-4C62-A6B7-E7FFCEB74EED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6BF53E-1A25-4389-8D89-8C3A9F24D9EF}" type="slidenum">
              <a:rPr lang="en-US" smtClean="0"/>
              <a:pPr/>
              <a:t>17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84CAD7DB-FEF8-4E0D-89FB-A37E7DE2ECFD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4B311B58-4934-43E4-BD47-9C87917D4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43FE2-D1DF-45E4-AB1C-5D9418000AEA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8B818-0F4F-4ACC-9365-C34CD8E22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45ED7346-7BBF-4A13-81A9-E0E09CAB3010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DEC6D42D-8BAC-438C-B249-E84A787A0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1C022-500A-4574-8A56-FDBFF95E1372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A662C-833C-454C-B7C2-16A5FFEC4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72743-19A0-4BC2-A76D-ADB7A0677C5F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16F2C-B599-4872-ADF9-5D2533D167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4F357-AC71-4BB7-AFBD-902F69B030A7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09078-8366-43B0-9BAE-ABB65D9B05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9E799-002F-4C22-AD7A-7F9675B76A83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6269F-D4B8-48A6-A0D8-7ACED5F76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B1EAE-FE23-4129-AE1C-62E46FDB8E6D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5941F-8038-42BE-937A-F198960C20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13"/>
          <p:cNvSpPr>
            <a:spLocks noChangeArrowheads="1"/>
          </p:cNvSpPr>
          <p:nvPr/>
        </p:nvSpPr>
        <p:spPr bwMode="auto">
          <a:xfrm rot="420000" flipV="1">
            <a:off x="3165475" y="1108075"/>
            <a:ext cx="5257800" cy="4114800"/>
          </a:xfrm>
          <a:custGeom>
            <a:avLst/>
            <a:gdLst>
              <a:gd name="T0" fmla="*/ 5257800 w 5257800"/>
              <a:gd name="T1" fmla="*/ 2057400 h 4114800"/>
              <a:gd name="T2" fmla="*/ 2628900 w 5257800"/>
              <a:gd name="T3" fmla="*/ 4114800 h 4114800"/>
              <a:gd name="T4" fmla="*/ 0 w 5257800"/>
              <a:gd name="T5" fmla="*/ 2057400 h 4114800"/>
              <a:gd name="T6" fmla="*/ 2628900 w 5257800"/>
              <a:gd name="T7" fmla="*/ 0 h 41148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5257800"/>
              <a:gd name="T13" fmla="*/ 0 h 4114800"/>
              <a:gd name="T14" fmla="*/ 5182785 w 5257800"/>
              <a:gd name="T15" fmla="*/ 4114800 h 4114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>
            <a:solidFill>
              <a:srgbClr val="C0C0C0"/>
            </a:solidFill>
            <a:miter lim="800000"/>
            <a:headEnd/>
            <a:tailEnd/>
          </a:ln>
          <a:effectLst>
            <a:outerShdw blurRad="63500" dist="38500" dir="7500041" sx="98500" sy="100079" kx="99984" algn="tl" rotWithShape="0">
              <a:srgbClr val="000000">
                <a:alpha val="25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onstantia" pitchFamily="-111" charset="0"/>
            </a:endParaRPr>
          </a:p>
        </p:txBody>
      </p:sp>
      <p:sp>
        <p:nvSpPr>
          <p:cNvPr id="6" name="Right Triangle 5"/>
          <p:cNvSpPr>
            <a:spLocks noChangeArrowheads="1"/>
          </p:cNvSpPr>
          <p:nvPr/>
        </p:nvSpPr>
        <p:spPr bwMode="auto"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  <a:headEnd/>
            <a:tailEnd/>
          </a:ln>
          <a:effectLst>
            <a:outerShdw blurRad="63500" dist="6350" dir="12899787" algn="tl" rotWithShape="0">
              <a:srgbClr val="000000">
                <a:alpha val="46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onstantia" pitchFamily="-111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Constantia" pitchFamily="-111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Constantia" pitchFamily="-111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DABA1-33EF-4337-84B7-EFFA5B103F3C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0CD4B-D8A7-446E-A227-D6CD702F4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B07E9-3DB1-4197-832D-14F85C8C7E7B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FB224-99D3-4649-A8EC-98992750F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03442-ED2C-4D08-92E5-F2378654AC92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2A89C-5A59-42CA-AE82-95384B4B8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Constantia" pitchFamily="-111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Constantia" pitchFamily="-111" charset="0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45C75"/>
                </a:solidFill>
                <a:latin typeface="Constantia" pitchFamily="-111" charset="0"/>
              </a:defRPr>
            </a:lvl1pPr>
          </a:lstStyle>
          <a:p>
            <a:pPr>
              <a:defRPr/>
            </a:pPr>
            <a:fld id="{E37B42A2-ADB8-426B-B506-2C6AB160E8C8}" type="datetime1">
              <a:rPr lang="en-US"/>
              <a:pPr>
                <a:defRPr/>
              </a:pPr>
              <a:t>7/26/2025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45C75"/>
                </a:solidFill>
                <a:latin typeface="Constantia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  <a:latin typeface="Constantia" pitchFamily="-111" charset="0"/>
              </a:defRPr>
            </a:lvl1pPr>
          </a:lstStyle>
          <a:p>
            <a:pPr>
              <a:defRPr/>
            </a:pPr>
            <a:fld id="{2C024631-461B-4CE4-A142-01A584769D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Constantia" pitchFamily="-111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Constantia" pitchFamily="-111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13" r:id="rId2"/>
    <p:sldLayoutId id="2147483922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23" r:id="rId9"/>
    <p:sldLayoutId id="2147483919" r:id="rId10"/>
    <p:sldLayoutId id="21474839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-111" charset="2"/>
        <a:buChar char=""/>
        <a:defRPr sz="2600" kern="12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-111" charset="2"/>
        <a:buChar char=""/>
        <a:defRPr sz="24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-111" charset="2"/>
        <a:buChar char=""/>
        <a:defRPr sz="21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-111" charset="2"/>
        <a:buChar char="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-111" charset="2"/>
        <a:buChar char="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Introduction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regions in the world do not have easy access to fresh drinking water</a:t>
            </a:r>
          </a:p>
          <a:p>
            <a:r>
              <a:rPr lang="en-US" dirty="0" smtClean="0"/>
              <a:t>Desalination process helps remove salts from sea water to make it drinkable</a:t>
            </a:r>
          </a:p>
          <a:p>
            <a:r>
              <a:rPr lang="en-US" b="1" dirty="0" smtClean="0"/>
              <a:t>Pros</a:t>
            </a:r>
            <a:r>
              <a:rPr lang="en-US" dirty="0" smtClean="0"/>
              <a:t>: Brings drinking water to many dry regions</a:t>
            </a:r>
          </a:p>
          <a:p>
            <a:r>
              <a:rPr lang="en-US" b="1" dirty="0" smtClean="0"/>
              <a:t>Cons</a:t>
            </a:r>
            <a:r>
              <a:rPr lang="en-US" dirty="0" smtClean="0"/>
              <a:t>: Expensive</a:t>
            </a:r>
          </a:p>
          <a:p>
            <a:pPr lvl="1"/>
            <a:r>
              <a:rPr lang="en-US" dirty="0" smtClean="0"/>
              <a:t>In some parts of Middle East, a liter of water is more expensive than a liter of gasoline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3894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sz="3200" dirty="0" smtClean="0">
                <a:latin typeface="+mj-lt"/>
              </a:rPr>
              <a:t>Economic expansion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sz="3200" dirty="0" smtClean="0">
                <a:latin typeface="+mj-lt"/>
              </a:rPr>
              <a:t>Agriculture and food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sz="3200" dirty="0" smtClean="0">
                <a:latin typeface="+mj-lt"/>
              </a:rPr>
              <a:t>Public health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sz="3200" dirty="0" smtClean="0">
                <a:latin typeface="+mj-lt"/>
              </a:rPr>
              <a:t>Quality of life</a:t>
            </a:r>
          </a:p>
        </p:txBody>
      </p:sp>
      <p:pic>
        <p:nvPicPr>
          <p:cNvPr id="6147" name="Picture 8" descr="k5369-5i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752600"/>
            <a:ext cx="28194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10" descr="k11662-1i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3200400"/>
            <a:ext cx="2481263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11" descr="800px-Wheat_close-up.JPG.jpe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9000" y="3562350"/>
            <a:ext cx="23622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Title 1"/>
          <p:cNvSpPr>
            <a:spLocks noGrp="1"/>
          </p:cNvSpPr>
          <p:nvPr>
            <p:ph type="title"/>
          </p:nvPr>
        </p:nvSpPr>
        <p:spPr>
          <a:xfrm>
            <a:off x="228600" y="990600"/>
            <a:ext cx="8229600" cy="685800"/>
          </a:xfrm>
        </p:spPr>
        <p:txBody>
          <a:bodyPr/>
          <a:lstStyle/>
          <a:p>
            <a:pPr algn="ctr" eaLnBrk="1" hangingPunct="1"/>
            <a:r>
              <a:rPr lang="en-US" b="1" smtClean="0"/>
              <a:t>Fresh Water Needs</a:t>
            </a:r>
          </a:p>
        </p:txBody>
      </p:sp>
      <p:pic>
        <p:nvPicPr>
          <p:cNvPr id="6151" name="Picture 9" descr="k5052-5i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05400" y="5181600"/>
            <a:ext cx="2293938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704850"/>
          </a:xfrm>
        </p:spPr>
        <p:txBody>
          <a:bodyPr/>
          <a:lstStyle/>
          <a:p>
            <a:r>
              <a:rPr lang="en-US" b="1" smtClean="0"/>
              <a:t>Why Desalination?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667000" y="2057400"/>
            <a:ext cx="6248400" cy="37338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j-lt"/>
              </a:rPr>
              <a:t>75% of the Earth’s surface 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is covered by water</a:t>
            </a:r>
          </a:p>
          <a:p>
            <a:pPr>
              <a:defRPr/>
            </a:pPr>
            <a:r>
              <a:rPr lang="en-US" dirty="0" smtClean="0">
                <a:latin typeface="+mj-lt"/>
              </a:rPr>
              <a:t>97.5% of that water is oceans</a:t>
            </a:r>
          </a:p>
          <a:p>
            <a:pPr>
              <a:defRPr/>
            </a:pPr>
            <a:r>
              <a:rPr lang="en-US" dirty="0" smtClean="0">
                <a:latin typeface="+mj-lt"/>
              </a:rPr>
              <a:t>Only 1% is available for drinking</a:t>
            </a:r>
          </a:p>
          <a:p>
            <a:pPr>
              <a:defRPr/>
            </a:pPr>
            <a:r>
              <a:rPr lang="en-US" dirty="0" smtClean="0">
                <a:latin typeface="+mj-lt"/>
              </a:rPr>
              <a:t>80 countries suffered from water 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scarcity by the mid-1990s</a:t>
            </a:r>
          </a:p>
          <a:p>
            <a:pPr>
              <a:defRPr/>
            </a:pPr>
            <a:r>
              <a:rPr lang="en-US" dirty="0" smtClean="0">
                <a:latin typeface="+mj-lt"/>
              </a:rPr>
              <a:t>1.5 billion people lack ready access </a:t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to drinking water</a:t>
            </a:r>
          </a:p>
        </p:txBody>
      </p:sp>
      <p:pic>
        <p:nvPicPr>
          <p:cNvPr id="7173" name="Picture 5" descr="C:\Users\denise.CARLSON-MOBILE\AppData\Local\Microsoft\Windows\Temporary Internet Files\Content.IE5\1NBVVMLA\MP90044838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000" y="2057400"/>
            <a:ext cx="2336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8229600" cy="762000"/>
          </a:xfrm>
        </p:spPr>
        <p:txBody>
          <a:bodyPr/>
          <a:lstStyle/>
          <a:p>
            <a:r>
              <a:rPr lang="en-US" b="1" smtClean="0"/>
              <a:t>Can we drink salt water?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419600"/>
            <a:ext cx="8686800" cy="2133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j-lt"/>
              </a:rPr>
              <a:t>Small quantities are not harmful, but it is counterproductive (it just makes you more thirsty!)</a:t>
            </a:r>
          </a:p>
          <a:p>
            <a:pPr>
              <a:defRPr/>
            </a:pPr>
            <a:r>
              <a:rPr lang="en-US" dirty="0" smtClean="0">
                <a:latin typeface="+mj-lt"/>
              </a:rPr>
              <a:t>Eventually, it can be dangerous, ultimately producing fatal seizures, heart arrhythmias and kidney failure</a:t>
            </a:r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1066800" y="2343150"/>
            <a:ext cx="39624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>
                <a:latin typeface="Calibri" pitchFamily="-111" charset="0"/>
              </a:rPr>
              <a:t>The Rime of the Ancient Mariner</a:t>
            </a:r>
          </a:p>
          <a:p>
            <a:pPr algn="ctr"/>
            <a:r>
              <a:rPr lang="en-US" i="1">
                <a:solidFill>
                  <a:schemeClr val="accent1"/>
                </a:solidFill>
                <a:latin typeface="Calibri" pitchFamily="-111" charset="0"/>
              </a:rPr>
              <a:t>Water, water, everywhere</a:t>
            </a:r>
          </a:p>
          <a:p>
            <a:pPr algn="ctr"/>
            <a:r>
              <a:rPr lang="en-US" i="1">
                <a:solidFill>
                  <a:schemeClr val="accent1"/>
                </a:solidFill>
                <a:latin typeface="Calibri" pitchFamily="-111" charset="0"/>
              </a:rPr>
              <a:t>And all the boards did shrink</a:t>
            </a:r>
          </a:p>
          <a:p>
            <a:pPr algn="ctr"/>
            <a:r>
              <a:rPr lang="en-US" i="1">
                <a:solidFill>
                  <a:schemeClr val="accent1"/>
                </a:solidFill>
                <a:latin typeface="Calibri" pitchFamily="-111" charset="0"/>
              </a:rPr>
              <a:t>Water, water, everywhere</a:t>
            </a:r>
          </a:p>
          <a:p>
            <a:pPr algn="ctr"/>
            <a:r>
              <a:rPr lang="en-US" i="1">
                <a:solidFill>
                  <a:schemeClr val="accent1"/>
                </a:solidFill>
                <a:latin typeface="Calibri" pitchFamily="-111" charset="0"/>
              </a:rPr>
              <a:t>Nor any drop to drink</a:t>
            </a:r>
          </a:p>
          <a:p>
            <a:pPr algn="ctr"/>
            <a:r>
              <a:rPr lang="en-US" sz="1400">
                <a:latin typeface="Calibri" pitchFamily="-111" charset="0"/>
              </a:rPr>
              <a:t>-Samuel Taylor Coleridge</a:t>
            </a:r>
          </a:p>
        </p:txBody>
      </p:sp>
      <p:pic>
        <p:nvPicPr>
          <p:cNvPr id="8197" name="Picture 5" descr="800px-Amerigo_vespucci_1976_nyc_aufgetakel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286000"/>
            <a:ext cx="271145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52400" y="990600"/>
            <a:ext cx="8915400" cy="685800"/>
          </a:xfrm>
        </p:spPr>
        <p:txBody>
          <a:bodyPr/>
          <a:lstStyle/>
          <a:p>
            <a:r>
              <a:rPr lang="en-US" sz="4800" b="1" smtClean="0">
                <a:solidFill>
                  <a:schemeClr val="accent1"/>
                </a:solidFill>
              </a:rPr>
              <a:t>Natural Desalination:</a:t>
            </a:r>
            <a:r>
              <a:rPr lang="en-US" sz="4800" b="1" smtClean="0"/>
              <a:t> </a:t>
            </a:r>
            <a:r>
              <a:rPr lang="en-US" sz="4800" b="1" smtClean="0">
                <a:solidFill>
                  <a:schemeClr val="tx1"/>
                </a:solidFill>
              </a:rPr>
              <a:t>Water Cycle!</a:t>
            </a:r>
          </a:p>
        </p:txBody>
      </p:sp>
      <p:sp>
        <p:nvSpPr>
          <p:cNvPr id="22531" name="Content Placeholder 2"/>
          <p:cNvSpPr txBox="1">
            <a:spLocks/>
          </p:cNvSpPr>
          <p:nvPr/>
        </p:nvSpPr>
        <p:spPr bwMode="auto">
          <a:xfrm>
            <a:off x="228600" y="2819400"/>
            <a:ext cx="5943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r>
              <a:rPr lang="en-US" sz="3200" b="1" dirty="0">
                <a:solidFill>
                  <a:srgbClr val="00B050"/>
                </a:solidFill>
                <a:latin typeface="+mj-lt"/>
              </a:rPr>
              <a:t>Major Stages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r>
              <a:rPr lang="en-US" sz="2600" dirty="0">
                <a:latin typeface="Calibri" pitchFamily="34" charset="0"/>
                <a:cs typeface="Calibri" pitchFamily="34" charset="0"/>
              </a:rPr>
              <a:t>1. Evaporation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r>
              <a:rPr lang="en-US" sz="2600" dirty="0">
                <a:latin typeface="Calibri" pitchFamily="34" charset="0"/>
                <a:cs typeface="Calibri" pitchFamily="34" charset="0"/>
              </a:rPr>
              <a:t>2. Condensation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r>
              <a:rPr lang="en-US" sz="2600" dirty="0">
                <a:latin typeface="Calibri" pitchFamily="34" charset="0"/>
                <a:cs typeface="Calibri" pitchFamily="34" charset="0"/>
              </a:rPr>
              <a:t>3. Precipitation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r>
              <a:rPr lang="en-US" sz="2600" dirty="0">
                <a:latin typeface="Calibri" pitchFamily="34" charset="0"/>
                <a:cs typeface="Calibri" pitchFamily="34" charset="0"/>
              </a:rPr>
              <a:t>4. Collection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  <a:defRPr/>
            </a:pPr>
            <a:endParaRPr lang="en-US" sz="2600" dirty="0">
              <a:latin typeface="Constantia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defRPr/>
            </a:pPr>
            <a:endParaRPr lang="en-US" sz="2600" dirty="0">
              <a:latin typeface="Constantia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None/>
              <a:defRPr/>
            </a:pPr>
            <a:endParaRPr lang="en-US" sz="2600" dirty="0">
              <a:latin typeface="Constantia" pitchFamily="-111" charset="0"/>
            </a:endParaRPr>
          </a:p>
        </p:txBody>
      </p:sp>
      <p:pic>
        <p:nvPicPr>
          <p:cNvPr id="9220" name="Picture 6" descr="watercyclesummary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133600"/>
            <a:ext cx="6272213" cy="435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PROCEDURES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Reverse Osmosis</a:t>
            </a:r>
          </a:p>
          <a:p>
            <a:pPr eaLnBrk="1" hangingPunct="1"/>
            <a:r>
              <a:rPr lang="en-US" dirty="0" smtClean="0"/>
              <a:t>Distillation</a:t>
            </a:r>
          </a:p>
          <a:p>
            <a:pPr lvl="1" eaLnBrk="1" hangingPunct="1"/>
            <a:r>
              <a:rPr lang="en-US" b="1" dirty="0" smtClean="0"/>
              <a:t>Multistage flash (MSF)</a:t>
            </a:r>
          </a:p>
          <a:p>
            <a:pPr lvl="1" eaLnBrk="1" hangingPunct="1"/>
            <a:r>
              <a:rPr lang="en-US" dirty="0" smtClean="0"/>
              <a:t>Multiple effect distillation (MED)</a:t>
            </a:r>
          </a:p>
          <a:p>
            <a:pPr lvl="1" eaLnBrk="1" hangingPunct="1"/>
            <a:r>
              <a:rPr lang="en-US" dirty="0" smtClean="0"/>
              <a:t>Vapor compression</a:t>
            </a:r>
          </a:p>
          <a:p>
            <a:pPr eaLnBrk="1" hangingPunct="1"/>
            <a:r>
              <a:rPr lang="en-US" dirty="0" smtClean="0"/>
              <a:t>Electro dialysis</a:t>
            </a:r>
          </a:p>
          <a:p>
            <a:pPr eaLnBrk="1" hangingPunct="1"/>
            <a:r>
              <a:rPr lang="en-US" dirty="0" smtClean="0"/>
              <a:t>Vacuum freezing</a:t>
            </a:r>
          </a:p>
          <a:p>
            <a:pPr lvl="1" eaLnBrk="1" hangingPunct="1"/>
            <a:endParaRPr lang="en-US" dirty="0" smtClean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209800"/>
            <a:ext cx="2743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0" y="1600200"/>
            <a:ext cx="9144000" cy="3352800"/>
            <a:chOff x="-76200" y="2895600"/>
            <a:chExt cx="9144000" cy="3352800"/>
          </a:xfrm>
        </p:grpSpPr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1066800" y="4267200"/>
              <a:ext cx="1320451" cy="914400"/>
              <a:chOff x="1981200" y="4343400"/>
              <a:chExt cx="1320451" cy="914400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1981200" y="43434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81" name="TextBox 5"/>
              <p:cNvSpPr txBox="1">
                <a:spLocks noChangeArrowheads="1"/>
              </p:cNvSpPr>
              <p:nvPr/>
            </p:nvSpPr>
            <p:spPr bwMode="auto">
              <a:xfrm>
                <a:off x="2057400" y="4648200"/>
                <a:ext cx="124425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evaporator</a:t>
                </a: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819400" y="3200400"/>
              <a:ext cx="1296406" cy="914400"/>
              <a:chOff x="3657600" y="4419600"/>
              <a:chExt cx="1296406" cy="914400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3657600" y="44196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79" name="TextBox 7"/>
              <p:cNvSpPr txBox="1">
                <a:spLocks noChangeArrowheads="1"/>
              </p:cNvSpPr>
              <p:nvPr/>
            </p:nvSpPr>
            <p:spPr bwMode="auto">
              <a:xfrm>
                <a:off x="3733800" y="4724400"/>
                <a:ext cx="1220206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condenser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6096000" y="3048000"/>
              <a:ext cx="1298009" cy="914400"/>
              <a:chOff x="5257800" y="4419600"/>
              <a:chExt cx="1298009" cy="914400"/>
            </a:xfrm>
          </p:grpSpPr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5257800" y="44196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77" name="TextBox 9"/>
              <p:cNvSpPr txBox="1">
                <a:spLocks noChangeArrowheads="1"/>
              </p:cNvSpPr>
              <p:nvPr/>
            </p:nvSpPr>
            <p:spPr bwMode="auto">
              <a:xfrm>
                <a:off x="5334000" y="4724400"/>
                <a:ext cx="122180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membrane</a:t>
                </a:r>
              </a:p>
            </p:txBody>
          </p:sp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819400" y="4724400"/>
              <a:ext cx="1320451" cy="914400"/>
              <a:chOff x="2819400" y="5410200"/>
              <a:chExt cx="1320451" cy="914400"/>
            </a:xfrm>
          </p:grpSpPr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2819400" y="54102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75" name="TextBox 12"/>
              <p:cNvSpPr txBox="1">
                <a:spLocks noChangeArrowheads="1"/>
              </p:cNvSpPr>
              <p:nvPr/>
            </p:nvSpPr>
            <p:spPr bwMode="auto">
              <a:xfrm>
                <a:off x="2895600" y="5715000"/>
                <a:ext cx="124425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evaporator</a:t>
                </a:r>
              </a:p>
            </p:txBody>
          </p:sp>
        </p:grpSp>
        <p:grpSp>
          <p:nvGrpSpPr>
            <p:cNvPr id="10" name="Group 15"/>
            <p:cNvGrpSpPr>
              <a:grpSpLocks/>
            </p:cNvGrpSpPr>
            <p:nvPr/>
          </p:nvGrpSpPr>
          <p:grpSpPr bwMode="auto">
            <a:xfrm>
              <a:off x="4800600" y="4267200"/>
              <a:ext cx="1296406" cy="914400"/>
              <a:chOff x="3657600" y="4419600"/>
              <a:chExt cx="1296406" cy="914400"/>
            </a:xfrm>
          </p:grpSpPr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3657600" y="44196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73" name="TextBox 17"/>
              <p:cNvSpPr txBox="1">
                <a:spLocks noChangeArrowheads="1"/>
              </p:cNvSpPr>
              <p:nvPr/>
            </p:nvSpPr>
            <p:spPr bwMode="auto">
              <a:xfrm>
                <a:off x="3733800" y="4724400"/>
                <a:ext cx="1220206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condenser</a:t>
                </a:r>
              </a:p>
            </p:txBody>
          </p:sp>
        </p:grpSp>
        <p:sp>
          <p:nvSpPr>
            <p:cNvPr id="14348" name="TextBox 21"/>
            <p:cNvSpPr txBox="1">
              <a:spLocks noChangeArrowheads="1"/>
            </p:cNvSpPr>
            <p:nvPr/>
          </p:nvSpPr>
          <p:spPr bwMode="auto">
            <a:xfrm>
              <a:off x="-76200" y="4278868"/>
              <a:ext cx="110799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saltwater</a:t>
              </a:r>
            </a:p>
          </p:txBody>
        </p:sp>
        <p:cxnSp>
          <p:nvCxnSpPr>
            <p:cNvPr id="24" name="Straight Arrow Connector 23"/>
            <p:cNvCxnSpPr>
              <a:cxnSpLocks noChangeShapeType="1"/>
            </p:cNvCxnSpPr>
            <p:nvPr/>
          </p:nvCxnSpPr>
          <p:spPr bwMode="auto">
            <a:xfrm>
              <a:off x="381000" y="4724400"/>
              <a:ext cx="685800" cy="1588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cxnSp>
          <p:nvCxnSpPr>
            <p:cNvPr id="26" name="Shape 25"/>
            <p:cNvCxnSpPr>
              <a:cxnSpLocks noChangeShapeType="1"/>
              <a:endCxn id="7" idx="1"/>
            </p:cNvCxnSpPr>
            <p:nvPr/>
          </p:nvCxnSpPr>
          <p:spPr bwMode="auto">
            <a:xfrm rot="5400000" flipH="1" flipV="1">
              <a:off x="2209800" y="3810000"/>
              <a:ext cx="762000" cy="457200"/>
            </a:xfrm>
            <a:prstGeom prst="bentConnector2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cxnSp>
          <p:nvCxnSpPr>
            <p:cNvPr id="28" name="Elbow Connector 27"/>
            <p:cNvCxnSpPr>
              <a:cxnSpLocks noChangeShapeType="1"/>
              <a:stCxn id="5" idx="3"/>
              <a:endCxn id="12" idx="1"/>
            </p:cNvCxnSpPr>
            <p:nvPr/>
          </p:nvCxnSpPr>
          <p:spPr bwMode="auto">
            <a:xfrm>
              <a:off x="2362200" y="4724400"/>
              <a:ext cx="457200" cy="45720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sp>
          <p:nvSpPr>
            <p:cNvPr id="14352" name="TextBox 29"/>
            <p:cNvSpPr txBox="1">
              <a:spLocks noChangeArrowheads="1"/>
            </p:cNvSpPr>
            <p:nvPr/>
          </p:nvSpPr>
          <p:spPr bwMode="auto">
            <a:xfrm>
              <a:off x="2019181" y="3276600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vapor</a:t>
              </a:r>
            </a:p>
          </p:txBody>
        </p:sp>
        <p:sp>
          <p:nvSpPr>
            <p:cNvPr id="14353" name="TextBox 30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7235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brine</a:t>
              </a:r>
            </a:p>
          </p:txBody>
        </p:sp>
        <p:cxnSp>
          <p:nvCxnSpPr>
            <p:cNvPr id="33" name="Elbow Connector 32"/>
            <p:cNvCxnSpPr>
              <a:cxnSpLocks noChangeShapeType="1"/>
              <a:stCxn id="12" idx="3"/>
              <a:endCxn id="17" idx="1"/>
            </p:cNvCxnSpPr>
            <p:nvPr/>
          </p:nvCxnSpPr>
          <p:spPr bwMode="auto">
            <a:xfrm flipV="1">
              <a:off x="4114800" y="4724400"/>
              <a:ext cx="685800" cy="45720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sp>
          <p:nvSpPr>
            <p:cNvPr id="14355" name="TextBox 34"/>
            <p:cNvSpPr txBox="1">
              <a:spLocks noChangeArrowheads="1"/>
            </p:cNvSpPr>
            <p:nvPr/>
          </p:nvSpPr>
          <p:spPr bwMode="auto">
            <a:xfrm>
              <a:off x="4076581" y="4355068"/>
              <a:ext cx="761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vapor</a:t>
              </a:r>
            </a:p>
          </p:txBody>
        </p:sp>
        <p:grpSp>
          <p:nvGrpSpPr>
            <p:cNvPr id="11" name="Group 35"/>
            <p:cNvGrpSpPr>
              <a:grpSpLocks/>
            </p:cNvGrpSpPr>
            <p:nvPr/>
          </p:nvGrpSpPr>
          <p:grpSpPr bwMode="auto">
            <a:xfrm>
              <a:off x="6738938" y="5334000"/>
              <a:ext cx="1311011" cy="914400"/>
              <a:chOff x="5257622" y="4419600"/>
              <a:chExt cx="1311011" cy="914400"/>
            </a:xfrm>
          </p:grpSpPr>
          <p:sp>
            <p:nvSpPr>
              <p:cNvPr id="37" name="Rectangle 36"/>
              <p:cNvSpPr>
                <a:spLocks noChangeArrowheads="1"/>
              </p:cNvSpPr>
              <p:nvPr/>
            </p:nvSpPr>
            <p:spPr bwMode="auto">
              <a:xfrm>
                <a:off x="5257622" y="44196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71" name="TextBox 37"/>
              <p:cNvSpPr txBox="1">
                <a:spLocks noChangeArrowheads="1"/>
              </p:cNvSpPr>
              <p:nvPr/>
            </p:nvSpPr>
            <p:spPr bwMode="auto">
              <a:xfrm>
                <a:off x="5334000" y="4724400"/>
                <a:ext cx="1234633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waste tank</a:t>
                </a:r>
              </a:p>
            </p:txBody>
          </p:sp>
        </p:grpSp>
        <p:grpSp>
          <p:nvGrpSpPr>
            <p:cNvPr id="13" name="Group 41"/>
            <p:cNvGrpSpPr>
              <a:grpSpLocks/>
            </p:cNvGrpSpPr>
            <p:nvPr/>
          </p:nvGrpSpPr>
          <p:grpSpPr bwMode="auto">
            <a:xfrm>
              <a:off x="7729538" y="3810000"/>
              <a:ext cx="1324436" cy="914400"/>
              <a:chOff x="7348538" y="4343400"/>
              <a:chExt cx="1324436" cy="914400"/>
            </a:xfrm>
          </p:grpSpPr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7348538" y="4343400"/>
                <a:ext cx="1295400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>
                <a:outerShdw dist="38100" dir="5400000" algn="ctr" rotWithShape="0">
                  <a:srgbClr val="002041">
                    <a:alpha val="4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Constantia" pitchFamily="-111" charset="0"/>
                </a:endParaRPr>
              </a:p>
            </p:txBody>
          </p:sp>
          <p:sp>
            <p:nvSpPr>
              <p:cNvPr id="14369" name="TextBox 40"/>
              <p:cNvSpPr txBox="1">
                <a:spLocks noChangeArrowheads="1"/>
              </p:cNvSpPr>
              <p:nvPr/>
            </p:nvSpPr>
            <p:spPr bwMode="auto">
              <a:xfrm>
                <a:off x="7369412" y="4648200"/>
                <a:ext cx="1303562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clean water</a:t>
                </a:r>
              </a:p>
            </p:txBody>
          </p:sp>
        </p:grpSp>
        <p:cxnSp>
          <p:nvCxnSpPr>
            <p:cNvPr id="44" name="Elbow Connector 43"/>
            <p:cNvCxnSpPr>
              <a:cxnSpLocks noChangeShapeType="1"/>
              <a:stCxn id="14373" idx="3"/>
              <a:endCxn id="9" idx="2"/>
            </p:cNvCxnSpPr>
            <p:nvPr/>
          </p:nvCxnSpPr>
          <p:spPr bwMode="auto">
            <a:xfrm flipV="1">
              <a:off x="6097588" y="3962400"/>
              <a:ext cx="646112" cy="779463"/>
            </a:xfrm>
            <a:prstGeom prst="bentConnector2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cxnSp>
          <p:nvCxnSpPr>
            <p:cNvPr id="47" name="Elbow Connector 46"/>
            <p:cNvCxnSpPr>
              <a:cxnSpLocks noChangeShapeType="1"/>
              <a:stCxn id="14379" idx="3"/>
              <a:endCxn id="9" idx="1"/>
            </p:cNvCxnSpPr>
            <p:nvPr/>
          </p:nvCxnSpPr>
          <p:spPr bwMode="auto">
            <a:xfrm flipV="1">
              <a:off x="4116388" y="3505200"/>
              <a:ext cx="1979612" cy="16986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sp>
          <p:nvSpPr>
            <p:cNvPr id="14360" name="TextBox 48"/>
            <p:cNvSpPr txBox="1">
              <a:spLocks noChangeArrowheads="1"/>
            </p:cNvSpPr>
            <p:nvPr/>
          </p:nvSpPr>
          <p:spPr bwMode="auto">
            <a:xfrm>
              <a:off x="4648200" y="3124200"/>
              <a:ext cx="838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water</a:t>
              </a:r>
            </a:p>
          </p:txBody>
        </p:sp>
        <p:sp>
          <p:nvSpPr>
            <p:cNvPr id="14361" name="TextBox 49"/>
            <p:cNvSpPr txBox="1">
              <a:spLocks noChangeArrowheads="1"/>
            </p:cNvSpPr>
            <p:nvPr/>
          </p:nvSpPr>
          <p:spPr bwMode="auto">
            <a:xfrm>
              <a:off x="6096000" y="4724400"/>
              <a:ext cx="838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water</a:t>
              </a:r>
            </a:p>
          </p:txBody>
        </p:sp>
        <p:cxnSp>
          <p:nvCxnSpPr>
            <p:cNvPr id="52" name="Elbow Connector 51"/>
            <p:cNvCxnSpPr>
              <a:cxnSpLocks noChangeShapeType="1"/>
              <a:stCxn id="9" idx="3"/>
              <a:endCxn id="40" idx="0"/>
            </p:cNvCxnSpPr>
            <p:nvPr/>
          </p:nvCxnSpPr>
          <p:spPr bwMode="auto">
            <a:xfrm>
              <a:off x="7391400" y="3505200"/>
              <a:ext cx="985838" cy="304800"/>
            </a:xfrm>
            <a:prstGeom prst="bentConnector2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cxnSp>
          <p:nvCxnSpPr>
            <p:cNvPr id="55" name="Elbow Connector 54"/>
            <p:cNvCxnSpPr>
              <a:cxnSpLocks noChangeShapeType="1"/>
              <a:stCxn id="12" idx="2"/>
              <a:endCxn id="37" idx="1"/>
            </p:cNvCxnSpPr>
            <p:nvPr/>
          </p:nvCxnSpPr>
          <p:spPr bwMode="auto">
            <a:xfrm rot="16200000" flipH="1">
              <a:off x="5026819" y="4079081"/>
              <a:ext cx="152400" cy="3271838"/>
            </a:xfrm>
            <a:prstGeom prst="bentConnector2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cxnSp>
          <p:nvCxnSpPr>
            <p:cNvPr id="58" name="Elbow Connector 57"/>
            <p:cNvCxnSpPr>
              <a:cxnSpLocks noChangeShapeType="1"/>
              <a:stCxn id="14377" idx="3"/>
              <a:endCxn id="37" idx="0"/>
            </p:cNvCxnSpPr>
            <p:nvPr/>
          </p:nvCxnSpPr>
          <p:spPr bwMode="auto">
            <a:xfrm flipH="1">
              <a:off x="7386638" y="3522663"/>
              <a:ext cx="7937" cy="1811337"/>
            </a:xfrm>
            <a:prstGeom prst="bentConnector4">
              <a:avLst>
                <a:gd name="adj1" fmla="val -3101343"/>
                <a:gd name="adj2" fmla="val 54671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 type="triangle" w="med" len="med"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</p:cxnSp>
        <p:sp>
          <p:nvSpPr>
            <p:cNvPr id="14365" name="TextBox 59"/>
            <p:cNvSpPr txBox="1">
              <a:spLocks noChangeArrowheads="1"/>
            </p:cNvSpPr>
            <p:nvPr/>
          </p:nvSpPr>
          <p:spPr bwMode="auto">
            <a:xfrm>
              <a:off x="7924800" y="2895600"/>
              <a:ext cx="11430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drinking water</a:t>
              </a:r>
            </a:p>
          </p:txBody>
        </p:sp>
        <p:sp>
          <p:nvSpPr>
            <p:cNvPr id="14366" name="TextBox 60"/>
            <p:cNvSpPr txBox="1">
              <a:spLocks noChangeArrowheads="1"/>
            </p:cNvSpPr>
            <p:nvPr/>
          </p:nvSpPr>
          <p:spPr bwMode="auto">
            <a:xfrm>
              <a:off x="7582262" y="4876800"/>
              <a:ext cx="7235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brine</a:t>
              </a:r>
            </a:p>
          </p:txBody>
        </p:sp>
        <p:sp>
          <p:nvSpPr>
            <p:cNvPr id="14367" name="TextBox 61"/>
            <p:cNvSpPr txBox="1">
              <a:spLocks noChangeArrowheads="1"/>
            </p:cNvSpPr>
            <p:nvPr/>
          </p:nvSpPr>
          <p:spPr bwMode="auto">
            <a:xfrm>
              <a:off x="4724400" y="5410200"/>
              <a:ext cx="7235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brine</a:t>
              </a:r>
            </a:p>
          </p:txBody>
        </p:sp>
      </p:grpSp>
      <p:sp>
        <p:nvSpPr>
          <p:cNvPr id="14342" name="Content Placeholder 2"/>
          <p:cNvSpPr txBox="1">
            <a:spLocks/>
          </p:cNvSpPr>
          <p:nvPr/>
        </p:nvSpPr>
        <p:spPr bwMode="auto">
          <a:xfrm>
            <a:off x="228600" y="5516563"/>
            <a:ext cx="7162800" cy="111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sz="2200" i="1">
                <a:solidFill>
                  <a:srgbClr val="00B050"/>
                </a:solidFill>
                <a:latin typeface="Calibri" pitchFamily="-111" charset="0"/>
              </a:rPr>
              <a:t>     Example: </a:t>
            </a:r>
            <a:r>
              <a:rPr lang="en-US" sz="2200">
                <a:solidFill>
                  <a:srgbClr val="00B050"/>
                </a:solidFill>
                <a:latin typeface="Calibri" pitchFamily="-111" charset="0"/>
              </a:rPr>
              <a:t>This plant uses two evaporators and </a:t>
            </a:r>
            <a:br>
              <a:rPr lang="en-US" sz="2200">
                <a:solidFill>
                  <a:srgbClr val="00B050"/>
                </a:solidFill>
                <a:latin typeface="Calibri" pitchFamily="-111" charset="0"/>
              </a:rPr>
            </a:br>
            <a:r>
              <a:rPr lang="en-US" sz="2200">
                <a:solidFill>
                  <a:srgbClr val="00B050"/>
                </a:solidFill>
                <a:latin typeface="Calibri" pitchFamily="-111" charset="0"/>
              </a:rPr>
              <a:t>condensers along with a membrane filter to clean saltwater (follow the arrows though the diagram)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Reverse Osmosis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Water pressure increased</a:t>
            </a:r>
          </a:p>
          <a:p>
            <a:pPr eaLnBrk="1" hangingPunct="1"/>
            <a:r>
              <a:rPr lang="en-US" smtClean="0"/>
              <a:t>Pumped through permeable membranes</a:t>
            </a:r>
          </a:p>
          <a:p>
            <a:pPr eaLnBrk="1" hangingPunct="1"/>
            <a:r>
              <a:rPr lang="en-US" smtClean="0"/>
              <a:t>Salts separated from water due to membranes</a:t>
            </a:r>
          </a:p>
          <a:p>
            <a:pPr eaLnBrk="1" hangingPunct="1"/>
            <a:r>
              <a:rPr lang="en-US" smtClean="0"/>
              <a:t>Most desalination plants utilize this technology</a:t>
            </a: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114800"/>
            <a:ext cx="78835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smtClean="0"/>
              <a:t>Multi Stage flash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724400"/>
          </a:xfrm>
        </p:spPr>
        <p:txBody>
          <a:bodyPr/>
          <a:lstStyle/>
          <a:p>
            <a:pPr eaLnBrk="1" hangingPunct="1"/>
            <a:r>
              <a:rPr lang="en-US" smtClean="0"/>
              <a:t>Steam is used to heat tubes of saline water</a:t>
            </a:r>
          </a:p>
          <a:p>
            <a:pPr eaLnBrk="1" hangingPunct="1"/>
            <a:r>
              <a:rPr lang="en-US" smtClean="0"/>
              <a:t>Heated water flows into “stages” that are at lower pressure</a:t>
            </a:r>
          </a:p>
          <a:p>
            <a:pPr eaLnBrk="1" hangingPunct="1"/>
            <a:r>
              <a:rPr lang="en-US" smtClean="0"/>
              <a:t>Water boils rapidly and “flashes” into steam</a:t>
            </a:r>
          </a:p>
          <a:p>
            <a:pPr eaLnBrk="1" hangingPunct="1"/>
            <a:endParaRPr lang="en-US" smtClean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155950"/>
            <a:ext cx="6673850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smtClean="0"/>
              <a:t>Generally, only a small amount converts to steam since rapid vaporization results in cooling of water</a:t>
            </a:r>
          </a:p>
          <a:p>
            <a:r>
              <a:rPr lang="en-US" smtClean="0"/>
              <a:t>Thus water is flashed multiple times in different stages at lower pressures, requiring no extra heat</a:t>
            </a:r>
          </a:p>
          <a:p>
            <a:r>
              <a:rPr lang="en-US" smtClean="0"/>
              <a:t>But, multi stage flashing reduces thermal efficiency</a:t>
            </a:r>
          </a:p>
          <a:p>
            <a:pPr eaLnBrk="1" hangingPunct="1"/>
            <a:r>
              <a:rPr lang="en-US" smtClean="0"/>
              <a:t>85% of world’s desalinated water is generated through MSF</a:t>
            </a:r>
          </a:p>
          <a:p>
            <a:pPr eaLnBrk="1" hangingPunct="1"/>
            <a:r>
              <a:rPr lang="en-US" smtClean="0"/>
              <a:t>Recently the equipment has become cheaper</a:t>
            </a:r>
          </a:p>
          <a:p>
            <a:endParaRPr lang="en-US" smtClean="0"/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smtClean="0"/>
              <a:t>Multi Stage flash (cont…)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desalinationprocess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2971800"/>
            <a:ext cx="24511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8229600" cy="781050"/>
          </a:xfrm>
        </p:spPr>
        <p:txBody>
          <a:bodyPr/>
          <a:lstStyle/>
          <a:p>
            <a:r>
              <a:rPr lang="en-US" b="1" smtClean="0"/>
              <a:t>Desalination Technologies</a:t>
            </a: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76200" y="1752600"/>
            <a:ext cx="6629400" cy="1905000"/>
          </a:xfrm>
        </p:spPr>
        <p:txBody>
          <a:bodyPr/>
          <a:lstStyle/>
          <a:p>
            <a:pPr marL="514350" indent="-514350">
              <a:buNone/>
              <a:defRPr/>
            </a:pPr>
            <a:r>
              <a:rPr lang="en-US" dirty="0" smtClean="0">
                <a:latin typeface="+mj-lt"/>
              </a:rPr>
              <a:t>Thermal Desalination Processes</a:t>
            </a:r>
          </a:p>
          <a:p>
            <a:pPr lvl="1">
              <a:defRPr/>
            </a:pPr>
            <a:r>
              <a:rPr lang="en-US" sz="2600" dirty="0" smtClean="0">
                <a:latin typeface="+mj-lt"/>
              </a:rPr>
              <a:t>Similar to the Earth’s natural water cycle</a:t>
            </a:r>
          </a:p>
          <a:p>
            <a:pPr lvl="1">
              <a:defRPr/>
            </a:pPr>
            <a:r>
              <a:rPr lang="en-US" sz="2600" dirty="0" smtClean="0">
                <a:latin typeface="+mj-lt"/>
              </a:rPr>
              <a:t>Water is heated, evaporated and collected</a:t>
            </a:r>
          </a:p>
          <a:p>
            <a:pPr lvl="1">
              <a:defRPr/>
            </a:pPr>
            <a:r>
              <a:rPr lang="en-US" sz="2600" dirty="0" smtClean="0">
                <a:latin typeface="+mj-lt"/>
              </a:rPr>
              <a:t>Produces clean water and brine</a:t>
            </a:r>
          </a:p>
        </p:txBody>
      </p:sp>
      <p:sp>
        <p:nvSpPr>
          <p:cNvPr id="10245" name="Content Placeholder 2"/>
          <p:cNvSpPr txBox="1">
            <a:spLocks/>
          </p:cNvSpPr>
          <p:nvPr/>
        </p:nvSpPr>
        <p:spPr bwMode="auto">
          <a:xfrm>
            <a:off x="533400" y="4191000"/>
            <a:ext cx="5715000" cy="233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sz="2000" i="1">
                <a:solidFill>
                  <a:srgbClr val="0000FF"/>
                </a:solidFill>
                <a:latin typeface="Calibri" pitchFamily="-111" charset="0"/>
              </a:rPr>
              <a:t>Example: </a:t>
            </a: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Multi-Stage Flash Desalination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Process uses multiple boiling chambers kept at different atmospheric pressures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Saltwater enters the system and is boiled and evaporated in each chamber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Process produces clean water and brine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8229600" cy="781050"/>
          </a:xfrm>
        </p:spPr>
        <p:txBody>
          <a:bodyPr/>
          <a:lstStyle/>
          <a:p>
            <a:r>
              <a:rPr lang="en-US" b="1" smtClean="0"/>
              <a:t>Desalination Technologies</a:t>
            </a:r>
          </a:p>
        </p:txBody>
      </p:sp>
      <p:sp>
        <p:nvSpPr>
          <p:cNvPr id="11267" name="Content Placeholder 2"/>
          <p:cNvSpPr txBox="1">
            <a:spLocks/>
          </p:cNvSpPr>
          <p:nvPr/>
        </p:nvSpPr>
        <p:spPr bwMode="auto">
          <a:xfrm>
            <a:off x="152400" y="1752600"/>
            <a:ext cx="8610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sz="2600" dirty="0">
                <a:latin typeface="Calibri" pitchFamily="-111" charset="0"/>
              </a:rPr>
              <a:t>Membrane Desalination Processes</a:t>
            </a:r>
          </a:p>
          <a:p>
            <a:pPr marL="730250" lvl="1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600" dirty="0">
                <a:latin typeface="Calibri" pitchFamily="-111" charset="0"/>
              </a:rPr>
              <a:t>Saltwater is forced through membrane sheets at high pressures</a:t>
            </a:r>
          </a:p>
          <a:p>
            <a:pPr marL="730250" lvl="1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600" dirty="0">
                <a:latin typeface="Calibri" pitchFamily="-111" charset="0"/>
              </a:rPr>
              <a:t>Membrane sheets are designed to catch salt ions</a:t>
            </a:r>
          </a:p>
          <a:p>
            <a:pPr marL="730250" lvl="1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600" dirty="0">
                <a:latin typeface="Calibri" pitchFamily="-111" charset="0"/>
              </a:rPr>
              <a:t>Process produces clean water and brine</a:t>
            </a:r>
          </a:p>
        </p:txBody>
      </p:sp>
      <p:sp>
        <p:nvSpPr>
          <p:cNvPr id="11268" name="Content Placeholder 2"/>
          <p:cNvSpPr txBox="1">
            <a:spLocks/>
          </p:cNvSpPr>
          <p:nvPr/>
        </p:nvSpPr>
        <p:spPr bwMode="auto">
          <a:xfrm>
            <a:off x="685800" y="4343400"/>
            <a:ext cx="5257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Example: Reverse Osmosis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Saltwater is forced through a membrane at 600 to 1000 psi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000">
                <a:solidFill>
                  <a:srgbClr val="0000FF"/>
                </a:solidFill>
                <a:latin typeface="Calibri" pitchFamily="-111" charset="0"/>
              </a:rPr>
              <a:t>Multiple layers of membranes remove as many of the salt ions as possible</a:t>
            </a:r>
          </a:p>
        </p:txBody>
      </p:sp>
      <p:grpSp>
        <p:nvGrpSpPr>
          <p:cNvPr id="11269" name="Group 7"/>
          <p:cNvGrpSpPr>
            <a:grpSpLocks/>
          </p:cNvGrpSpPr>
          <p:nvPr/>
        </p:nvGrpSpPr>
        <p:grpSpPr bwMode="auto">
          <a:xfrm>
            <a:off x="6096000" y="4346575"/>
            <a:ext cx="2362200" cy="1749425"/>
            <a:chOff x="3048000" y="1676400"/>
            <a:chExt cx="2667000" cy="2130050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162835" y="1676400"/>
              <a:ext cx="485724" cy="213005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276600" y="2362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657600" y="20574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810000" y="24384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276600" y="28194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810000" y="34290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3657600" y="3124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200400" y="32766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200400" y="1981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2743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19" name="Chord 18"/>
            <p:cNvSpPr>
              <a:spLocks noChangeArrowheads="1"/>
            </p:cNvSpPr>
            <p:nvPr/>
          </p:nvSpPr>
          <p:spPr bwMode="auto">
            <a:xfrm>
              <a:off x="3048000" y="3048755"/>
              <a:ext cx="381769" cy="150766"/>
            </a:xfrm>
            <a:custGeom>
              <a:avLst/>
              <a:gdLst>
                <a:gd name="T0" fmla="*/ 260998 w 381769"/>
                <a:gd name="T1" fmla="*/ 145497 h 150766"/>
                <a:gd name="T2" fmla="*/ 190884 w 381769"/>
                <a:gd name="T3" fmla="*/ 0 h 150766"/>
                <a:gd name="T4" fmla="*/ 225941 w 381769"/>
                <a:gd name="T5" fmla="*/ 72748 h 150766"/>
                <a:gd name="T6" fmla="*/ 1 60000 65536"/>
                <a:gd name="T7" fmla="*/ 3 60000 65536"/>
                <a:gd name="T8" fmla="*/ 4 60000 65536"/>
                <a:gd name="T9" fmla="*/ 55909 w 381769"/>
                <a:gd name="T10" fmla="*/ 22079 h 150766"/>
                <a:gd name="T11" fmla="*/ 325860 w 381769"/>
                <a:gd name="T12" fmla="*/ 128687 h 1507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769" h="150766">
                  <a:moveTo>
                    <a:pt x="260998" y="145497"/>
                  </a:moveTo>
                  <a:lnTo>
                    <a:pt x="260997" y="145496"/>
                  </a:lnTo>
                  <a:cubicBezTo>
                    <a:pt x="238673" y="148978"/>
                    <a:pt x="214886" y="150765"/>
                    <a:pt x="190884" y="150766"/>
                  </a:cubicBezTo>
                  <a:cubicBezTo>
                    <a:pt x="85461" y="150766"/>
                    <a:pt x="-1" y="117015"/>
                    <a:pt x="-1" y="75383"/>
                  </a:cubicBezTo>
                  <a:cubicBezTo>
                    <a:pt x="-2" y="33750"/>
                    <a:pt x="85461" y="0"/>
                    <a:pt x="190883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0" name="Chord 19"/>
            <p:cNvSpPr>
              <a:spLocks noChangeArrowheads="1"/>
            </p:cNvSpPr>
            <p:nvPr/>
          </p:nvSpPr>
          <p:spPr bwMode="auto">
            <a:xfrm>
              <a:off x="3505047" y="2437961"/>
              <a:ext cx="381768" cy="152699"/>
            </a:xfrm>
            <a:custGeom>
              <a:avLst/>
              <a:gdLst>
                <a:gd name="T0" fmla="*/ 261773 w 381768"/>
                <a:gd name="T1" fmla="*/ 147239 h 152699"/>
                <a:gd name="T2" fmla="*/ 190884 w 381768"/>
                <a:gd name="T3" fmla="*/ 0 h 152699"/>
                <a:gd name="T4" fmla="*/ 226329 w 381768"/>
                <a:gd name="T5" fmla="*/ 73619 h 152699"/>
                <a:gd name="T6" fmla="*/ 1 60000 65536"/>
                <a:gd name="T7" fmla="*/ 3 60000 65536"/>
                <a:gd name="T8" fmla="*/ 4 60000 65536"/>
                <a:gd name="T9" fmla="*/ 55909 w 381768"/>
                <a:gd name="T10" fmla="*/ 22362 h 152699"/>
                <a:gd name="T11" fmla="*/ 325859 w 381768"/>
                <a:gd name="T12" fmla="*/ 130337 h 152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768" h="152699">
                  <a:moveTo>
                    <a:pt x="261773" y="147239"/>
                  </a:moveTo>
                  <a:lnTo>
                    <a:pt x="261772" y="147238"/>
                  </a:lnTo>
                  <a:cubicBezTo>
                    <a:pt x="239226" y="150845"/>
                    <a:pt x="215166" y="152698"/>
                    <a:pt x="190883" y="152699"/>
                  </a:cubicBezTo>
                  <a:cubicBezTo>
                    <a:pt x="85460" y="152699"/>
                    <a:pt x="-1" y="118515"/>
                    <a:pt x="-1" y="76349"/>
                  </a:cubicBezTo>
                  <a:cubicBezTo>
                    <a:pt x="-2" y="34182"/>
                    <a:pt x="85460" y="-1"/>
                    <a:pt x="190882" y="-1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1" name="Chord 20"/>
            <p:cNvSpPr>
              <a:spLocks noChangeArrowheads="1"/>
            </p:cNvSpPr>
            <p:nvPr/>
          </p:nvSpPr>
          <p:spPr bwMode="auto">
            <a:xfrm>
              <a:off x="3429769" y="1904482"/>
              <a:ext cx="379976" cy="152699"/>
            </a:xfrm>
            <a:custGeom>
              <a:avLst/>
              <a:gdLst>
                <a:gd name="T0" fmla="*/ 260831 w 379976"/>
                <a:gd name="T1" fmla="*/ 147193 h 152699"/>
                <a:gd name="T2" fmla="*/ 189988 w 379976"/>
                <a:gd name="T3" fmla="*/ 0 h 152699"/>
                <a:gd name="T4" fmla="*/ 225410 w 379976"/>
                <a:gd name="T5" fmla="*/ 73596 h 152699"/>
                <a:gd name="T6" fmla="*/ 1 60000 65536"/>
                <a:gd name="T7" fmla="*/ 3 60000 65536"/>
                <a:gd name="T8" fmla="*/ 4 60000 65536"/>
                <a:gd name="T9" fmla="*/ 55646 w 379976"/>
                <a:gd name="T10" fmla="*/ 22362 h 152699"/>
                <a:gd name="T11" fmla="*/ 324330 w 379976"/>
                <a:gd name="T12" fmla="*/ 130337 h 152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976" h="152699">
                  <a:moveTo>
                    <a:pt x="260831" y="147193"/>
                  </a:moveTo>
                  <a:lnTo>
                    <a:pt x="260831" y="147193"/>
                  </a:lnTo>
                  <a:cubicBezTo>
                    <a:pt x="238309" y="150830"/>
                    <a:pt x="214260" y="152699"/>
                    <a:pt x="189988" y="152700"/>
                  </a:cubicBezTo>
                  <a:cubicBezTo>
                    <a:pt x="85060" y="152700"/>
                    <a:pt x="0" y="118516"/>
                    <a:pt x="0" y="76350"/>
                  </a:cubicBezTo>
                  <a:cubicBezTo>
                    <a:pt x="-1" y="34183"/>
                    <a:pt x="85060" y="0"/>
                    <a:pt x="189987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2" name="Chord 21"/>
            <p:cNvSpPr>
              <a:spLocks noChangeArrowheads="1"/>
            </p:cNvSpPr>
            <p:nvPr/>
          </p:nvSpPr>
          <p:spPr bwMode="auto">
            <a:xfrm>
              <a:off x="3809745" y="1829099"/>
              <a:ext cx="381768" cy="152698"/>
            </a:xfrm>
            <a:custGeom>
              <a:avLst/>
              <a:gdLst>
                <a:gd name="T0" fmla="*/ 261773 w 381768"/>
                <a:gd name="T1" fmla="*/ 147238 h 152698"/>
                <a:gd name="T2" fmla="*/ 190884 w 381768"/>
                <a:gd name="T3" fmla="*/ 0 h 152698"/>
                <a:gd name="T4" fmla="*/ 226328 w 381768"/>
                <a:gd name="T5" fmla="*/ 73619 h 152698"/>
                <a:gd name="T6" fmla="*/ 1 60000 65536"/>
                <a:gd name="T7" fmla="*/ 3 60000 65536"/>
                <a:gd name="T8" fmla="*/ 4 60000 65536"/>
                <a:gd name="T9" fmla="*/ 55909 w 381768"/>
                <a:gd name="T10" fmla="*/ 22362 h 152698"/>
                <a:gd name="T11" fmla="*/ 325859 w 381768"/>
                <a:gd name="T12" fmla="*/ 130336 h 1526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768" h="152698">
                  <a:moveTo>
                    <a:pt x="261773" y="147238"/>
                  </a:moveTo>
                  <a:lnTo>
                    <a:pt x="261772" y="147237"/>
                  </a:lnTo>
                  <a:cubicBezTo>
                    <a:pt x="239226" y="150844"/>
                    <a:pt x="215166" y="152697"/>
                    <a:pt x="190884" y="152698"/>
                  </a:cubicBezTo>
                  <a:cubicBezTo>
                    <a:pt x="85461" y="152698"/>
                    <a:pt x="0" y="118515"/>
                    <a:pt x="0" y="76349"/>
                  </a:cubicBezTo>
                  <a:cubicBezTo>
                    <a:pt x="-1" y="34182"/>
                    <a:pt x="85461" y="0"/>
                    <a:pt x="190883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3" name="Chord 22"/>
            <p:cNvSpPr>
              <a:spLocks noChangeArrowheads="1"/>
            </p:cNvSpPr>
            <p:nvPr/>
          </p:nvSpPr>
          <p:spPr bwMode="auto">
            <a:xfrm>
              <a:off x="3809745" y="2971439"/>
              <a:ext cx="381768" cy="152699"/>
            </a:xfrm>
            <a:custGeom>
              <a:avLst/>
              <a:gdLst>
                <a:gd name="T0" fmla="*/ 261773 w 381768"/>
                <a:gd name="T1" fmla="*/ 147239 h 152699"/>
                <a:gd name="T2" fmla="*/ 190884 w 381768"/>
                <a:gd name="T3" fmla="*/ 0 h 152699"/>
                <a:gd name="T4" fmla="*/ 226329 w 381768"/>
                <a:gd name="T5" fmla="*/ 73619 h 152699"/>
                <a:gd name="T6" fmla="*/ 1 60000 65536"/>
                <a:gd name="T7" fmla="*/ 3 60000 65536"/>
                <a:gd name="T8" fmla="*/ 4 60000 65536"/>
                <a:gd name="T9" fmla="*/ 55909 w 381768"/>
                <a:gd name="T10" fmla="*/ 22362 h 152699"/>
                <a:gd name="T11" fmla="*/ 325859 w 381768"/>
                <a:gd name="T12" fmla="*/ 130337 h 152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768" h="152699">
                  <a:moveTo>
                    <a:pt x="261773" y="147239"/>
                  </a:moveTo>
                  <a:lnTo>
                    <a:pt x="261772" y="147238"/>
                  </a:lnTo>
                  <a:cubicBezTo>
                    <a:pt x="239226" y="150845"/>
                    <a:pt x="215166" y="152698"/>
                    <a:pt x="190883" y="152699"/>
                  </a:cubicBezTo>
                  <a:cubicBezTo>
                    <a:pt x="85460" y="152699"/>
                    <a:pt x="-1" y="118515"/>
                    <a:pt x="-1" y="76349"/>
                  </a:cubicBezTo>
                  <a:cubicBezTo>
                    <a:pt x="-2" y="34182"/>
                    <a:pt x="85460" y="-1"/>
                    <a:pt x="190882" y="-1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4" name="Chord 23"/>
            <p:cNvSpPr>
              <a:spLocks noChangeArrowheads="1"/>
            </p:cNvSpPr>
            <p:nvPr/>
          </p:nvSpPr>
          <p:spPr bwMode="auto">
            <a:xfrm>
              <a:off x="3505047" y="3504918"/>
              <a:ext cx="381768" cy="152699"/>
            </a:xfrm>
            <a:custGeom>
              <a:avLst/>
              <a:gdLst>
                <a:gd name="T0" fmla="*/ 261773 w 381768"/>
                <a:gd name="T1" fmla="*/ 147239 h 152699"/>
                <a:gd name="T2" fmla="*/ 190884 w 381768"/>
                <a:gd name="T3" fmla="*/ 0 h 152699"/>
                <a:gd name="T4" fmla="*/ 226329 w 381768"/>
                <a:gd name="T5" fmla="*/ 73619 h 152699"/>
                <a:gd name="T6" fmla="*/ 1 60000 65536"/>
                <a:gd name="T7" fmla="*/ 3 60000 65536"/>
                <a:gd name="T8" fmla="*/ 4 60000 65536"/>
                <a:gd name="T9" fmla="*/ 55909 w 381768"/>
                <a:gd name="T10" fmla="*/ 22362 h 152699"/>
                <a:gd name="T11" fmla="*/ 325859 w 381768"/>
                <a:gd name="T12" fmla="*/ 130337 h 152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768" h="152699">
                  <a:moveTo>
                    <a:pt x="261773" y="147239"/>
                  </a:moveTo>
                  <a:lnTo>
                    <a:pt x="261772" y="147238"/>
                  </a:lnTo>
                  <a:cubicBezTo>
                    <a:pt x="239226" y="150845"/>
                    <a:pt x="215166" y="152698"/>
                    <a:pt x="190883" y="152699"/>
                  </a:cubicBezTo>
                  <a:cubicBezTo>
                    <a:pt x="85460" y="152699"/>
                    <a:pt x="-1" y="118515"/>
                    <a:pt x="-1" y="76349"/>
                  </a:cubicBezTo>
                  <a:cubicBezTo>
                    <a:pt x="-2" y="34182"/>
                    <a:pt x="85460" y="-1"/>
                    <a:pt x="190882" y="-1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953000" y="22860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5334000" y="1981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486400" y="2362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53000" y="27432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486400" y="33528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334000" y="30480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876800" y="32004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4876800" y="19050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257800" y="2667000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1" charset="-128"/>
              </a:endParaRPr>
            </a:p>
          </p:txBody>
        </p:sp>
        <p:sp>
          <p:nvSpPr>
            <p:cNvPr id="34" name="Right Arrow 33"/>
            <p:cNvSpPr>
              <a:spLocks noChangeArrowheads="1"/>
            </p:cNvSpPr>
            <p:nvPr/>
          </p:nvSpPr>
          <p:spPr bwMode="auto">
            <a:xfrm>
              <a:off x="3974640" y="2590660"/>
              <a:ext cx="978617" cy="485156"/>
            </a:xfrm>
            <a:prstGeom prst="rightArrow">
              <a:avLst>
                <a:gd name="adj1" fmla="val 50000"/>
                <a:gd name="adj2" fmla="val 49998"/>
              </a:avLst>
            </a:prstGeom>
            <a:solidFill>
              <a:srgbClr val="FFFF00"/>
            </a:solidFill>
            <a:ln w="9525">
              <a:solidFill>
                <a:srgbClr val="065093"/>
              </a:solidFill>
              <a:miter lim="800000"/>
              <a:headEnd/>
              <a:tailEnd/>
            </a:ln>
            <a:effectLst>
              <a:outerShdw dist="38100" dir="5400000" algn="ctr" rotWithShape="0">
                <a:srgbClr val="002041">
                  <a:alpha val="4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Constantia" pitchFamily="-111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8077200" cy="1314450"/>
          </a:xfrm>
        </p:spPr>
        <p:txBody>
          <a:bodyPr/>
          <a:lstStyle/>
          <a:p>
            <a:pPr algn="r"/>
            <a:r>
              <a:rPr lang="en-US" b="1" smtClean="0"/>
              <a:t>Desalination Plants </a:t>
            </a:r>
            <a:br>
              <a:rPr lang="en-US" b="1" smtClean="0"/>
            </a:br>
            <a:r>
              <a:rPr lang="en-US" b="1" smtClean="0"/>
              <a:t>around the World</a:t>
            </a:r>
          </a:p>
        </p:txBody>
      </p:sp>
      <p:pic>
        <p:nvPicPr>
          <p:cNvPr id="12291" name="Picture 3" descr="desalinationplan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400" y="2743200"/>
            <a:ext cx="40132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Content Placeholder 2"/>
          <p:cNvSpPr txBox="1">
            <a:spLocks/>
          </p:cNvSpPr>
          <p:nvPr/>
        </p:nvSpPr>
        <p:spPr bwMode="auto">
          <a:xfrm>
            <a:off x="1600200" y="2209800"/>
            <a:ext cx="6705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sz="2600" b="1" dirty="0" err="1">
                <a:solidFill>
                  <a:srgbClr val="00B050"/>
                </a:solidFill>
                <a:latin typeface="Calibri" pitchFamily="-111" charset="0"/>
              </a:rPr>
              <a:t>Jabel</a:t>
            </a:r>
            <a:r>
              <a:rPr lang="en-US" sz="2600" b="1" dirty="0">
                <a:solidFill>
                  <a:srgbClr val="00B050"/>
                </a:solidFill>
                <a:latin typeface="Calibri" pitchFamily="-111" charset="0"/>
              </a:rPr>
              <a:t> Ali Desalination Station in Dubai</a:t>
            </a: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eaLnBrk="0" hangingPunct="0">
              <a:spcBef>
                <a:spcPct val="20000"/>
              </a:spcBef>
              <a:buClr>
                <a:srgbClr val="0BD0D9"/>
              </a:buClr>
              <a:buSzPct val="95000"/>
            </a:pPr>
            <a:endParaRPr lang="en-US" sz="2600" dirty="0">
              <a:latin typeface="Calibri" pitchFamily="-111" charset="0"/>
            </a:endParaRPr>
          </a:p>
          <a:p>
            <a:pPr marL="273050" indent="-273050" algn="r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600" dirty="0">
                <a:latin typeface="Calibri" pitchFamily="-111" charset="0"/>
              </a:rPr>
              <a:t>Capacity: 140 million gallons per day</a:t>
            </a:r>
          </a:p>
          <a:p>
            <a:pPr marL="273050" indent="-273050" algn="r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-111" charset="2"/>
              <a:buChar char=""/>
            </a:pPr>
            <a:r>
              <a:rPr lang="en-US" sz="2600" dirty="0">
                <a:latin typeface="Calibri" pitchFamily="-111" charset="0"/>
              </a:rPr>
              <a:t>Opened June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Nuclear Desalination Demonstration Plant (NDDP)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505200"/>
            <a:ext cx="5935328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64646" y="1905000"/>
            <a:ext cx="887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MSF-RO desalination plant of 6.3 million litres per day (MLD) capacity (4.5 MLD MSF</a:t>
            </a:r>
          </a:p>
          <a:p>
            <a:r>
              <a:rPr lang="en-IN" dirty="0" smtClean="0"/>
              <a:t>and 1.8 MLD RO)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2590800"/>
            <a:ext cx="899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It is the largest nuclear desalination plant based on hybrid technology in the world. MSF section is designed for high efficiency giving high Gain Output Ratio (GOR).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324600" y="3352800"/>
            <a:ext cx="281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RO produces potable quality water. Product</a:t>
            </a:r>
          </a:p>
          <a:p>
            <a:r>
              <a:rPr lang="en-IN" dirty="0" smtClean="0"/>
              <a:t>water from MSF and RO can be blended to provide better quality drinking water.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Shoaiba Desalination Plant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Largest desalination plant in the world</a:t>
            </a:r>
          </a:p>
          <a:p>
            <a:r>
              <a:rPr lang="en-US" smtClean="0"/>
              <a:t>Produces 450,000 m³/day </a:t>
            </a:r>
          </a:p>
          <a:p>
            <a:r>
              <a:rPr lang="en-US" smtClean="0"/>
              <a:t>Per year</a:t>
            </a:r>
          </a:p>
          <a:p>
            <a:pPr lvl="1"/>
            <a:r>
              <a:rPr lang="en-US" smtClean="0"/>
              <a:t>150 million m³ of water is </a:t>
            </a:r>
          </a:p>
          <a:p>
            <a:pPr lvl="2">
              <a:buFont typeface="Wingdings 2" pitchFamily="-111" charset="2"/>
              <a:buNone/>
            </a:pPr>
            <a:r>
              <a:rPr lang="en-US" smtClean="0"/>
              <a:t>desalinated</a:t>
            </a:r>
          </a:p>
          <a:p>
            <a:pPr lvl="1"/>
            <a:r>
              <a:rPr lang="en-US" smtClean="0"/>
              <a:t>Total cost is $1.06 billion </a:t>
            </a:r>
          </a:p>
          <a:p>
            <a:r>
              <a:rPr lang="en-US" smtClean="0"/>
              <a:t>To increase the thermal efficiency of this plant, the maximum number of stages is set to 25 (MSF)</a:t>
            </a:r>
          </a:p>
          <a:p>
            <a:r>
              <a:rPr lang="en-US" smtClean="0"/>
              <a:t>Research in the field is resulting in more plants coming up in Florida and California</a:t>
            </a:r>
          </a:p>
          <a:p>
            <a:endParaRPr lang="en-US" smtClean="0"/>
          </a:p>
          <a:p>
            <a:pPr lvl="1">
              <a:buFont typeface="Wingdings 2" pitchFamily="-111" charset="2"/>
              <a:buNone/>
            </a:pPr>
            <a:endParaRPr lang="en-US" smtClean="0"/>
          </a:p>
          <a:p>
            <a:pPr lvl="1">
              <a:buFont typeface="Wingdings 2" pitchFamily="-111" charset="2"/>
              <a:buNone/>
            </a:pPr>
            <a:endParaRPr lang="en-US" smtClean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362200"/>
            <a:ext cx="38100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More Desalination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35163"/>
            <a:ext cx="6629400" cy="4694237"/>
          </a:xfrm>
        </p:spPr>
        <p:txBody>
          <a:bodyPr/>
          <a:lstStyle/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Abu Dhabi, United Arab Emirates </a:t>
            </a:r>
            <a:r>
              <a:rPr lang="en-US" sz="2000" dirty="0" smtClean="0">
                <a:latin typeface="+mj-lt"/>
              </a:rPr>
              <a:t>(3)</a:t>
            </a: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Aruba </a:t>
            </a:r>
            <a:r>
              <a:rPr lang="en-US" sz="2000" dirty="0" smtClean="0">
                <a:latin typeface="+mj-lt"/>
              </a:rPr>
              <a:t>(1)</a:t>
            </a: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Australia </a:t>
            </a:r>
            <a:r>
              <a:rPr lang="en-US" sz="2000" dirty="0" smtClean="0">
                <a:latin typeface="+mj-lt"/>
              </a:rPr>
              <a:t>(3 in use, 3 under construction, 1 planned</a:t>
            </a:r>
            <a:r>
              <a:rPr lang="en-US" sz="2400" b="1" dirty="0" smtClean="0">
                <a:latin typeface="+mj-lt"/>
              </a:rPr>
              <a:t>)</a:t>
            </a:r>
            <a:endParaRPr lang="en-US" sz="2400" dirty="0" smtClean="0">
              <a:latin typeface="+mj-lt"/>
            </a:endParaRP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Cyprus </a:t>
            </a:r>
            <a:r>
              <a:rPr lang="en-US" sz="2000" dirty="0" smtClean="0">
                <a:latin typeface="+mj-lt"/>
              </a:rPr>
              <a:t>(1)</a:t>
            </a: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Israel </a:t>
            </a:r>
            <a:r>
              <a:rPr lang="en-US" sz="2000" dirty="0" smtClean="0">
                <a:latin typeface="+mj-lt"/>
              </a:rPr>
              <a:t>(3 in use, 2 under construction)</a:t>
            </a: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USA</a:t>
            </a:r>
            <a:endParaRPr lang="en-US" sz="2400" dirty="0" smtClean="0">
              <a:latin typeface="+mj-lt"/>
            </a:endParaRPr>
          </a:p>
          <a:p>
            <a:pPr>
              <a:defRPr/>
            </a:pPr>
            <a:r>
              <a:rPr lang="en-US" sz="2000" dirty="0" smtClean="0">
                <a:latin typeface="+mj-lt"/>
              </a:rPr>
              <a:t>Yuma (Arizona), opened 1992</a:t>
            </a:r>
          </a:p>
          <a:p>
            <a:pPr>
              <a:defRPr/>
            </a:pPr>
            <a:r>
              <a:rPr lang="en-US" sz="2000" dirty="0" smtClean="0">
                <a:latin typeface="+mj-lt"/>
              </a:rPr>
              <a:t>El Paso (Texas) opened 2004</a:t>
            </a:r>
          </a:p>
          <a:p>
            <a:pPr>
              <a:defRPr/>
            </a:pPr>
            <a:r>
              <a:rPr lang="en-US" sz="2000" dirty="0" smtClean="0">
                <a:latin typeface="+mj-lt"/>
              </a:rPr>
              <a:t>Tampa Bay (Florida) opened 2007</a:t>
            </a:r>
          </a:p>
          <a:p>
            <a:pPr>
              <a:defRPr/>
            </a:pPr>
            <a:r>
              <a:rPr lang="en-US" sz="2000" dirty="0" smtClean="0">
                <a:latin typeface="+mj-lt"/>
              </a:rPr>
              <a:t>Monterey (California), in the planning stages</a:t>
            </a:r>
          </a:p>
          <a:p>
            <a:pPr>
              <a:buFont typeface="Wingdings 2" pitchFamily="-111" charset="2"/>
              <a:buNone/>
              <a:defRPr/>
            </a:pPr>
            <a:r>
              <a:rPr lang="en-US" sz="2400" b="1" dirty="0" smtClean="0">
                <a:latin typeface="+mj-lt"/>
              </a:rPr>
              <a:t>Republic of Trinidad and Tobago </a:t>
            </a:r>
            <a:r>
              <a:rPr lang="en-US" sz="2000" dirty="0" smtClean="0">
                <a:latin typeface="+mj-lt"/>
              </a:rPr>
              <a:t>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end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1090</TotalTime>
  <Words>821</Words>
  <Application>Microsoft Office PowerPoint</Application>
  <PresentationFormat>On-screen Show (4:3)</PresentationFormat>
  <Paragraphs>149</Paragraphs>
  <Slides>17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Introduction</vt:lpstr>
      <vt:lpstr>Fresh Water Needs</vt:lpstr>
      <vt:lpstr>Why Desalination?</vt:lpstr>
      <vt:lpstr>Can we drink salt water?</vt:lpstr>
      <vt:lpstr>Natural Desalination: Water Cycle!</vt:lpstr>
      <vt:lpstr>PROCEDURES</vt:lpstr>
      <vt:lpstr>Slide 7</vt:lpstr>
      <vt:lpstr>Reverse Osmosis</vt:lpstr>
      <vt:lpstr>Multi Stage flash</vt:lpstr>
      <vt:lpstr>Multi Stage flash (cont…)</vt:lpstr>
      <vt:lpstr>Desalination Technologies</vt:lpstr>
      <vt:lpstr>Desalination Technologies</vt:lpstr>
      <vt:lpstr>Desalination Plants  around the World</vt:lpstr>
      <vt:lpstr>Nuclear Desalination Demonstration Plant (NDDP)</vt:lpstr>
      <vt:lpstr>Shoaiba Desalination Plant</vt:lpstr>
      <vt:lpstr>More Desalination Plants</vt:lpstr>
      <vt:lpstr>The end</vt:lpstr>
    </vt:vector>
  </TitlesOfParts>
  <Company>University of Colorado at Boulder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Desalination</dc:title>
  <dc:creator>ltll</dc:creator>
  <cp:lastModifiedBy>subas.dash</cp:lastModifiedBy>
  <cp:revision>75</cp:revision>
  <dcterms:created xsi:type="dcterms:W3CDTF">2010-05-24T19:05:09Z</dcterms:created>
  <dcterms:modified xsi:type="dcterms:W3CDTF">2025-07-26T06:00:46Z</dcterms:modified>
</cp:coreProperties>
</file>