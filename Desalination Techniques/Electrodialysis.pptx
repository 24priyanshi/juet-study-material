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70" r:id="rId4"/>
    <p:sldId id="271" r:id="rId5"/>
    <p:sldId id="272" r:id="rId6"/>
    <p:sldId id="273" r:id="rId7"/>
    <p:sldId id="274" r:id="rId8"/>
    <p:sldId id="275" r:id="rId9"/>
    <p:sldId id="276" r:id="rId10"/>
    <p:sldId id="277" r:id="rId11"/>
    <p:sldId id="265" r:id="rId12"/>
    <p:sldId id="266" r:id="rId13"/>
    <p:sldId id="267" r:id="rId14"/>
    <p:sldId id="268" r:id="rId15"/>
    <p:sldId id="257" r:id="rId16"/>
    <p:sldId id="258" r:id="rId17"/>
    <p:sldId id="259" r:id="rId18"/>
    <p:sldId id="260" r:id="rId19"/>
    <p:sldId id="261" r:id="rId20"/>
    <p:sldId id="262" r:id="rId21"/>
    <p:sldId id="26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altworkstech.com/technology/ionflux-ion-exchange-membran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saltworkstech.com/articles/what-is-electrodialysis-reversal-and-its-new-innovation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b="1" dirty="0" smtClean="0">
                <a:solidFill>
                  <a:srgbClr val="00B0F0"/>
                </a:solidFill>
                <a:latin typeface="Times New Roman" pitchFamily="18" charset="0"/>
                <a:cs typeface="Times New Roman" pitchFamily="18" charset="0"/>
              </a:rPr>
              <a:t>ELECTRODIALYSIS REVERSAL DESALINATION</a:t>
            </a:r>
            <a:endParaRPr lang="en-US" sz="3200" b="1" dirty="0">
              <a:solidFill>
                <a:srgbClr val="00B0F0"/>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00B0F0"/>
                </a:solidFill>
                <a:latin typeface="Times New Roman" pitchFamily="18" charset="0"/>
                <a:cs typeface="Times New Roman" pitchFamily="18" charset="0"/>
              </a:rPr>
              <a:t>BACKGROUND SEAWATER DESALINATION</a:t>
            </a:r>
            <a:endParaRPr lang="en-US" sz="2800" dirty="0">
              <a:solidFill>
                <a:srgbClr val="00B0F0"/>
              </a:solidFill>
              <a:latin typeface="Times New Roman" pitchFamily="18" charset="0"/>
              <a:cs typeface="Times New Roman" pitchFamily="18" charset="0"/>
            </a:endParaRPr>
          </a:p>
        </p:txBody>
      </p:sp>
      <p:pic>
        <p:nvPicPr>
          <p:cNvPr id="20482" name="Picture 2"/>
          <p:cNvPicPr>
            <a:picLocks noChangeAspect="1" noChangeArrowheads="1"/>
          </p:cNvPicPr>
          <p:nvPr/>
        </p:nvPicPr>
        <p:blipFill>
          <a:blip r:embed="rId2" cstate="print"/>
          <a:srcRect/>
          <a:stretch>
            <a:fillRect/>
          </a:stretch>
        </p:blipFill>
        <p:spPr bwMode="auto">
          <a:xfrm>
            <a:off x="228600" y="1676400"/>
            <a:ext cx="8452170" cy="3494087"/>
          </a:xfrm>
          <a:prstGeom prst="rect">
            <a:avLst/>
          </a:prstGeom>
          <a:noFill/>
          <a:ln w="9525">
            <a:noFill/>
            <a:miter lim="800000"/>
            <a:headEnd/>
            <a:tailEnd/>
          </a:ln>
          <a:effectLst/>
        </p:spPr>
      </p:pic>
      <p:sp>
        <p:nvSpPr>
          <p:cNvPr id="5" name="Rectangle 4"/>
          <p:cNvSpPr/>
          <p:nvPr/>
        </p:nvSpPr>
        <p:spPr>
          <a:xfrm>
            <a:off x="1143000" y="5562600"/>
            <a:ext cx="7010400" cy="707886"/>
          </a:xfrm>
          <a:prstGeom prst="rect">
            <a:avLst/>
          </a:prstGeom>
        </p:spPr>
        <p:txBody>
          <a:bodyPr wrap="square">
            <a:spAutoFit/>
          </a:bodyPr>
          <a:lstStyle/>
          <a:p>
            <a:r>
              <a:rPr lang="en-US" sz="2000" dirty="0" smtClean="0">
                <a:latin typeface="Times New Roman" pitchFamily="18" charset="0"/>
                <a:cs typeface="Times New Roman" pitchFamily="18" charset="0"/>
              </a:rPr>
              <a:t>Fig 1: Schematic overview of thermal and membrane desalination processes</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04800" y="1219200"/>
            <a:ext cx="8554377" cy="466089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13117" y="1066800"/>
            <a:ext cx="8702283" cy="445497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381000" y="914400"/>
            <a:ext cx="8359859" cy="44196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52400" y="1066800"/>
            <a:ext cx="8898235" cy="47244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1981200" y="147343"/>
            <a:ext cx="5867400" cy="312838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cstate="print"/>
          <a:srcRect/>
          <a:stretch>
            <a:fillRect/>
          </a:stretch>
        </p:blipFill>
        <p:spPr bwMode="auto">
          <a:xfrm>
            <a:off x="2057400" y="3429000"/>
            <a:ext cx="5857308" cy="32004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762000" y="381000"/>
            <a:ext cx="7412038" cy="4006317"/>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304800" y="914399"/>
            <a:ext cx="8585568" cy="441654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304800" y="1066800"/>
            <a:ext cx="8603413" cy="44196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10600" cy="1143000"/>
          </a:xfrm>
        </p:spPr>
        <p:txBody>
          <a:bodyPr>
            <a:normAutofit fontScale="90000"/>
          </a:bodyPr>
          <a:lstStyle/>
          <a:p>
            <a:r>
              <a:rPr lang="en-US" dirty="0" smtClean="0"/>
              <a:t/>
            </a:r>
            <a:br>
              <a:rPr lang="en-US" dirty="0" smtClean="0"/>
            </a:br>
            <a:r>
              <a:rPr lang="en-US" sz="3100" b="1" dirty="0" smtClean="0">
                <a:solidFill>
                  <a:srgbClr val="00B0F0"/>
                </a:solidFill>
                <a:latin typeface="Times New Roman" pitchFamily="18" charset="0"/>
                <a:cs typeface="Times New Roman" pitchFamily="18" charset="0"/>
              </a:rPr>
              <a:t>HOW DOES ELECTRODIALYSIS REVERSAL WORK?</a:t>
            </a:r>
            <a:r>
              <a:rPr lang="en-US" dirty="0" smtClean="0"/>
              <a:t/>
            </a:r>
            <a:br>
              <a:rPr lang="en-US" dirty="0" smtClean="0"/>
            </a:br>
            <a:endParaRPr lang="en-US" dirty="0"/>
          </a:p>
        </p:txBody>
      </p:sp>
      <p:sp>
        <p:nvSpPr>
          <p:cNvPr id="3" name="Content Placeholder 2"/>
          <p:cNvSpPr>
            <a:spLocks noGrp="1"/>
          </p:cNvSpPr>
          <p:nvPr>
            <p:ph idx="1"/>
          </p:nvPr>
        </p:nvSpPr>
        <p:spPr>
          <a:xfrm>
            <a:off x="457200" y="1371600"/>
            <a:ext cx="8229600" cy="4525963"/>
          </a:xfrm>
        </p:spPr>
        <p:txBody>
          <a:bodyPr>
            <a:normAutofit/>
          </a:bodyPr>
          <a:lstStyle/>
          <a:p>
            <a:pPr algn="just"/>
            <a:r>
              <a:rPr lang="en-US" sz="2000" dirty="0" err="1" smtClean="0"/>
              <a:t>Electrodialysis</a:t>
            </a:r>
            <a:r>
              <a:rPr lang="en-US" sz="2000" dirty="0" smtClean="0"/>
              <a:t> (ED) technology is the second most widely used membrane desalination technology and has been developed since the 1960s for a wide range of industrial applications. It involves applying a direct current (DC) electric field to flux positive ions across </a:t>
            </a:r>
            <a:r>
              <a:rPr lang="en-US" sz="2000" dirty="0" err="1" smtClean="0"/>
              <a:t>cation</a:t>
            </a:r>
            <a:r>
              <a:rPr lang="en-US" sz="2000" dirty="0" smtClean="0"/>
              <a:t> exchange membranes (CEM) in one direction, and negative ions through anion exchange membranes (AEM) in the opposite direction. The two types of membranes alternate within a stack (Figure 2).</a:t>
            </a:r>
            <a:endParaRPr lang="en-US" sz="2000" dirty="0"/>
          </a:p>
        </p:txBody>
      </p:sp>
      <p:sp>
        <p:nvSpPr>
          <p:cNvPr id="21506" name="AutoShape 2" descr="Electrodialysis Reversal (EDR) and Its New Innov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08" name="Picture 4" descr="A technical diagram showing the operating principle of electrodialysis reversal"/>
          <p:cNvPicPr>
            <a:picLocks noChangeAspect="1" noChangeArrowheads="1"/>
          </p:cNvPicPr>
          <p:nvPr/>
        </p:nvPicPr>
        <p:blipFill>
          <a:blip r:embed="rId2" cstate="print"/>
          <a:srcRect/>
          <a:stretch>
            <a:fillRect/>
          </a:stretch>
        </p:blipFill>
        <p:spPr bwMode="auto">
          <a:xfrm>
            <a:off x="2893809" y="3657600"/>
            <a:ext cx="4543708" cy="2362200"/>
          </a:xfrm>
          <a:prstGeom prst="rect">
            <a:avLst/>
          </a:prstGeom>
          <a:noFill/>
        </p:spPr>
      </p:pic>
      <p:sp>
        <p:nvSpPr>
          <p:cNvPr id="6" name="Rectangle 5"/>
          <p:cNvSpPr/>
          <p:nvPr/>
        </p:nvSpPr>
        <p:spPr>
          <a:xfrm>
            <a:off x="4419600" y="6096000"/>
            <a:ext cx="936667" cy="369332"/>
          </a:xfrm>
          <a:prstGeom prst="rect">
            <a:avLst/>
          </a:prstGeom>
        </p:spPr>
        <p:txBody>
          <a:bodyPr wrap="none">
            <a:spAutoFit/>
          </a:bodyPr>
          <a:lstStyle/>
          <a:p>
            <a:r>
              <a:rPr lang="en-US" dirty="0" smtClean="0"/>
              <a:t>Figure 2</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sz="2000" dirty="0" smtClean="0">
                <a:latin typeface="Times New Roman" pitchFamily="18" charset="0"/>
                <a:cs typeface="Times New Roman" pitchFamily="18" charset="0"/>
              </a:rPr>
              <a:t>As the process </a:t>
            </a:r>
            <a:r>
              <a:rPr lang="en-US" sz="2000" dirty="0" err="1" smtClean="0">
                <a:latin typeface="Times New Roman" pitchFamily="18" charset="0"/>
                <a:cs typeface="Times New Roman" pitchFamily="18" charset="0"/>
              </a:rPr>
              <a:t>feedwater</a:t>
            </a:r>
            <a:r>
              <a:rPr lang="en-US" sz="2000" dirty="0" smtClean="0">
                <a:latin typeface="Times New Roman" pitchFamily="18" charset="0"/>
                <a:cs typeface="Times New Roman" pitchFamily="18" charset="0"/>
              </a:rPr>
              <a:t> (or wastewater) enters the ‘product’ chamber, ions get pulled out of the product water as it travels up the length of the stack, parallel to the membranes. </a:t>
            </a:r>
          </a:p>
          <a:p>
            <a:pPr algn="just"/>
            <a:r>
              <a:rPr lang="en-US" sz="2000" dirty="0" smtClean="0">
                <a:latin typeface="Times New Roman" pitchFamily="18" charset="0"/>
                <a:cs typeface="Times New Roman" pitchFamily="18" charset="0"/>
              </a:rPr>
              <a:t>These ions get concentrated up in the concentrate chamber, also flowing parallel to the product chamber, see Figure 2 below. </a:t>
            </a:r>
          </a:p>
          <a:p>
            <a:pPr algn="just"/>
            <a:r>
              <a:rPr lang="en-US" sz="2000" dirty="0" smtClean="0">
                <a:latin typeface="Times New Roman" pitchFamily="18" charset="0"/>
                <a:cs typeface="Times New Roman" pitchFamily="18" charset="0"/>
              </a:rPr>
              <a:t>The ‘reversal’ term in EDR comes from recent innovation that allows the polarity of electrodes and hydraulic channels to ‘reverse’, which helps keep the membranes clean.</a:t>
            </a:r>
          </a:p>
          <a:p>
            <a:pPr algn="just"/>
            <a:r>
              <a:rPr lang="en-US" sz="2000" dirty="0" smtClean="0">
                <a:latin typeface="Times New Roman" pitchFamily="18" charset="0"/>
                <a:cs typeface="Times New Roman" pitchFamily="18" charset="0"/>
              </a:rPr>
              <a:t>Typical </a:t>
            </a:r>
            <a:r>
              <a:rPr lang="en-US" sz="2000" dirty="0" err="1" smtClean="0">
                <a:latin typeface="Times New Roman" pitchFamily="18" charset="0"/>
                <a:cs typeface="Times New Roman" pitchFamily="18" charset="0"/>
              </a:rPr>
              <a:t>electrodialysis</a:t>
            </a:r>
            <a:r>
              <a:rPr lang="en-US" sz="2000" dirty="0" smtClean="0">
                <a:latin typeface="Times New Roman" pitchFamily="18" charset="0"/>
                <a:cs typeface="Times New Roman" pitchFamily="18" charset="0"/>
              </a:rPr>
              <a:t> systems are composed of stacks of </a:t>
            </a:r>
            <a:r>
              <a:rPr lang="en-US" sz="2000" dirty="0" err="1" smtClean="0">
                <a:latin typeface="Times New Roman" pitchFamily="18" charset="0"/>
                <a:cs typeface="Times New Roman" pitchFamily="18" charset="0"/>
              </a:rPr>
              <a:t>cation</a:t>
            </a:r>
            <a:r>
              <a:rPr lang="en-US" sz="2000" dirty="0" smtClean="0">
                <a:latin typeface="Times New Roman" pitchFamily="18" charset="0"/>
                <a:cs typeface="Times New Roman" pitchFamily="18" charset="0"/>
              </a:rPr>
              <a:t> and anion exchange membranes. However, due to recent advancements in membrane manufacturing, it is increasingly possible to selectively pull out </a:t>
            </a:r>
            <a:r>
              <a:rPr lang="en-US" sz="2000" dirty="0" err="1" smtClean="0">
                <a:latin typeface="Times New Roman" pitchFamily="18" charset="0"/>
                <a:cs typeface="Times New Roman" pitchFamily="18" charset="0"/>
              </a:rPr>
              <a:t>monovalent</a:t>
            </a:r>
            <a:r>
              <a:rPr lang="en-US" sz="2000" dirty="0" smtClean="0">
                <a:latin typeface="Times New Roman" pitchFamily="18" charset="0"/>
                <a:cs typeface="Times New Roman" pitchFamily="18" charset="0"/>
              </a:rPr>
              <a:t> ions using ion exchange membranes that have high divalent ion rejection (such as </a:t>
            </a:r>
            <a:r>
              <a:rPr lang="en-US" sz="2000" dirty="0" err="1" smtClean="0">
                <a:latin typeface="Times New Roman" pitchFamily="18" charset="0"/>
                <a:cs typeface="Times New Roman" pitchFamily="18" charset="0"/>
              </a:rPr>
              <a:t>Saltworks</a:t>
            </a:r>
            <a:r>
              <a:rPr lang="en-US" sz="2000"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hlinkClick r:id="rId2"/>
              </a:rPr>
              <a:t>IonFlux</a:t>
            </a:r>
            <a:r>
              <a:rPr lang="en-US" sz="2000" dirty="0" smtClean="0">
                <a:latin typeface="Times New Roman" pitchFamily="18" charset="0"/>
                <a:cs typeface="Times New Roman" pitchFamily="18" charset="0"/>
              </a:rPr>
              <a:t> products with 98% divalent ion rejection). This </a:t>
            </a:r>
            <a:r>
              <a:rPr lang="en-US" sz="2000" dirty="0" err="1" smtClean="0">
                <a:latin typeface="Times New Roman" pitchFamily="18" charset="0"/>
                <a:cs typeface="Times New Roman" pitchFamily="18" charset="0"/>
              </a:rPr>
              <a:t>monovalent</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electrodialysis</a:t>
            </a:r>
            <a:r>
              <a:rPr lang="en-US" sz="2000" dirty="0" smtClean="0">
                <a:latin typeface="Times New Roman" pitchFamily="18" charset="0"/>
                <a:cs typeface="Times New Roman" pitchFamily="18" charset="0"/>
              </a:rPr>
              <a:t> reversal (</a:t>
            </a:r>
            <a:r>
              <a:rPr lang="en-US" sz="2000" dirty="0" err="1" smtClean="0">
                <a:latin typeface="Times New Roman" pitchFamily="18" charset="0"/>
                <a:cs typeface="Times New Roman" pitchFamily="18" charset="0"/>
              </a:rPr>
              <a:t>mEDR</a:t>
            </a:r>
            <a:r>
              <a:rPr lang="en-US" sz="2000" dirty="0" smtClean="0">
                <a:latin typeface="Times New Roman" pitchFamily="18" charset="0"/>
                <a:cs typeface="Times New Roman" pitchFamily="18" charset="0"/>
              </a:rPr>
              <a:t>) can be used for a number of treatment or reuse applications, including the following:</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09600"/>
            <a:ext cx="8229600" cy="4525963"/>
          </a:xfrm>
        </p:spPr>
        <p:txBody>
          <a:bodyPr>
            <a:normAutofit fontScale="92500" lnSpcReduction="20000"/>
          </a:bodyPr>
          <a:lstStyle/>
          <a:p>
            <a:pPr algn="just"/>
            <a:r>
              <a:rPr lang="en-US" sz="2600" dirty="0" smtClean="0">
                <a:latin typeface="Times New Roman" pitchFamily="18" charset="0"/>
                <a:cs typeface="Times New Roman" pitchFamily="18" charset="0"/>
              </a:rPr>
              <a:t>Removing chlorides to reduce corrosion in water circulating loops that result in high </a:t>
            </a:r>
            <a:r>
              <a:rPr lang="en-US" sz="2600" dirty="0" err="1" smtClean="0">
                <a:latin typeface="Times New Roman" pitchFamily="18" charset="0"/>
                <a:cs typeface="Times New Roman" pitchFamily="18" charset="0"/>
              </a:rPr>
              <a:t>blowdown</a:t>
            </a:r>
            <a:r>
              <a:rPr lang="en-US" sz="2600" dirty="0" smtClean="0">
                <a:latin typeface="Times New Roman" pitchFamily="18" charset="0"/>
                <a:cs typeface="Times New Roman" pitchFamily="18" charset="0"/>
              </a:rPr>
              <a:t>. A prime example of where this is particularly useful is in flue gas desulfurization wastewater, where the 90% recovered water can be recycled, while the final 10% residuals can be mixed with combustion ash or fly ash.</a:t>
            </a:r>
          </a:p>
          <a:p>
            <a:pPr algn="just"/>
            <a:r>
              <a:rPr lang="en-US" sz="2600" dirty="0" smtClean="0">
                <a:latin typeface="Times New Roman" pitchFamily="18" charset="0"/>
                <a:cs typeface="Times New Roman" pitchFamily="18" charset="0"/>
              </a:rPr>
              <a:t>Removing scale-causing gypsum from cooling tower </a:t>
            </a:r>
            <a:r>
              <a:rPr lang="en-US" sz="2600" dirty="0" err="1" smtClean="0">
                <a:latin typeface="Times New Roman" pitchFamily="18" charset="0"/>
                <a:cs typeface="Times New Roman" pitchFamily="18" charset="0"/>
              </a:rPr>
              <a:t>blowdown</a:t>
            </a:r>
            <a:r>
              <a:rPr lang="en-US" sz="2600" dirty="0" smtClean="0">
                <a:latin typeface="Times New Roman" pitchFamily="18" charset="0"/>
                <a:cs typeface="Times New Roman" pitchFamily="18" charset="0"/>
              </a:rPr>
              <a:t> to enable higher cooling tower cycling, provided the tower is designed to handle the higher salinity, or if the corrosion-causing chlorides are removed.</a:t>
            </a:r>
          </a:p>
          <a:p>
            <a:pPr algn="just"/>
            <a:r>
              <a:rPr lang="en-US" sz="2600" dirty="0" smtClean="0">
                <a:latin typeface="Times New Roman" pitchFamily="18" charset="0"/>
                <a:cs typeface="Times New Roman" pitchFamily="18" charset="0"/>
              </a:rPr>
              <a:t>Selectively removing sodium to reduce the sodium adsorption ratio (SAR) in agricultural or vertical farming wastewater to allow recycling of nutrients or multivalent fertilizer by-products.</a:t>
            </a:r>
          </a:p>
          <a:p>
            <a:endParaRPr 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cstate="print"/>
          <a:srcRect/>
          <a:stretch>
            <a:fillRect/>
          </a:stretch>
        </p:blipFill>
        <p:spPr bwMode="auto">
          <a:xfrm>
            <a:off x="1295400" y="914400"/>
            <a:ext cx="6599230" cy="4648200"/>
          </a:xfrm>
          <a:prstGeom prst="rect">
            <a:avLst/>
          </a:prstGeom>
          <a:noFill/>
          <a:ln w="9525">
            <a:noFill/>
            <a:miter lim="800000"/>
            <a:headEnd/>
            <a:tailEnd/>
          </a:ln>
          <a:effectLst/>
        </p:spPr>
      </p:pic>
      <p:sp>
        <p:nvSpPr>
          <p:cNvPr id="6" name="Rectangle 5"/>
          <p:cNvSpPr/>
          <p:nvPr/>
        </p:nvSpPr>
        <p:spPr>
          <a:xfrm>
            <a:off x="914400" y="5943600"/>
            <a:ext cx="6976269" cy="369332"/>
          </a:xfrm>
          <a:prstGeom prst="rect">
            <a:avLst/>
          </a:prstGeom>
        </p:spPr>
        <p:txBody>
          <a:bodyPr wrap="none">
            <a:spAutoFit/>
          </a:bodyPr>
          <a:lstStyle/>
          <a:p>
            <a:r>
              <a:rPr lang="en-US" dirty="0" smtClean="0">
                <a:latin typeface="Times New Roman" pitchFamily="18" charset="0"/>
                <a:cs typeface="Times New Roman" pitchFamily="18" charset="0"/>
              </a:rPr>
              <a:t>Fig 3 </a:t>
            </a:r>
            <a:r>
              <a:rPr lang="en-US" dirty="0" err="1" smtClean="0"/>
              <a:t>Monovalent</a:t>
            </a:r>
            <a:r>
              <a:rPr lang="en-US" dirty="0" smtClean="0"/>
              <a:t>  electro dialysis reversal (</a:t>
            </a:r>
            <a:r>
              <a:rPr lang="en-US" dirty="0" smtClean="0">
                <a:latin typeface="Times New Roman" pitchFamily="18" charset="0"/>
                <a:cs typeface="Times New Roman" pitchFamily="18" charset="0"/>
              </a:rPr>
              <a:t>MEDR process flow diagram</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00B0F0"/>
                </a:solidFill>
                <a:latin typeface="Times New Roman" pitchFamily="18" charset="0"/>
                <a:cs typeface="Times New Roman" pitchFamily="18" charset="0"/>
              </a:rPr>
              <a:t>ELECTRODIALYSIS (ED) IS A MEMBRANE PROCESS</a:t>
            </a:r>
            <a:endParaRPr lang="en-US" sz="2800" b="1" dirty="0">
              <a:solidFill>
                <a:srgbClr val="00B0F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525963"/>
          </a:xfrm>
        </p:spPr>
        <p:txBody>
          <a:bodyPr>
            <a:noAutofit/>
          </a:bodyPr>
          <a:lstStyle/>
          <a:p>
            <a:pPr algn="just"/>
            <a:r>
              <a:rPr lang="en-US" sz="1800" dirty="0" err="1" smtClean="0">
                <a:latin typeface="Times New Roman" pitchFamily="18" charset="0"/>
                <a:cs typeface="Times New Roman" pitchFamily="18" charset="0"/>
              </a:rPr>
              <a:t>Electrodialysis</a:t>
            </a:r>
            <a:r>
              <a:rPr lang="en-US" sz="1800" dirty="0" smtClean="0">
                <a:latin typeface="Times New Roman" pitchFamily="18" charset="0"/>
                <a:cs typeface="Times New Roman" pitchFamily="18" charset="0"/>
              </a:rPr>
              <a:t> (ED) is a membrane process in which ions are transported through ion exchange membranes under the influence of an electrical potential applied over a cathode and an anode (Figure 1.2). </a:t>
            </a:r>
          </a:p>
          <a:p>
            <a:pPr algn="just"/>
            <a:r>
              <a:rPr lang="en-US" sz="1800" dirty="0" smtClean="0">
                <a:latin typeface="Times New Roman" pitchFamily="18" charset="0"/>
                <a:cs typeface="Times New Roman" pitchFamily="18" charset="0"/>
              </a:rPr>
              <a:t>Seawater flows through compartments formed between </a:t>
            </a:r>
            <a:r>
              <a:rPr lang="en-US" sz="1800" dirty="0" err="1" smtClean="0">
                <a:latin typeface="Times New Roman" pitchFamily="18" charset="0"/>
                <a:cs typeface="Times New Roman" pitchFamily="18" charset="0"/>
              </a:rPr>
              <a:t>cation</a:t>
            </a:r>
            <a:r>
              <a:rPr lang="en-US" sz="1800" dirty="0" smtClean="0">
                <a:latin typeface="Times New Roman" pitchFamily="18" charset="0"/>
                <a:cs typeface="Times New Roman" pitchFamily="18" charset="0"/>
              </a:rPr>
              <a:t> exchange membranes (CEMs) and anion exchange membranes (AEMs) that are alternately piled, and form repeating unit or cell pair, between the cathode and the anode.</a:t>
            </a:r>
          </a:p>
          <a:p>
            <a:pPr algn="just"/>
            <a:r>
              <a:rPr lang="en-US" sz="1800" dirty="0" smtClean="0">
                <a:latin typeface="Times New Roman" pitchFamily="18" charset="0"/>
                <a:cs typeface="Times New Roman" pitchFamily="18" charset="0"/>
              </a:rPr>
              <a:t> Due to the applied electric field, </a:t>
            </a:r>
            <a:r>
              <a:rPr lang="en-US" sz="1800" dirty="0" err="1" smtClean="0">
                <a:latin typeface="Times New Roman" pitchFamily="18" charset="0"/>
                <a:cs typeface="Times New Roman" pitchFamily="18" charset="0"/>
              </a:rPr>
              <a:t>cations</a:t>
            </a:r>
            <a:r>
              <a:rPr lang="en-US" sz="1800" dirty="0" smtClean="0">
                <a:latin typeface="Times New Roman" pitchFamily="18" charset="0"/>
                <a:cs typeface="Times New Roman" pitchFamily="18" charset="0"/>
              </a:rPr>
              <a:t> migrate from one compartment through a CEM in the direction of the cathode to the next compartment, and simultaneously, anions migrate through an AEM in the direction of the anode. </a:t>
            </a:r>
          </a:p>
          <a:p>
            <a:pPr algn="just"/>
            <a:r>
              <a:rPr lang="en-US" sz="1800" dirty="0" smtClean="0">
                <a:latin typeface="Times New Roman" pitchFamily="18" charset="0"/>
                <a:cs typeface="Times New Roman" pitchFamily="18" charset="0"/>
              </a:rPr>
              <a:t>The overall result is a membrane stack with compartments that alternately contain diluted and concentrated salt solutions, the so-called </a:t>
            </a:r>
            <a:r>
              <a:rPr lang="en-US" sz="1800" dirty="0" err="1" smtClean="0">
                <a:latin typeface="Times New Roman" pitchFamily="18" charset="0"/>
                <a:cs typeface="Times New Roman" pitchFamily="18" charset="0"/>
              </a:rPr>
              <a:t>diluate</a:t>
            </a:r>
            <a:r>
              <a:rPr lang="en-US" sz="1800" dirty="0" smtClean="0">
                <a:latin typeface="Times New Roman" pitchFamily="18" charset="0"/>
                <a:cs typeface="Times New Roman" pitchFamily="18" charset="0"/>
              </a:rPr>
              <a:t> and concentrate. </a:t>
            </a:r>
          </a:p>
          <a:p>
            <a:pPr algn="just"/>
            <a:r>
              <a:rPr lang="en-US" sz="1800" dirty="0" smtClean="0">
                <a:latin typeface="Times New Roman" pitchFamily="18" charset="0"/>
                <a:cs typeface="Times New Roman" pitchFamily="18" charset="0"/>
              </a:rPr>
              <a:t>The electrode compartments at both ends of the membrane stack are rinsed with an electrolyte solution that enhances </a:t>
            </a:r>
            <a:r>
              <a:rPr lang="en-US" sz="1800" dirty="0" err="1" smtClean="0">
                <a:latin typeface="Times New Roman" pitchFamily="18" charset="0"/>
                <a:cs typeface="Times New Roman" pitchFamily="18" charset="0"/>
              </a:rPr>
              <a:t>redox</a:t>
            </a:r>
            <a:r>
              <a:rPr lang="en-US" sz="1800" dirty="0" smtClean="0">
                <a:latin typeface="Times New Roman" pitchFamily="18" charset="0"/>
                <a:cs typeface="Times New Roman" pitchFamily="18" charset="0"/>
              </a:rPr>
              <a:t> reactions and converts the electrical charge transport into ionic charge transport.</a:t>
            </a:r>
          </a:p>
          <a:p>
            <a:pPr algn="just"/>
            <a:r>
              <a:rPr lang="en-US" sz="1800" dirty="0" smtClean="0">
                <a:latin typeface="Times New Roman" pitchFamily="18" charset="0"/>
                <a:cs typeface="Times New Roman" pitchFamily="18" charset="0"/>
              </a:rPr>
              <a:t> The cathode and anode are rinsed with the same solution and this may be e.g., a mixture of dissolved Fe2+ and Fe3+ salts </a:t>
            </a:r>
            <a:endParaRPr lang="en-US" sz="1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1"/>
          </p:nvPr>
        </p:nvPicPr>
        <p:blipFill>
          <a:blip r:embed="rId2" cstate="print"/>
          <a:srcRect l="11538" r="7692"/>
          <a:stretch>
            <a:fillRect/>
          </a:stretch>
        </p:blipFill>
        <p:spPr bwMode="auto">
          <a:xfrm>
            <a:off x="1295400" y="762000"/>
            <a:ext cx="6324600" cy="3537727"/>
          </a:xfrm>
          <a:prstGeom prst="rect">
            <a:avLst/>
          </a:prstGeom>
          <a:noFill/>
          <a:ln w="9525">
            <a:noFill/>
            <a:miter lim="800000"/>
            <a:headEnd/>
            <a:tailEnd/>
          </a:ln>
          <a:effectLst/>
        </p:spPr>
      </p:pic>
      <p:sp>
        <p:nvSpPr>
          <p:cNvPr id="5" name="Rectangle 4"/>
          <p:cNvSpPr/>
          <p:nvPr/>
        </p:nvSpPr>
        <p:spPr>
          <a:xfrm>
            <a:off x="609600" y="5029200"/>
            <a:ext cx="8534400" cy="646331"/>
          </a:xfrm>
          <a:prstGeom prst="rect">
            <a:avLst/>
          </a:prstGeom>
        </p:spPr>
        <p:txBody>
          <a:bodyPr wrap="square">
            <a:spAutoFit/>
          </a:bodyPr>
          <a:lstStyle/>
          <a:p>
            <a:r>
              <a:rPr lang="en-US" dirty="0" smtClean="0"/>
              <a:t>ED was developed about 70 years ago, but compared to RO it has not been widely used</a:t>
            </a:r>
          </a:p>
          <a:p>
            <a:r>
              <a:rPr lang="en-US" dirty="0" smtClean="0"/>
              <a:t>for seawater desalination as it is considered too energy-intensive.</a:t>
            </a:r>
            <a:endParaRPr lang="en-US" dirty="0"/>
          </a:p>
        </p:txBody>
      </p:sp>
      <p:sp>
        <p:nvSpPr>
          <p:cNvPr id="6" name="Rectangle 5"/>
          <p:cNvSpPr/>
          <p:nvPr/>
        </p:nvSpPr>
        <p:spPr>
          <a:xfrm>
            <a:off x="2286000" y="4343400"/>
            <a:ext cx="5043753" cy="369332"/>
          </a:xfrm>
          <a:prstGeom prst="rect">
            <a:avLst/>
          </a:prstGeom>
        </p:spPr>
        <p:txBody>
          <a:bodyPr wrap="none">
            <a:spAutoFit/>
          </a:bodyPr>
          <a:lstStyle/>
          <a:p>
            <a:r>
              <a:rPr lang="en-US" dirty="0" smtClean="0"/>
              <a:t>Fig 4 Schematic overview of an </a:t>
            </a:r>
            <a:r>
              <a:rPr lang="en-US" dirty="0" err="1" smtClean="0"/>
              <a:t>electrodialysis</a:t>
            </a:r>
            <a:r>
              <a:rPr lang="en-US" dirty="0" smtClean="0"/>
              <a:t> stack.</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fontScale="92500" lnSpcReduction="20000"/>
          </a:bodyPr>
          <a:lstStyle/>
          <a:p>
            <a:pPr algn="just"/>
            <a:r>
              <a:rPr lang="en-US" sz="2000" dirty="0" smtClean="0">
                <a:latin typeface="Times New Roman" pitchFamily="18" charset="0"/>
                <a:cs typeface="Times New Roman" pitchFamily="18" charset="0"/>
              </a:rPr>
              <a:t>In ED the energy required to desalinate is proportional to the equivalent amount of salt that needs to be removed</a:t>
            </a:r>
          </a:p>
          <a:p>
            <a:pPr algn="just"/>
            <a:r>
              <a:rPr lang="en-US" sz="2000" dirty="0" smtClean="0">
                <a:latin typeface="Times New Roman" pitchFamily="18" charset="0"/>
                <a:cs typeface="Times New Roman" pitchFamily="18" charset="0"/>
              </a:rPr>
              <a:t>To apply conventional ED in a cost-effective way for water desalination, the feed water concentration must range between 5 g/l to 10 g/l total dissolved solids </a:t>
            </a:r>
          </a:p>
          <a:p>
            <a:pPr algn="just"/>
            <a:r>
              <a:rPr lang="en-US" sz="2000" dirty="0" smtClean="0">
                <a:latin typeface="Times New Roman" pitchFamily="18" charset="0"/>
                <a:cs typeface="Times New Roman" pitchFamily="18" charset="0"/>
              </a:rPr>
              <a:t>In that case a low current density is required. At higher feed water concentrations, where higher current densities are required, RO is more favorable in terms of energy consumption for desalination.</a:t>
            </a:r>
          </a:p>
          <a:p>
            <a:pPr algn="just"/>
            <a:r>
              <a:rPr lang="en-US" sz="2000" dirty="0" smtClean="0">
                <a:latin typeface="Times New Roman" pitchFamily="18" charset="0"/>
                <a:cs typeface="Times New Roman" pitchFamily="18" charset="0"/>
              </a:rPr>
              <a:t>ED has the potential to be advantageous over RO because very little feed pre-treatment is required since membrane fouling is less persistent due to the absence of high trans membrane pressures and large water fluxes.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Besides, ED can achieve potentially higher brine concentrations than RO since there are no pressure limitations (to overcome the osmotic pressure difference over the membrane). The chemical and mechanical stability of ion-exchange membranes enables longer membrane lifetimes even when using feed waters with aggressive and oxidizing components</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00B0F0"/>
                </a:solidFill>
                <a:latin typeface="Times New Roman" pitchFamily="18" charset="0"/>
                <a:cs typeface="Times New Roman" pitchFamily="18" charset="0"/>
              </a:rPr>
              <a:t>CHALLENGES IN ELECTRODIALYSIS FOR SEAWATER DESALINATION</a:t>
            </a:r>
            <a:endParaRPr lang="en-US" sz="2800" dirty="0">
              <a:solidFill>
                <a:srgbClr val="00B0F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algn="just"/>
            <a:r>
              <a:rPr lang="en-US" dirty="0" smtClean="0">
                <a:latin typeface="Times New Roman" pitchFamily="18" charset="0"/>
                <a:cs typeface="Times New Roman" pitchFamily="18" charset="0"/>
              </a:rPr>
              <a:t>ED systems suffer from high energy consumption because a major part of the inefficiency of ED desalination can be attributed to the changing conditions along the stack in terms of increasing internal transport resistance (mainly due to decreasing conductance in the </a:t>
            </a:r>
            <a:r>
              <a:rPr lang="en-US" dirty="0" err="1" smtClean="0">
                <a:latin typeface="Times New Roman" pitchFamily="18" charset="0"/>
                <a:cs typeface="Times New Roman" pitchFamily="18" charset="0"/>
              </a:rPr>
              <a:t>diluate</a:t>
            </a:r>
            <a:r>
              <a:rPr lang="en-US" dirty="0" smtClean="0">
                <a:latin typeface="Times New Roman" pitchFamily="18" charset="0"/>
                <a:cs typeface="Times New Roman" pitchFamily="18" charset="0"/>
              </a:rPr>
              <a:t> compartments).</a:t>
            </a:r>
          </a:p>
          <a:p>
            <a:pPr algn="just"/>
            <a:r>
              <a:rPr lang="en-US" dirty="0" smtClean="0">
                <a:latin typeface="Times New Roman" pitchFamily="18" charset="0"/>
                <a:cs typeface="Times New Roman" pitchFamily="18" charset="0"/>
              </a:rPr>
              <a:t> Additionally, the contribution of increasing back forces, such as back diffusion of ions, plays an essential role in the inefficiency due to the increasing concentration gradient over the membranes (Figure 1.3). </a:t>
            </a:r>
          </a:p>
          <a:p>
            <a:pPr algn="just"/>
            <a:r>
              <a:rPr lang="en-US" dirty="0" smtClean="0">
                <a:latin typeface="Times New Roman" pitchFamily="18" charset="0"/>
                <a:cs typeface="Times New Roman" pitchFamily="18" charset="0"/>
              </a:rPr>
              <a:t>When a voltage or a constant electrical current is applied on the electrodes, these changing conditions result in a </a:t>
            </a:r>
            <a:r>
              <a:rPr lang="en-US" dirty="0" err="1" smtClean="0">
                <a:latin typeface="Times New Roman" pitchFamily="18" charset="0"/>
                <a:cs typeface="Times New Roman" pitchFamily="18" charset="0"/>
              </a:rPr>
              <a:t>maldistribution</a:t>
            </a:r>
            <a:r>
              <a:rPr lang="en-US" dirty="0" smtClean="0">
                <a:latin typeface="Times New Roman" pitchFamily="18" charset="0"/>
                <a:cs typeface="Times New Roman" pitchFamily="18" charset="0"/>
              </a:rPr>
              <a:t> of ionic currents in the stack. </a:t>
            </a:r>
          </a:p>
          <a:p>
            <a:pPr algn="just"/>
            <a:r>
              <a:rPr lang="en-US" dirty="0" smtClean="0">
                <a:latin typeface="Times New Roman" pitchFamily="18" charset="0"/>
                <a:cs typeface="Times New Roman" pitchFamily="18" charset="0"/>
              </a:rPr>
              <a:t>This </a:t>
            </a:r>
            <a:r>
              <a:rPr lang="en-US" dirty="0" err="1" smtClean="0">
                <a:latin typeface="Times New Roman" pitchFamily="18" charset="0"/>
                <a:cs typeface="Times New Roman" pitchFamily="18" charset="0"/>
              </a:rPr>
              <a:t>maldistribution</a:t>
            </a:r>
            <a:r>
              <a:rPr lang="en-US" dirty="0" smtClean="0">
                <a:latin typeface="Times New Roman" pitchFamily="18" charset="0"/>
                <a:cs typeface="Times New Roman" pitchFamily="18" charset="0"/>
              </a:rPr>
              <a:t> is enhanced even further when ions become depleted at the membrane interface of the </a:t>
            </a:r>
            <a:r>
              <a:rPr lang="en-US" dirty="0" err="1" smtClean="0">
                <a:latin typeface="Times New Roman" pitchFamily="18" charset="0"/>
                <a:cs typeface="Times New Roman" pitchFamily="18" charset="0"/>
              </a:rPr>
              <a:t>diluate</a:t>
            </a:r>
            <a:r>
              <a:rPr lang="en-US" dirty="0" smtClean="0">
                <a:latin typeface="Times New Roman" pitchFamily="18" charset="0"/>
                <a:cs typeface="Times New Roman" pitchFamily="18" charset="0"/>
              </a:rPr>
              <a:t> compartments.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This occurs when at certain positions in the ED stack the limiting current density (LCD) is exceeded. </a:t>
            </a:r>
          </a:p>
          <a:p>
            <a:pPr algn="just"/>
            <a:r>
              <a:rPr lang="en-US" sz="2000" dirty="0" smtClean="0">
                <a:latin typeface="Times New Roman" pitchFamily="18" charset="0"/>
                <a:cs typeface="Times New Roman" pitchFamily="18" charset="0"/>
              </a:rPr>
              <a:t>LCD conditions are the result of a salt depleted diffusion boundary layer (DBL) that develops in the </a:t>
            </a:r>
            <a:r>
              <a:rPr lang="en-US" sz="2000" dirty="0" err="1" smtClean="0">
                <a:latin typeface="Times New Roman" pitchFamily="18" charset="0"/>
                <a:cs typeface="Times New Roman" pitchFamily="18" charset="0"/>
              </a:rPr>
              <a:t>diluate</a:t>
            </a:r>
            <a:r>
              <a:rPr lang="en-US" sz="2000" dirty="0" smtClean="0">
                <a:latin typeface="Times New Roman" pitchFamily="18" charset="0"/>
                <a:cs typeface="Times New Roman" pitchFamily="18" charset="0"/>
              </a:rPr>
              <a:t> compartment at the membrane interface (Figure 1.3), also referred to as concentration polarization. </a:t>
            </a:r>
          </a:p>
          <a:p>
            <a:pPr algn="just"/>
            <a:r>
              <a:rPr lang="en-US" sz="2000" dirty="0" smtClean="0">
                <a:latin typeface="Times New Roman" pitchFamily="18" charset="0"/>
                <a:cs typeface="Times New Roman" pitchFamily="18" charset="0"/>
              </a:rPr>
              <a:t>LCD conditions arise in ED because of low ion transport numbers in solutions compared to the ion transport </a:t>
            </a:r>
            <a:r>
              <a:rPr lang="en-US" sz="2000" dirty="0" err="1" smtClean="0">
                <a:latin typeface="Times New Roman" pitchFamily="18" charset="0"/>
                <a:cs typeface="Times New Roman" pitchFamily="18" charset="0"/>
              </a:rPr>
              <a:t>numbersin</a:t>
            </a:r>
            <a:r>
              <a:rPr lang="en-US" sz="2000" dirty="0" smtClean="0">
                <a:latin typeface="Times New Roman" pitchFamily="18" charset="0"/>
                <a:cs typeface="Times New Roman" pitchFamily="18" charset="0"/>
              </a:rPr>
              <a:t> membranes . </a:t>
            </a:r>
          </a:p>
          <a:p>
            <a:pPr algn="just"/>
            <a:r>
              <a:rPr lang="en-US" sz="2000" dirty="0" smtClean="0">
                <a:latin typeface="Times New Roman" pitchFamily="18" charset="0"/>
                <a:cs typeface="Times New Roman" pitchFamily="18" charset="0"/>
              </a:rPr>
              <a:t>Concentration polarization is induced by a high driving </a:t>
            </a:r>
            <a:r>
              <a:rPr lang="en-US" sz="2000" dirty="0" err="1" smtClean="0">
                <a:latin typeface="Times New Roman" pitchFamily="18" charset="0"/>
                <a:cs typeface="Times New Roman" pitchFamily="18" charset="0"/>
              </a:rPr>
              <a:t>force,poor</a:t>
            </a:r>
            <a:r>
              <a:rPr lang="en-US" sz="2000" dirty="0" smtClean="0">
                <a:latin typeface="Times New Roman" pitchFamily="18" charset="0"/>
                <a:cs typeface="Times New Roman" pitchFamily="18" charset="0"/>
              </a:rPr>
              <a:t> mixing in the </a:t>
            </a:r>
            <a:r>
              <a:rPr lang="en-US" sz="2000" dirty="0" err="1" smtClean="0">
                <a:latin typeface="Times New Roman" pitchFamily="18" charset="0"/>
                <a:cs typeface="Times New Roman" pitchFamily="18" charset="0"/>
              </a:rPr>
              <a:t>diluate</a:t>
            </a:r>
            <a:r>
              <a:rPr lang="en-US" sz="2000" dirty="0" smtClean="0">
                <a:latin typeface="Times New Roman" pitchFamily="18" charset="0"/>
                <a:cs typeface="Times New Roman" pitchFamily="18" charset="0"/>
              </a:rPr>
              <a:t> compartments and membranes with high ion transfer</a:t>
            </a:r>
            <a:endParaRPr lang="en-US" sz="20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cstate="print"/>
          <a:srcRect/>
          <a:stretch>
            <a:fillRect/>
          </a:stretch>
        </p:blipFill>
        <p:spPr bwMode="auto">
          <a:xfrm>
            <a:off x="1066800" y="381000"/>
            <a:ext cx="7564437" cy="3590925"/>
          </a:xfrm>
          <a:prstGeom prst="rect">
            <a:avLst/>
          </a:prstGeom>
          <a:noFill/>
          <a:ln w="9525">
            <a:noFill/>
            <a:miter lim="800000"/>
            <a:headEnd/>
            <a:tailEnd/>
          </a:ln>
          <a:effectLst/>
        </p:spPr>
      </p:pic>
      <p:sp>
        <p:nvSpPr>
          <p:cNvPr id="5" name="Rectangle 4"/>
          <p:cNvSpPr/>
          <p:nvPr/>
        </p:nvSpPr>
        <p:spPr>
          <a:xfrm>
            <a:off x="533400" y="4038600"/>
            <a:ext cx="8153400" cy="1938992"/>
          </a:xfrm>
          <a:prstGeom prst="rect">
            <a:avLst/>
          </a:prstGeom>
        </p:spPr>
        <p:txBody>
          <a:bodyPr wrap="square">
            <a:spAutoFit/>
          </a:bodyPr>
          <a:lstStyle/>
          <a:p>
            <a:pPr algn="just"/>
            <a:r>
              <a:rPr lang="en-US" sz="2000" dirty="0" smtClean="0">
                <a:latin typeface="Times New Roman" pitchFamily="18" charset="0"/>
                <a:cs typeface="Times New Roman" pitchFamily="18" charset="0"/>
              </a:rPr>
              <a:t>Figure 1.3: Schematic overview of an </a:t>
            </a:r>
            <a:r>
              <a:rPr lang="en-US" sz="2000" dirty="0" err="1" smtClean="0">
                <a:latin typeface="Times New Roman" pitchFamily="18" charset="0"/>
                <a:cs typeface="Times New Roman" pitchFamily="18" charset="0"/>
              </a:rPr>
              <a:t>electrodialysis</a:t>
            </a:r>
            <a:r>
              <a:rPr lang="en-US" sz="2000" dirty="0" smtClean="0">
                <a:latin typeface="Times New Roman" pitchFamily="18" charset="0"/>
                <a:cs typeface="Times New Roman" pitchFamily="18" charset="0"/>
              </a:rPr>
              <a:t> stack with indications of transport mechanisms, </a:t>
            </a:r>
            <a:r>
              <a:rPr lang="en-US" sz="2000" dirty="0" err="1" smtClean="0">
                <a:latin typeface="Times New Roman" pitchFamily="18" charset="0"/>
                <a:cs typeface="Times New Roman" pitchFamily="18" charset="0"/>
              </a:rPr>
              <a:t>Jsalt</a:t>
            </a:r>
            <a:r>
              <a:rPr lang="en-US" sz="2000" dirty="0" smtClean="0">
                <a:latin typeface="Times New Roman" pitchFamily="18" charset="0"/>
                <a:cs typeface="Times New Roman" pitchFamily="18" charset="0"/>
              </a:rPr>
              <a:t> indicating ion transport, back diffusion of ions, and </a:t>
            </a:r>
            <a:r>
              <a:rPr lang="en-US" sz="2000" dirty="0" err="1" smtClean="0">
                <a:latin typeface="Times New Roman" pitchFamily="18" charset="0"/>
                <a:cs typeface="Times New Roman" pitchFamily="18" charset="0"/>
              </a:rPr>
              <a:t>Jwater</a:t>
            </a:r>
            <a:r>
              <a:rPr lang="en-US" sz="2000" dirty="0" smtClean="0">
                <a:latin typeface="Times New Roman" pitchFamily="18" charset="0"/>
                <a:cs typeface="Times New Roman" pitchFamily="18" charset="0"/>
              </a:rPr>
              <a:t> indication the direction of water transport. Diffusion boundary layer (DBL) indicates the low salt concentration or salt depleted boundary layers (</a:t>
            </a:r>
            <a:r>
              <a:rPr lang="en-US" sz="2000" dirty="0" err="1" smtClean="0">
                <a:latin typeface="Times New Roman" pitchFamily="18" charset="0"/>
                <a:cs typeface="Times New Roman" pitchFamily="18" charset="0"/>
              </a:rPr>
              <a:t>Cmem,d</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Cmem,c</a:t>
            </a:r>
            <a:r>
              <a:rPr lang="en-US" sz="2000" dirty="0" smtClean="0">
                <a:latin typeface="Times New Roman" pitchFamily="18" charset="0"/>
                <a:cs typeface="Times New Roman" pitchFamily="18" charset="0"/>
              </a:rPr>
              <a:t>, for respectively </a:t>
            </a:r>
            <a:r>
              <a:rPr lang="en-US" sz="2000" dirty="0" err="1" smtClean="0">
                <a:latin typeface="Times New Roman" pitchFamily="18" charset="0"/>
                <a:cs typeface="Times New Roman" pitchFamily="18" charset="0"/>
              </a:rPr>
              <a:t>diluate</a:t>
            </a:r>
            <a:r>
              <a:rPr lang="en-US" sz="2000" dirty="0" smtClean="0">
                <a:latin typeface="Times New Roman" pitchFamily="18" charset="0"/>
                <a:cs typeface="Times New Roman" pitchFamily="18" charset="0"/>
              </a:rPr>
              <a:t> and concentrate) that build up during the desalination process</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28600" y="838200"/>
            <a:ext cx="8763000" cy="2616101"/>
          </a:xfrm>
          <a:prstGeom prst="rect">
            <a:avLst/>
          </a:prstGeom>
        </p:spPr>
        <p:txBody>
          <a:bodyPr wrap="square">
            <a:spAutoFit/>
          </a:bodyPr>
          <a:lstStyle/>
          <a:p>
            <a:pPr algn="just">
              <a:buNone/>
            </a:pPr>
            <a:r>
              <a:rPr lang="en-US" b="1" dirty="0" smtClean="0">
                <a:solidFill>
                  <a:srgbClr val="0070C0"/>
                </a:solidFill>
                <a:latin typeface="Times New Roman" pitchFamily="18" charset="0"/>
                <a:cs typeface="Times New Roman" pitchFamily="18" charset="0"/>
              </a:rPr>
              <a:t>Reference: </a:t>
            </a:r>
          </a:p>
          <a:p>
            <a:pPr algn="just">
              <a:buNone/>
            </a:pPr>
            <a:r>
              <a:rPr lang="en-US" sz="2000" dirty="0" smtClean="0">
                <a:latin typeface="Times New Roman" pitchFamily="18" charset="0"/>
                <a:cs typeface="Times New Roman" pitchFamily="18" charset="0"/>
                <a:hlinkClick r:id="rId2"/>
              </a:rPr>
              <a:t>1.   https://www.saltworkstech.com/articles/what-is-electrodialysis-reversal-and-its-new-innovations</a:t>
            </a:r>
            <a:r>
              <a:rPr lang="en-US" sz="2000" b="1" dirty="0" smtClean="0">
                <a:latin typeface="Times New Roman" pitchFamily="18" charset="0"/>
                <a:cs typeface="Times New Roman" pitchFamily="18" charset="0"/>
                <a:hlinkClick r:id="rId2"/>
              </a:rPr>
              <a:t>/</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2.efaidnbmnnnibpcajpcglclefindmkaj/https://research.tue.nl/files/164890905/20201217_Doornbusch.pdf2. </a:t>
            </a:r>
          </a:p>
          <a:p>
            <a:pPr algn="just">
              <a:buNone/>
            </a:pPr>
            <a:endParaRPr lang="en-US" sz="2000" b="1"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1096</Words>
  <Application>Microsoft Office PowerPoint</Application>
  <PresentationFormat>On-screen Show (4:3)</PresentationFormat>
  <Paragraphs>43</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ELECTRODIALYSIS REVERSAL DESALINATION</vt:lpstr>
      <vt:lpstr>BACKGROUND SEAWATER DESALINATION</vt:lpstr>
      <vt:lpstr>Slide 3</vt:lpstr>
      <vt:lpstr>Slide 4</vt:lpstr>
      <vt:lpstr>Slide 5</vt:lpstr>
      <vt:lpstr>Slide 6</vt:lpstr>
      <vt:lpstr>Slide 7</vt:lpstr>
      <vt:lpstr>Slide 8</vt:lpstr>
      <vt:lpstr>Slide 9</vt:lpstr>
      <vt:lpstr>Slide 10</vt:lpstr>
      <vt:lpstr> HOW DOES ELECTRODIALYSIS REVERSAL WORK? </vt:lpstr>
      <vt:lpstr>Slide 12</vt:lpstr>
      <vt:lpstr>Slide 13</vt:lpstr>
      <vt:lpstr>Slide 14</vt:lpstr>
      <vt:lpstr>ELECTRODIALYSIS (ED) IS A MEMBRANE PROCESS</vt:lpstr>
      <vt:lpstr>Slide 16</vt:lpstr>
      <vt:lpstr>Slide 17</vt:lpstr>
      <vt:lpstr>CHALLENGES IN ELECTRODIALYSIS FOR SEAWATER DESALINATION</vt:lpstr>
      <vt:lpstr>Slide 19</vt:lpstr>
      <vt:lpstr>Slide 20</vt:lpstr>
      <vt:lpstr>Slide 21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Subas Chandra Dash</dc:creator>
  <cp:lastModifiedBy>subas.dash</cp:lastModifiedBy>
  <cp:revision>22</cp:revision>
  <dcterms:created xsi:type="dcterms:W3CDTF">2006-08-16T00:00:00Z</dcterms:created>
  <dcterms:modified xsi:type="dcterms:W3CDTF">2025-08-06T07:04:01Z</dcterms:modified>
</cp:coreProperties>
</file>