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2" r:id="rId5"/>
    <p:sldId id="273" r:id="rId6"/>
    <p:sldId id="271"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com/search?sca_esv=89ebb62b8b040c7e&amp;rlz=1C1GCEU_enIN1119IN1119&amp;cs=0&amp;sxsrf=AE3TifOHuxt0rHN6UHMsVGcaRVkMVeH9BA:1758951589471&amp;q=Multistage+Flash+(MSF)&amp;sa=X&amp;ved=2ahUKEwiVzP6knfiPAxUEUGcHHe3sA2EQxccNegQIAhAD&amp;mstk=AUtExfCrZIm3lNXs1P-itIs38cAJphUpESSbQAXxHMcMpREbF95GC-dA71ExFP8lAY4hNXA1Sq8Sutw7DR9aDmVGFo-XurgVAmUXuBbDoe2qrK5Y-8d6jYqsSUF8oN4AE_i7KVxC2ebrAXOz9toxC0HMCR_Xr2GbAfHI7GA3MBrwlE5Ay304n-kfrqxijV6MLFeZsgDeKMbr07wRCbHqoQ0Mr0ho7mDbSBrSoFyevedCEcDCKfe0B2L_fcXNqSqcs6ekNjKRMikPYFrZSW_BM4gi6Wbu&amp;csui=3" TargetMode="External"/><Relationship Id="rId2" Type="http://schemas.openxmlformats.org/officeDocument/2006/relationships/hyperlink" Target="https://www.google.com/search?sca_esv=89ebb62b8b040c7e&amp;rlz=1C1GCEU_enIN1119IN1119&amp;cs=0&amp;sxsrf=AE3TifOHuxt0rHN6UHMsVGcaRVkMVeH9BA:1758951589471&amp;q=Reverse+Osmosis+(RO)&amp;sa=X&amp;ved=2ahUKEwiVzP6knfiPAxUEUGcHHe3sA2EQxccNegQIAhAC&amp;mstk=AUtExfCrZIm3lNXs1P-itIs38cAJphUpESSbQAXxHMcMpREbF95GC-dA71ExFP8lAY4hNXA1Sq8Sutw7DR9aDmVGFo-XurgVAmUXuBbDoe2qrK5Y-8d6jYqsSUF8oN4AE_i7KVxC2ebrAXOz9toxC0HMCR_Xr2GbAfHI7GA3MBrwlE5Ay304n-kfrqxijV6MLFeZsgDeKMbr07wRCbHqoQ0Mr0ho7mDbSBrSoFyevedCEcDCKfe0B2L_fcXNqSqcs6ekNjKRMikPYFrZSW_BM4gi6Wbu&amp;csui=3"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oogle.com/search?sca_esv=89ebb62b8b040c7e&amp;rlz=1C1GCEU_enIN1119IN1119&amp;cs=0&amp;sxsrf=AE3TifOHuxt0rHN6UHMsVGcaRVkMVeH9BA:1758951589471&amp;q=Small+Modular+Reactors+(SMRs)&amp;sa=X&amp;ved=2ahUKEwiVzP6knfiPAxUEUGcHHe3sA2EQxccNegQIWRAB&amp;mstk=AUtExfCrZIm3lNXs1P-itIs38cAJphUpESSbQAXxHMcMpREbF95GC-dA71ExFP8lAY4hNXA1Sq8Sutw7DR9aDmVGFo-XurgVAmUXuBbDoe2qrK5Y-8d6jYqsSUF8oN4AE_i7KVxC2ebrAXOz9toxC0HMCR_Xr2GbAfHI7GA3MBrwlE5Ay304n-kfrqxijV6MLFeZsgDeKMbr07wRCbHqoQ0Mr0ho7mDbSBrSoFyevedCEcDCKfe0B2L_fcXNqSqcs6ekNjKRMikPYFrZSW_BM4gi6Wbu&amp;csui=3"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oogle.com/search?sca_esv=89ebb62b8b040c7e&amp;rlz=1C1GCEU_enIN1119IN1119&amp;cs=0&amp;sxsrf=AE3TifOHuxt0rHN6UHMsVGcaRVkMVeH9BA:1758951589471&amp;q=Multi-Effect+Distillation+(MED)&amp;sa=X&amp;ved=2ahUKEwiVzP6knfiPAxUEUGcHHe3sA2EQxccNegQIHRAB&amp;mstk=AUtExfCrZIm3lNXs1P-itIs38cAJphUpESSbQAXxHMcMpREbF95GC-dA71ExFP8lAY4hNXA1Sq8Sutw7DR9aDmVGFo-XurgVAmUXuBbDoe2qrK5Y-8d6jYqsSUF8oN4AE_i7KVxC2ebrAXOz9toxC0HMCR_Xr2GbAfHI7GA3MBrwlE5Ay304n-kfrqxijV6MLFeZsgDeKMbr07wRCbHqoQ0Mr0ho7mDbSBrSoFyevedCEcDCKfe0B2L_fcXNqSqcs6ekNjKRMikPYFrZSW_BM4gi6Wbu&amp;csui=3"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oogle.com/search?rlz=1C1GCEU_enIN1119IN1119&amp;cs=0&amp;sca_esv=89ebb62b8b040c7e&amp;sxsrf=AE3TifPMR65r8jnX16yq80VFTchlRkGvZA:1758949245277&amp;q=reverse+osmosis+(RO)&amp;sa=X&amp;ved=2ahUKEwj9wZLHlPiPAxV9S3ADHYAlKR0QxccNegQIGBAB&amp;mstk=AUtExfC73jmAAGclXqO9YzggQgCqDEGvycyB_e_zVjbTEwSLEBR6PkOmItg4R7jSyt1FdhOCUiGgdX7Qfo2i9wBJzsACcG-icB-0CrMPVqOAHCvA35jncD4C2B2cxgS9ZrSChBdAGOHcV8feHI6YtSipwNyM9mGnV0G-emhzQzn9K4CWWH_47JJDOYT8UYF0c_hTuhEirR1rgxqOqG12o7TgoY6_ED-Rs1GdnYEpof1oWT7Uip1ttmyGJr4RI8tSc6TVNIn_IQpnH-Bg6vjehClodYfM&amp;csui=3"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oogle.com/search?rlz=1C1GCEU_enIN1119IN1119&amp;cs=0&amp;sca_esv=89ebb62b8b040c7e&amp;sxsrf=AE3TifPMR65r8jnX16yq80VFTchlRkGvZA:1758949245277&amp;q=CO2+emissions&amp;sa=X&amp;ved=2ahUKEwj9wZLHlPiPAxV9S3ADHYAlKR0QxccNegQILxAB&amp;mstk=AUtExfC73jmAAGclXqO9YzggQgCqDEGvycyB_e_zVjbTEwSLEBR6PkOmItg4R7jSyt1FdhOCUiGgdX7Qfo2i9wBJzsACcG-icB-0CrMPVqOAHCvA35jncD4C2B2cxgS9ZrSChBdAGOHcV8feHI6YtSipwNyM9mGnV0G-emhzQzn9K4CWWH_47JJDOYT8UYF0c_hTuhEirR1rgxqOqG12o7TgoY6_ED-Rs1GdnYEpof1oWT7Uip1ttmyGJr4RI8tSc6TVNIn_IQpnH-Bg6vjehClodYfM&amp;csui=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oogle.com/search?rlz=1C1GCEU_enIN1119IN1119&amp;cs=0&amp;sca_esv=89ebb62b8b040c7e&amp;sxsrf=AE3TifPMR65r8jnX16yq80VFTchlRkGvZA:1758949245277&amp;q=batteries&amp;sa=X&amp;ved=2ahUKEwj9wZLHlPiPAxV9S3ADHYAlKR0QxccNegQIRBAB&amp;mstk=AUtExfC73jmAAGclXqO9YzggQgCqDEGvycyB_e_zVjbTEwSLEBR6PkOmItg4R7jSyt1FdhOCUiGgdX7Qfo2i9wBJzsACcG-icB-0CrMPVqOAHCvA35jncD4C2B2cxgS9ZrSChBdAGOHcV8feHI6YtSipwNyM9mGnV0G-emhzQzn9K4CWWH_47JJDOYT8UYF0c_hTuhEirR1rgxqOqG12o7TgoY6_ED-Rs1GdnYEpof1oWT7Uip1ttmyGJr4RI8tSc6TVNIn_IQpnH-Bg6vjehClodYfM&amp;csui=3"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tandfonline.com/doi/full/10.1080/14786451.2024.2441844?scroll=top&amp;needAccess=tru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800" b="1" dirty="0" smtClean="0">
                <a:latin typeface="Times New Roman" pitchFamily="18" charset="0"/>
                <a:cs typeface="Times New Roman" pitchFamily="18" charset="0"/>
              </a:rPr>
              <a:t>NUCLEAR POWER  AND </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WIND-POWERED DESALINATION </a:t>
            </a:r>
            <a:endParaRPr lang="en-US" sz="28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0070C0"/>
                </a:solidFill>
                <a:latin typeface="Times New Roman" pitchFamily="18" charset="0"/>
                <a:cs typeface="Times New Roman" pitchFamily="18" charset="0"/>
              </a:rPr>
              <a:t>NUCLEAR POWER DESALINATION SYSTEM</a:t>
            </a:r>
            <a:endParaRPr lang="en-US" sz="2800" b="1" dirty="0">
              <a:solidFill>
                <a:srgbClr val="0070C0"/>
              </a:solidFill>
            </a:endParaRPr>
          </a:p>
        </p:txBody>
      </p:sp>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A nuclear power desalination system uses the electricity and/or heat from a nuclear reactor to purify seawater into fresh water, employing techniques like </a:t>
            </a:r>
            <a:r>
              <a:rPr lang="en-US" sz="2000" dirty="0" smtClean="0">
                <a:latin typeface="Times New Roman" pitchFamily="18" charset="0"/>
                <a:cs typeface="Times New Roman" pitchFamily="18" charset="0"/>
                <a:hlinkClick r:id="rId2"/>
              </a:rPr>
              <a:t>Reverse Osmosis (RO)</a:t>
            </a:r>
            <a:r>
              <a:rPr lang="en-US" sz="2000" dirty="0" smtClean="0">
                <a:latin typeface="Times New Roman" pitchFamily="18" charset="0"/>
                <a:cs typeface="Times New Roman" pitchFamily="18" charset="0"/>
              </a:rPr>
              <a:t> or thermal </a:t>
            </a:r>
            <a:r>
              <a:rPr lang="en-US" sz="2000" dirty="0" smtClean="0">
                <a:latin typeface="Times New Roman" pitchFamily="18" charset="0"/>
                <a:cs typeface="Times New Roman" pitchFamily="18" charset="0"/>
                <a:hlinkClick r:id="rId3"/>
              </a:rPr>
              <a:t>Multistage Flash (MSF)</a:t>
            </a:r>
            <a:r>
              <a:rPr lang="en-US" sz="2000" dirty="0" smtClean="0">
                <a:latin typeface="Times New Roman" pitchFamily="18" charset="0"/>
                <a:cs typeface="Times New Roman" pitchFamily="18" charset="0"/>
              </a:rPr>
              <a:t> distillation. </a:t>
            </a:r>
          </a:p>
          <a:p>
            <a:pPr algn="just"/>
            <a:r>
              <a:rPr lang="en-US" sz="2000" dirty="0" smtClean="0">
                <a:latin typeface="Times New Roman" pitchFamily="18" charset="0"/>
                <a:cs typeface="Times New Roman" pitchFamily="18" charset="0"/>
              </a:rPr>
              <a:t>These dual-purpose plants offer a sustainable water source for areas with water scarcity and high energy needs, using small and large reactors to power desalination processes with competitive economics. </a:t>
            </a:r>
          </a:p>
          <a:p>
            <a:pPr algn="just"/>
            <a:r>
              <a:rPr lang="en-US" sz="2000" dirty="0" smtClean="0">
                <a:latin typeface="Times New Roman" pitchFamily="18" charset="0"/>
                <a:cs typeface="Times New Roman" pitchFamily="18" charset="0"/>
              </a:rPr>
              <a:t>Safety measures, such as multiple containment barriers, prevent contamination from radioactive elements like tritium, ensuring the production of safe, high-quality fresh water.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33400"/>
            <a:ext cx="3429000" cy="487362"/>
          </a:xfrm>
        </p:spPr>
        <p:txBody>
          <a:bodyPr>
            <a:noAutofit/>
          </a:bodyPr>
          <a:lstStyle/>
          <a:p>
            <a:r>
              <a:rPr lang="en-US" sz="2800" b="1" dirty="0" smtClean="0"/>
              <a:t/>
            </a:r>
            <a:br>
              <a:rPr lang="en-US" sz="2800" b="1" dirty="0" smtClean="0"/>
            </a:br>
            <a:r>
              <a:rPr lang="en-US" sz="2800" b="1" dirty="0" smtClean="0">
                <a:solidFill>
                  <a:srgbClr val="0070C0"/>
                </a:solidFill>
              </a:rPr>
              <a:t>KEY BENEFITS</a:t>
            </a:r>
            <a:r>
              <a:rPr lang="en-US" sz="2800" b="1" dirty="0" smtClean="0"/>
              <a:t/>
            </a:r>
            <a:br>
              <a:rPr lang="en-US" sz="2800" b="1" dirty="0" smtClean="0"/>
            </a:br>
            <a:endParaRPr lang="en-US" sz="2800" b="1" dirty="0"/>
          </a:p>
        </p:txBody>
      </p:sp>
      <p:sp>
        <p:nvSpPr>
          <p:cNvPr id="3" name="Content Placeholder 2"/>
          <p:cNvSpPr>
            <a:spLocks noGrp="1"/>
          </p:cNvSpPr>
          <p:nvPr>
            <p:ph idx="1"/>
          </p:nvPr>
        </p:nvSpPr>
        <p:spPr>
          <a:xfrm>
            <a:off x="381000" y="1219200"/>
            <a:ext cx="8229600" cy="4525963"/>
          </a:xfrm>
        </p:spPr>
        <p:txBody>
          <a:bodyPr>
            <a:normAutofit fontScale="92500" lnSpcReduction="10000"/>
          </a:bodyPr>
          <a:lstStyle/>
          <a:p>
            <a:pPr algn="just"/>
            <a:r>
              <a:rPr lang="en-US" sz="2200" b="1" dirty="0" smtClean="0">
                <a:latin typeface="Times New Roman" pitchFamily="18" charset="0"/>
                <a:cs typeface="Times New Roman" pitchFamily="18" charset="0"/>
              </a:rPr>
              <a:t>Sustainable Water Production:</a:t>
            </a:r>
            <a:r>
              <a:rPr lang="en-US" sz="2200" dirty="0" smtClean="0">
                <a:latin typeface="Times New Roman" pitchFamily="18" charset="0"/>
                <a:cs typeface="Times New Roman" pitchFamily="18" charset="0"/>
              </a:rPr>
              <a:t> </a:t>
            </a:r>
          </a:p>
          <a:p>
            <a:pPr algn="just" fontAlgn="ctr"/>
            <a:r>
              <a:rPr lang="en-US" sz="2200" dirty="0" smtClean="0">
                <a:latin typeface="Times New Roman" pitchFamily="18" charset="0"/>
                <a:cs typeface="Times New Roman" pitchFamily="18" charset="0"/>
              </a:rPr>
              <a:t>Provides a reliable, large-scale source of fresh water in arid regions or areas with high water demand. </a:t>
            </a:r>
          </a:p>
          <a:p>
            <a:pPr algn="just"/>
            <a:r>
              <a:rPr lang="en-US" sz="2200" b="1" dirty="0" smtClean="0">
                <a:latin typeface="Times New Roman" pitchFamily="18" charset="0"/>
                <a:cs typeface="Times New Roman" pitchFamily="18" charset="0"/>
              </a:rPr>
              <a:t>Energy Cogeneration:</a:t>
            </a:r>
            <a:r>
              <a:rPr lang="en-US" sz="2200" dirty="0" smtClean="0">
                <a:latin typeface="Times New Roman" pitchFamily="18" charset="0"/>
                <a:cs typeface="Times New Roman" pitchFamily="18" charset="0"/>
              </a:rPr>
              <a:t> </a:t>
            </a:r>
          </a:p>
          <a:p>
            <a:pPr algn="just" fontAlgn="ctr"/>
            <a:r>
              <a:rPr lang="en-US" sz="2200" dirty="0" smtClean="0">
                <a:latin typeface="Times New Roman" pitchFamily="18" charset="0"/>
                <a:cs typeface="Times New Roman" pitchFamily="18" charset="0"/>
              </a:rPr>
              <a:t>Dual-purpose plants produce both electricity and desalinated water from a single nuclear plant, increasing efficiency and economic competitiveness. </a:t>
            </a:r>
          </a:p>
          <a:p>
            <a:r>
              <a:rPr lang="en-US" sz="2400" b="1" dirty="0" smtClean="0"/>
              <a:t>Reduced Reliance on Fossil Fuels:</a:t>
            </a:r>
            <a:r>
              <a:rPr lang="en-US" sz="2400" dirty="0" smtClean="0"/>
              <a:t> </a:t>
            </a:r>
          </a:p>
          <a:p>
            <a:r>
              <a:rPr lang="en-US" sz="2400" dirty="0" smtClean="0"/>
              <a:t>Offers a clean energy alternative to fossil fuels for desalination, contributing to a lower carbon footprint. </a:t>
            </a:r>
          </a:p>
          <a:p>
            <a:pPr algn="just" fontAlgn="ctr"/>
            <a:endParaRPr lang="en-US" sz="2200" dirty="0" smtClean="0">
              <a:latin typeface="Times New Roman" pitchFamily="18" charset="0"/>
              <a:cs typeface="Times New Roman" pitchFamily="18" charset="0"/>
            </a:endParaRP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162800" cy="868362"/>
          </a:xfrm>
        </p:spPr>
        <p:txBody>
          <a:bodyPr>
            <a:normAutofit fontScale="90000"/>
          </a:bodyPr>
          <a:lstStyle/>
          <a:p>
            <a:r>
              <a:rPr lang="en-US" sz="3600" b="1" dirty="0" smtClean="0">
                <a:solidFill>
                  <a:srgbClr val="0070C0"/>
                </a:solidFill>
                <a:latin typeface="Times New Roman" pitchFamily="18" charset="0"/>
                <a:cs typeface="Times New Roman" pitchFamily="18" charset="0"/>
              </a:rPr>
              <a:t/>
            </a:r>
            <a:br>
              <a:rPr lang="en-US" sz="3600" b="1" dirty="0" smtClean="0">
                <a:solidFill>
                  <a:srgbClr val="0070C0"/>
                </a:solidFill>
                <a:latin typeface="Times New Roman" pitchFamily="18" charset="0"/>
                <a:cs typeface="Times New Roman" pitchFamily="18" charset="0"/>
              </a:rPr>
            </a:br>
            <a:r>
              <a:rPr lang="en-US" sz="3600" b="1" dirty="0" smtClean="0">
                <a:solidFill>
                  <a:srgbClr val="0070C0"/>
                </a:solidFill>
                <a:latin typeface="Times New Roman" pitchFamily="18" charset="0"/>
                <a:cs typeface="Times New Roman" pitchFamily="18" charset="0"/>
              </a:rPr>
              <a:t>SAFETY AND CHALLENGES</a:t>
            </a:r>
            <a:r>
              <a:rPr lang="en-US" dirty="0" smtClean="0"/>
              <a:t/>
            </a:r>
            <a:br>
              <a:rPr lang="en-US" dirty="0" smtClean="0"/>
            </a:br>
            <a:endParaRPr lang="en-US" dirty="0"/>
          </a:p>
        </p:txBody>
      </p:sp>
      <p:sp>
        <p:nvSpPr>
          <p:cNvPr id="3" name="Content Placeholder 2"/>
          <p:cNvSpPr>
            <a:spLocks noGrp="1"/>
          </p:cNvSpPr>
          <p:nvPr>
            <p:ph idx="1"/>
          </p:nvPr>
        </p:nvSpPr>
        <p:spPr>
          <a:xfrm>
            <a:off x="457200" y="1066800"/>
            <a:ext cx="8229600" cy="4525963"/>
          </a:xfrm>
        </p:spPr>
        <p:txBody>
          <a:bodyPr>
            <a:noAutofit/>
          </a:bodyPr>
          <a:lstStyle/>
          <a:p>
            <a:r>
              <a:rPr lang="en-US" sz="2000" b="1" dirty="0" smtClean="0">
                <a:latin typeface="Times New Roman" pitchFamily="18" charset="0"/>
                <a:cs typeface="Times New Roman" pitchFamily="18" charset="0"/>
              </a:rPr>
              <a:t>Contamination Prevention:</a:t>
            </a:r>
            <a:r>
              <a:rPr lang="en-US" sz="2000" dirty="0" smtClean="0">
                <a:latin typeface="Times New Roman" pitchFamily="18" charset="0"/>
                <a:cs typeface="Times New Roman" pitchFamily="18" charset="0"/>
              </a:rPr>
              <a:t> </a:t>
            </a:r>
          </a:p>
          <a:p>
            <a:pPr fontAlgn="ctr"/>
            <a:r>
              <a:rPr lang="en-US" sz="2000" dirty="0" smtClean="0">
                <a:latin typeface="Times New Roman" pitchFamily="18" charset="0"/>
                <a:cs typeface="Times New Roman" pitchFamily="18" charset="0"/>
              </a:rPr>
              <a:t>Multiple loops and heat exchangers are used to create barriers between the radioactive primary coolant and the seawater, preventing contamination. </a:t>
            </a:r>
          </a:p>
          <a:p>
            <a:r>
              <a:rPr lang="en-US" sz="2000" b="1" dirty="0" smtClean="0">
                <a:latin typeface="Times New Roman" pitchFamily="18" charset="0"/>
                <a:cs typeface="Times New Roman" pitchFamily="18" charset="0"/>
              </a:rPr>
              <a:t>Tritium Control:</a:t>
            </a:r>
            <a:r>
              <a:rPr lang="en-US" sz="2000" dirty="0" smtClean="0">
                <a:latin typeface="Times New Roman" pitchFamily="18" charset="0"/>
                <a:cs typeface="Times New Roman" pitchFamily="18" charset="0"/>
              </a:rPr>
              <a:t> </a:t>
            </a:r>
          </a:p>
          <a:p>
            <a:pPr fontAlgn="ctr"/>
            <a:r>
              <a:rPr lang="en-US" sz="2000" dirty="0" smtClean="0">
                <a:latin typeface="Times New Roman" pitchFamily="18" charset="0"/>
                <a:cs typeface="Times New Roman" pitchFamily="18" charset="0"/>
              </a:rPr>
              <a:t>Engineers monitor pressure differentials and implement safety measures to control tritium, a radioactive isotope of hydrogen, which could otherwise contaminate the product water. </a:t>
            </a:r>
          </a:p>
          <a:p>
            <a:r>
              <a:rPr lang="en-US" sz="2000" b="1" dirty="0" smtClean="0">
                <a:latin typeface="Times New Roman" pitchFamily="18" charset="0"/>
                <a:cs typeface="Times New Roman" pitchFamily="18" charset="0"/>
              </a:rPr>
              <a:t>Public Acceptance:</a:t>
            </a:r>
            <a:r>
              <a:rPr lang="en-US" sz="2000" dirty="0" smtClean="0">
                <a:latin typeface="Times New Roman" pitchFamily="18" charset="0"/>
                <a:cs typeface="Times New Roman" pitchFamily="18" charset="0"/>
              </a:rPr>
              <a:t> </a:t>
            </a:r>
          </a:p>
          <a:p>
            <a:pPr fontAlgn="ctr"/>
            <a:r>
              <a:rPr lang="en-US" sz="2000" dirty="0" smtClean="0">
                <a:latin typeface="Times New Roman" pitchFamily="18" charset="0"/>
                <a:cs typeface="Times New Roman" pitchFamily="18" charset="0"/>
              </a:rPr>
              <a:t>While safety measures are robust, public perception and acceptance remain significant factors in the deployment of nuclear desalination systems. </a:t>
            </a:r>
          </a:p>
          <a:p>
            <a:r>
              <a:rPr lang="en-US" sz="2000" dirty="0" smtClean="0">
                <a:latin typeface="Times New Roman" pitchFamily="18" charset="0"/>
                <a:cs typeface="Times New Roman" pitchFamily="18" charset="0"/>
              </a:rPr>
              <a:t>Current Examples</a:t>
            </a:r>
          </a:p>
          <a:p>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229600" cy="4525963"/>
          </a:xfrm>
        </p:spPr>
        <p:txBody>
          <a:bodyPr>
            <a:normAutofit/>
          </a:bodyPr>
          <a:lstStyle/>
          <a:p>
            <a:pPr algn="just"/>
            <a:r>
              <a:rPr lang="en-US" sz="2200" b="1" dirty="0" smtClean="0">
                <a:latin typeface="Times New Roman" pitchFamily="18" charset="0"/>
                <a:cs typeface="Times New Roman" pitchFamily="18" charset="0"/>
              </a:rPr>
              <a:t>India:</a:t>
            </a:r>
            <a:r>
              <a:rPr lang="en-US" sz="2200" dirty="0" smtClean="0">
                <a:latin typeface="Times New Roman" pitchFamily="18" charset="0"/>
                <a:cs typeface="Times New Roman" pitchFamily="18" charset="0"/>
              </a:rPr>
              <a:t> </a:t>
            </a:r>
          </a:p>
          <a:p>
            <a:pPr algn="just" fontAlgn="ctr"/>
            <a:r>
              <a:rPr lang="en-US" sz="2200" dirty="0" smtClean="0">
                <a:latin typeface="Times New Roman" pitchFamily="18" charset="0"/>
                <a:cs typeface="Times New Roman" pitchFamily="18" charset="0"/>
              </a:rPr>
              <a:t>The </a:t>
            </a:r>
            <a:r>
              <a:rPr lang="en-US" sz="2200" dirty="0" err="1" smtClean="0">
                <a:latin typeface="Times New Roman" pitchFamily="18" charset="0"/>
                <a:cs typeface="Times New Roman" pitchFamily="18" charset="0"/>
              </a:rPr>
              <a:t>Kalpakkam</a:t>
            </a:r>
            <a:r>
              <a:rPr lang="en-US" sz="2200" dirty="0" smtClean="0">
                <a:latin typeface="Times New Roman" pitchFamily="18" charset="0"/>
                <a:cs typeface="Times New Roman" pitchFamily="18" charset="0"/>
              </a:rPr>
              <a:t> plant operates a hybrid MSF/RO system, demonstrating the successful integration of nuclear power with advanced desalination techniques. </a:t>
            </a:r>
          </a:p>
          <a:p>
            <a:pPr algn="just"/>
            <a:r>
              <a:rPr lang="en-US" sz="2200" b="1" dirty="0" smtClean="0">
                <a:latin typeface="Times New Roman" pitchFamily="18" charset="0"/>
                <a:cs typeface="Times New Roman" pitchFamily="18" charset="0"/>
              </a:rPr>
              <a:t>Global Trends:</a:t>
            </a:r>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Many countries are investigating the use of </a:t>
            </a:r>
            <a:r>
              <a:rPr lang="en-US" sz="2200" dirty="0" smtClean="0">
                <a:latin typeface="Times New Roman" pitchFamily="18" charset="0"/>
                <a:cs typeface="Times New Roman" pitchFamily="18" charset="0"/>
                <a:hlinkClick r:id="rId2"/>
              </a:rPr>
              <a:t>Small Modular Reactors (SMRs)</a:t>
            </a:r>
            <a:r>
              <a:rPr lang="en-US" sz="2200" dirty="0" smtClean="0">
                <a:latin typeface="Times New Roman" pitchFamily="18" charset="0"/>
                <a:cs typeface="Times New Roman" pitchFamily="18" charset="0"/>
              </a:rPr>
              <a:t> for desalination due to their adaptability and efficiency, potentially expanding nuclear desalination capabilities worldwide. </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648200" cy="868362"/>
          </a:xfrm>
        </p:spPr>
        <p:txBody>
          <a:bodyPr>
            <a:normAutofit fontScale="90000"/>
          </a:bodyPr>
          <a:lstStyle/>
          <a:p>
            <a:r>
              <a:rPr lang="en-US" sz="3200" b="1" dirty="0" smtClean="0">
                <a:latin typeface="Times New Roman" pitchFamily="18" charset="0"/>
                <a:cs typeface="Times New Roman" pitchFamily="18" charset="0"/>
              </a:rPr>
              <a:t>HOW IT WORKS</a:t>
            </a:r>
            <a:br>
              <a:rPr lang="en-US" sz="3200" b="1" dirty="0" smtClean="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525963"/>
          </a:xfrm>
        </p:spPr>
        <p:txBody>
          <a:bodyPr>
            <a:normAutofit fontScale="77500" lnSpcReduction="20000"/>
          </a:bodyPr>
          <a:lstStyle/>
          <a:p>
            <a:pPr algn="just"/>
            <a:r>
              <a:rPr lang="en-US" sz="2900" b="1" dirty="0" smtClean="0">
                <a:latin typeface="Times New Roman" pitchFamily="18" charset="0"/>
                <a:cs typeface="Times New Roman" pitchFamily="18" charset="0"/>
              </a:rPr>
              <a:t>Heat and Power Generation:</a:t>
            </a:r>
            <a:r>
              <a:rPr lang="en-US" sz="2900" dirty="0" smtClean="0">
                <a:latin typeface="Times New Roman" pitchFamily="18" charset="0"/>
                <a:cs typeface="Times New Roman" pitchFamily="18" charset="0"/>
              </a:rPr>
              <a:t> </a:t>
            </a:r>
          </a:p>
          <a:p>
            <a:pPr algn="just" fontAlgn="ctr"/>
            <a:r>
              <a:rPr lang="en-US" sz="2900" dirty="0" smtClean="0">
                <a:latin typeface="Times New Roman" pitchFamily="18" charset="0"/>
                <a:cs typeface="Times New Roman" pitchFamily="18" charset="0"/>
              </a:rPr>
              <a:t>A nuclear reactor generates heat, which is used to create steam for both producing electricity and driving desalination processes. </a:t>
            </a:r>
          </a:p>
          <a:p>
            <a:pPr algn="just"/>
            <a:r>
              <a:rPr lang="en-US" sz="2900" b="1" dirty="0" smtClean="0">
                <a:latin typeface="Times New Roman" pitchFamily="18" charset="0"/>
                <a:cs typeface="Times New Roman" pitchFamily="18" charset="0"/>
              </a:rPr>
              <a:t>Desalination Technologies:</a:t>
            </a:r>
            <a:endParaRPr lang="en-US" sz="2900" dirty="0" smtClean="0">
              <a:latin typeface="Times New Roman" pitchFamily="18" charset="0"/>
              <a:cs typeface="Times New Roman" pitchFamily="18" charset="0"/>
            </a:endParaRPr>
          </a:p>
          <a:p>
            <a:pPr algn="just" fontAlgn="ctr"/>
            <a:r>
              <a:rPr lang="en-US" sz="2900" b="1" dirty="0" smtClean="0">
                <a:latin typeface="Times New Roman" pitchFamily="18" charset="0"/>
                <a:cs typeface="Times New Roman" pitchFamily="18" charset="0"/>
              </a:rPr>
              <a:t>Thermal Methods:</a:t>
            </a:r>
            <a:r>
              <a:rPr lang="en-US" sz="2900" dirty="0" smtClean="0">
                <a:latin typeface="Times New Roman" pitchFamily="18" charset="0"/>
                <a:cs typeface="Times New Roman" pitchFamily="18" charset="0"/>
              </a:rPr>
              <a:t> Technologies like MSF or </a:t>
            </a:r>
            <a:r>
              <a:rPr lang="en-US" sz="2900" dirty="0" smtClean="0">
                <a:latin typeface="Times New Roman" pitchFamily="18" charset="0"/>
                <a:cs typeface="Times New Roman" pitchFamily="18" charset="0"/>
                <a:hlinkClick r:id="rId2"/>
              </a:rPr>
              <a:t>Multi-Effect Distillation (MED)</a:t>
            </a:r>
            <a:r>
              <a:rPr lang="en-US" sz="2900" dirty="0" smtClean="0">
                <a:latin typeface="Times New Roman" pitchFamily="18" charset="0"/>
                <a:cs typeface="Times New Roman" pitchFamily="18" charset="0"/>
              </a:rPr>
              <a:t> use the steam to heat seawater, evaporate it, and then condense the vapor into fresh water, leaving the salt behind. </a:t>
            </a:r>
          </a:p>
          <a:p>
            <a:pPr algn="just" fontAlgn="ctr"/>
            <a:r>
              <a:rPr lang="en-US" sz="2900" b="1" dirty="0" smtClean="0">
                <a:latin typeface="Times New Roman" pitchFamily="18" charset="0"/>
                <a:cs typeface="Times New Roman" pitchFamily="18" charset="0"/>
              </a:rPr>
              <a:t>Membrane Methods:</a:t>
            </a:r>
            <a:r>
              <a:rPr lang="en-US" sz="2900" dirty="0" smtClean="0">
                <a:latin typeface="Times New Roman" pitchFamily="18" charset="0"/>
                <a:cs typeface="Times New Roman" pitchFamily="18" charset="0"/>
              </a:rPr>
              <a:t> Reverse Osmosis (RO) uses pressure to force water through a semi-permeable membrane, separating it from the salt and other minerals. </a:t>
            </a:r>
          </a:p>
          <a:p>
            <a:pPr algn="just"/>
            <a:r>
              <a:rPr lang="en-US" sz="2900" b="1" dirty="0" smtClean="0">
                <a:latin typeface="Times New Roman" pitchFamily="18" charset="0"/>
                <a:cs typeface="Times New Roman" pitchFamily="18" charset="0"/>
              </a:rPr>
              <a:t>Hybrid Systems:</a:t>
            </a:r>
            <a:r>
              <a:rPr lang="en-US" sz="2900" dirty="0" smtClean="0">
                <a:latin typeface="Times New Roman" pitchFamily="18" charset="0"/>
                <a:cs typeface="Times New Roman" pitchFamily="18" charset="0"/>
              </a:rPr>
              <a:t> Many modern systems combine thermal and membrane processes for greater efficiency.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315200" cy="1020762"/>
          </a:xfrm>
        </p:spPr>
        <p:txBody>
          <a:bodyPr>
            <a:normAutofit/>
          </a:bodyPr>
          <a:lstStyle/>
          <a:p>
            <a:r>
              <a:rPr lang="en-US" sz="2800" b="1" dirty="0" smtClean="0">
                <a:solidFill>
                  <a:srgbClr val="0070C0"/>
                </a:solidFill>
                <a:latin typeface="Times New Roman" pitchFamily="18" charset="0"/>
                <a:cs typeface="Times New Roman" pitchFamily="18" charset="0"/>
              </a:rPr>
              <a:t>WIND-POWERED DESALINATION</a:t>
            </a:r>
            <a:endParaRPr lang="en-US" sz="2800" b="1" dirty="0">
              <a:solidFill>
                <a:srgbClr val="0070C0"/>
              </a:solidFill>
            </a:endParaRPr>
          </a:p>
        </p:txBody>
      </p:sp>
      <p:sp>
        <p:nvSpPr>
          <p:cNvPr id="3" name="Content Placeholder 2"/>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A wind-powered desalination plant uses the kinetic or electrical energy from wind turbines to remove salt and other impurities from seawater or brackish water, producing fresh water. </a:t>
            </a:r>
          </a:p>
          <a:p>
            <a:pPr algn="just"/>
            <a:r>
              <a:rPr lang="en-US" sz="2200" dirty="0" smtClean="0">
                <a:latin typeface="Times New Roman" pitchFamily="18" charset="0"/>
                <a:cs typeface="Times New Roman" pitchFamily="18" charset="0"/>
              </a:rPr>
              <a:t>These systems offer a sustainable, environmentally friendly alternative to fossil-fuel-powered desalination, especially for coastal regions and islands, but require careful integration to address the intermittent nature of wind energy and the high power demand of desalination processes.</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249362"/>
          </a:xfrm>
        </p:spPr>
        <p:txBody>
          <a:bodyPr>
            <a:noAutofit/>
          </a:bodyPr>
          <a:lstStyle/>
          <a:p>
            <a:r>
              <a:rPr lang="en-US" sz="2800" b="1" dirty="0" smtClean="0">
                <a:latin typeface="Times New Roman" pitchFamily="18" charset="0"/>
                <a:cs typeface="Times New Roman" pitchFamily="18" charset="0"/>
              </a:rPr>
              <a:t/>
            </a:r>
            <a:br>
              <a:rPr lang="en-US" sz="2800" b="1"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 WIND-POWERED DESALINATION </a:t>
            </a:r>
            <a:br>
              <a:rPr lang="en-US" sz="2800" b="1"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HOW IT WORKS</a:t>
            </a:r>
            <a:br>
              <a:rPr lang="en-US" sz="2800" b="1" dirty="0" smtClean="0">
                <a:latin typeface="Times New Roman" pitchFamily="18" charset="0"/>
                <a:cs typeface="Times New Roman" pitchFamily="18" charset="0"/>
              </a:rPr>
            </a:br>
            <a:endParaRPr lang="en-US" sz="2800" b="1" dirty="0"/>
          </a:p>
        </p:txBody>
      </p:sp>
      <p:sp>
        <p:nvSpPr>
          <p:cNvPr id="3" name="Content Placeholder 2"/>
          <p:cNvSpPr>
            <a:spLocks noGrp="1"/>
          </p:cNvSpPr>
          <p:nvPr>
            <p:ph idx="1"/>
          </p:nvPr>
        </p:nvSpPr>
        <p:spPr/>
        <p:txBody>
          <a:bodyPr>
            <a:normAutofit fontScale="77500" lnSpcReduction="20000"/>
          </a:bodyPr>
          <a:lstStyle/>
          <a:p>
            <a:pPr algn="just" fontAlgn="ctr"/>
            <a:r>
              <a:rPr lang="en-US" sz="2900" b="1" dirty="0" smtClean="0">
                <a:latin typeface="Times New Roman" pitchFamily="18" charset="0"/>
                <a:cs typeface="Times New Roman" pitchFamily="18" charset="0"/>
              </a:rPr>
              <a:t>Energy Source:</a:t>
            </a:r>
            <a:r>
              <a:rPr lang="en-US" sz="2900" dirty="0" smtClean="0">
                <a:latin typeface="Times New Roman" pitchFamily="18" charset="0"/>
                <a:cs typeface="Times New Roman" pitchFamily="18" charset="0"/>
              </a:rPr>
              <a:t> Wind turbines generate electricity or mechanical power from the wind. </a:t>
            </a:r>
          </a:p>
          <a:p>
            <a:pPr algn="just" fontAlgn="ctr"/>
            <a:r>
              <a:rPr lang="en-US" sz="2900" b="1" dirty="0" smtClean="0">
                <a:latin typeface="Times New Roman" pitchFamily="18" charset="0"/>
                <a:cs typeface="Times New Roman" pitchFamily="18" charset="0"/>
              </a:rPr>
              <a:t>Desalination Method:</a:t>
            </a:r>
            <a:r>
              <a:rPr lang="en-US" sz="2900" dirty="0" smtClean="0">
                <a:latin typeface="Times New Roman" pitchFamily="18" charset="0"/>
                <a:cs typeface="Times New Roman" pitchFamily="18" charset="0"/>
              </a:rPr>
              <a:t> This energy then powers a desalination unit, most commonly a </a:t>
            </a:r>
            <a:r>
              <a:rPr lang="en-US" sz="2900" u="sng" dirty="0" smtClean="0">
                <a:latin typeface="Times New Roman" pitchFamily="18" charset="0"/>
                <a:cs typeface="Times New Roman" pitchFamily="18" charset="0"/>
                <a:hlinkClick r:id="rId2"/>
              </a:rPr>
              <a:t>reverse osmosis (RO</a:t>
            </a:r>
            <a:r>
              <a:rPr lang="en-US" sz="2900" dirty="0" smtClean="0">
                <a:latin typeface="Times New Roman" pitchFamily="18" charset="0"/>
                <a:cs typeface="Times New Roman" pitchFamily="18" charset="0"/>
                <a:hlinkClick r:id="rId2"/>
              </a:rPr>
              <a:t>)</a:t>
            </a:r>
            <a:r>
              <a:rPr lang="en-US" sz="2900" dirty="0" smtClean="0">
                <a:latin typeface="Times New Roman" pitchFamily="18" charset="0"/>
                <a:cs typeface="Times New Roman" pitchFamily="18" charset="0"/>
              </a:rPr>
              <a:t> system, to separate salt from water. </a:t>
            </a:r>
          </a:p>
          <a:p>
            <a:pPr algn="just"/>
            <a:r>
              <a:rPr lang="en-US" sz="2900" b="1" dirty="0" smtClean="0">
                <a:latin typeface="Times New Roman" pitchFamily="18" charset="0"/>
                <a:cs typeface="Times New Roman" pitchFamily="18" charset="0"/>
              </a:rPr>
              <a:t>Types of Systems:</a:t>
            </a:r>
            <a:endParaRPr lang="en-US" sz="2900" dirty="0" smtClean="0">
              <a:latin typeface="Times New Roman" pitchFamily="18" charset="0"/>
              <a:cs typeface="Times New Roman" pitchFamily="18" charset="0"/>
            </a:endParaRPr>
          </a:p>
          <a:p>
            <a:pPr lvl="1" algn="just" fontAlgn="ctr"/>
            <a:r>
              <a:rPr lang="en-US" sz="2900" b="1" dirty="0" smtClean="0">
                <a:latin typeface="Times New Roman" pitchFamily="18" charset="0"/>
                <a:cs typeface="Times New Roman" pitchFamily="18" charset="0"/>
              </a:rPr>
              <a:t>Electrical Drive:</a:t>
            </a:r>
            <a:r>
              <a:rPr lang="en-US" sz="2900" dirty="0" smtClean="0">
                <a:latin typeface="Times New Roman" pitchFamily="18" charset="0"/>
                <a:cs typeface="Times New Roman" pitchFamily="18" charset="0"/>
              </a:rPr>
              <a:t> The wind turbine generates electricity, which is then used by an electric motor to power the pumps and other equipment in the desalination plant. </a:t>
            </a:r>
          </a:p>
          <a:p>
            <a:pPr lvl="1" algn="just" fontAlgn="ctr">
              <a:buNone/>
            </a:pPr>
            <a:r>
              <a:rPr lang="en-US" sz="2900" b="1" dirty="0" smtClean="0">
                <a:latin typeface="Times New Roman" pitchFamily="18" charset="0"/>
                <a:cs typeface="Times New Roman" pitchFamily="18" charset="0"/>
              </a:rPr>
              <a:t>Direct Mechanical Drive: </a:t>
            </a:r>
            <a:r>
              <a:rPr lang="en-US" sz="2900" dirty="0" smtClean="0">
                <a:latin typeface="Times New Roman" pitchFamily="18" charset="0"/>
                <a:cs typeface="Times New Roman" pitchFamily="18" charset="0"/>
              </a:rPr>
              <a:t>In some designs, the wind turbine's mechanical energy is directly transmitted to a high-pressure pump via a gearbox, bypassing electricity generation.</a:t>
            </a:r>
            <a:r>
              <a:rPr lang="en-US" dirty="0" smtClean="0"/>
              <a:t> </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505200" cy="487362"/>
          </a:xfrm>
        </p:spPr>
        <p:txBody>
          <a:bodyPr>
            <a:normAutofit fontScale="90000"/>
          </a:bodyPr>
          <a:lstStyle/>
          <a:p>
            <a:r>
              <a:rPr lang="en-US" sz="3100" dirty="0" smtClean="0"/>
              <a:t/>
            </a:r>
            <a:br>
              <a:rPr lang="en-US" sz="3100" dirty="0" smtClean="0"/>
            </a:br>
            <a:r>
              <a:rPr lang="en-US" sz="3100" b="1" dirty="0" smtClean="0">
                <a:latin typeface="Times New Roman" pitchFamily="18" charset="0"/>
                <a:cs typeface="Times New Roman" pitchFamily="18" charset="0"/>
              </a:rPr>
              <a:t>ADVANTAGES </a:t>
            </a:r>
            <a:r>
              <a:rPr lang="en-US" dirty="0" smtClean="0"/>
              <a:t/>
            </a:r>
            <a:br>
              <a:rPr lang="en-US" dirty="0" smtClean="0"/>
            </a:br>
            <a:endParaRPr lang="en-US" dirty="0"/>
          </a:p>
        </p:txBody>
      </p:sp>
      <p:sp>
        <p:nvSpPr>
          <p:cNvPr id="3" name="Content Placeholder 2"/>
          <p:cNvSpPr>
            <a:spLocks noGrp="1"/>
          </p:cNvSpPr>
          <p:nvPr>
            <p:ph idx="1"/>
          </p:nvPr>
        </p:nvSpPr>
        <p:spPr>
          <a:xfrm>
            <a:off x="457200" y="1066800"/>
            <a:ext cx="8229600" cy="4525963"/>
          </a:xfrm>
        </p:spPr>
        <p:txBody>
          <a:bodyPr>
            <a:normAutofit/>
          </a:bodyPr>
          <a:lstStyle/>
          <a:p>
            <a:r>
              <a:rPr lang="en-US" sz="2200" b="1" dirty="0" smtClean="0">
                <a:latin typeface="Times New Roman" pitchFamily="18" charset="0"/>
                <a:cs typeface="Times New Roman" pitchFamily="18" charset="0"/>
              </a:rPr>
              <a:t>Sustainability:</a:t>
            </a:r>
            <a:r>
              <a:rPr lang="en-US" sz="2200" dirty="0" smtClean="0">
                <a:latin typeface="Times New Roman" pitchFamily="18" charset="0"/>
                <a:cs typeface="Times New Roman" pitchFamily="18" charset="0"/>
              </a:rPr>
              <a:t> It reduces reliance on fossil fuels, lowering </a:t>
            </a:r>
            <a:r>
              <a:rPr lang="en-US" sz="2200" dirty="0" smtClean="0">
                <a:latin typeface="Times New Roman" pitchFamily="18" charset="0"/>
                <a:cs typeface="Times New Roman" pitchFamily="18" charset="0"/>
                <a:hlinkClick r:id="rId2"/>
              </a:rPr>
              <a:t>CO2 emissions</a:t>
            </a:r>
            <a:r>
              <a:rPr lang="en-US" sz="2200" dirty="0" smtClean="0">
                <a:latin typeface="Times New Roman" pitchFamily="18" charset="0"/>
                <a:cs typeface="Times New Roman" pitchFamily="18" charset="0"/>
              </a:rPr>
              <a:t> and environmental impact.</a:t>
            </a:r>
          </a:p>
          <a:p>
            <a:r>
              <a:rPr lang="en-US" sz="2200" b="1" dirty="0" smtClean="0">
                <a:latin typeface="Times New Roman" pitchFamily="18" charset="0"/>
                <a:cs typeface="Times New Roman" pitchFamily="18" charset="0"/>
              </a:rPr>
              <a:t>Cost Reduction:</a:t>
            </a:r>
            <a:r>
              <a:rPr lang="en-US" sz="2200" dirty="0" smtClean="0">
                <a:latin typeface="Times New Roman" pitchFamily="18" charset="0"/>
                <a:cs typeface="Times New Roman" pitchFamily="18" charset="0"/>
              </a:rPr>
              <a:t> Can lower operational costs by utilizing a free and abundant energy source.</a:t>
            </a:r>
          </a:p>
          <a:p>
            <a:r>
              <a:rPr lang="en-US" sz="2200" b="1" dirty="0" smtClean="0">
                <a:latin typeface="Times New Roman" pitchFamily="18" charset="0"/>
                <a:cs typeface="Times New Roman" pitchFamily="18" charset="0"/>
              </a:rPr>
              <a:t>Environmental Benefits:</a:t>
            </a:r>
            <a:r>
              <a:rPr lang="en-US" sz="2200" dirty="0" smtClean="0">
                <a:latin typeface="Times New Roman" pitchFamily="18" charset="0"/>
                <a:cs typeface="Times New Roman" pitchFamily="18" charset="0"/>
              </a:rPr>
              <a:t> Leads to lower overall carbon footprint compared to conventional desalination methods</a:t>
            </a:r>
            <a:r>
              <a:rPr lang="en-US" sz="2200" dirty="0" smtClean="0"/>
              <a:t>.</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048000" cy="715962"/>
          </a:xfrm>
        </p:spPr>
        <p:txBody>
          <a:bodyPr>
            <a:normAutofit fontScale="90000"/>
          </a:bodyPr>
          <a:lstStyle/>
          <a:p>
            <a:r>
              <a:rPr lang="en-US" dirty="0" smtClean="0"/>
              <a:t/>
            </a:r>
            <a:br>
              <a:rPr lang="en-US" dirty="0" smtClean="0"/>
            </a:br>
            <a:r>
              <a:rPr lang="en-US" sz="3100" b="1" dirty="0" smtClean="0">
                <a:latin typeface="Times New Roman" pitchFamily="18" charset="0"/>
                <a:cs typeface="Times New Roman" pitchFamily="18" charset="0"/>
              </a:rPr>
              <a:t>CHALLENGES</a:t>
            </a:r>
            <a:r>
              <a:rPr lang="en-US" dirty="0" smtClean="0"/>
              <a:t/>
            </a:r>
            <a:br>
              <a:rPr lang="en-US" dirty="0" smtClean="0"/>
            </a:br>
            <a:endParaRPr lang="en-US" dirty="0"/>
          </a:p>
        </p:txBody>
      </p:sp>
      <p:sp>
        <p:nvSpPr>
          <p:cNvPr id="3" name="Content Placeholder 2"/>
          <p:cNvSpPr>
            <a:spLocks noGrp="1"/>
          </p:cNvSpPr>
          <p:nvPr>
            <p:ph idx="1"/>
          </p:nvPr>
        </p:nvSpPr>
        <p:spPr>
          <a:xfrm>
            <a:off x="381000" y="1066800"/>
            <a:ext cx="8229600" cy="5029200"/>
          </a:xfrm>
        </p:spPr>
        <p:txBody>
          <a:bodyPr>
            <a:normAutofit/>
          </a:bodyPr>
          <a:lstStyle/>
          <a:p>
            <a:pPr algn="just"/>
            <a:r>
              <a:rPr lang="en-US" sz="2200" b="1" dirty="0" smtClean="0">
                <a:latin typeface="Times New Roman" pitchFamily="18" charset="0"/>
                <a:cs typeface="Times New Roman" pitchFamily="18" charset="0"/>
              </a:rPr>
              <a:t>Intermittency:</a:t>
            </a:r>
            <a:r>
              <a:rPr lang="en-US" sz="2200" dirty="0" smtClean="0">
                <a:latin typeface="Times New Roman" pitchFamily="18" charset="0"/>
                <a:cs typeface="Times New Roman" pitchFamily="18" charset="0"/>
              </a:rPr>
              <a:t> The variable nature of wind requires strategies like energy storage (</a:t>
            </a:r>
            <a:r>
              <a:rPr lang="en-US" sz="2200" dirty="0" smtClean="0">
                <a:latin typeface="Times New Roman" pitchFamily="18" charset="0"/>
                <a:cs typeface="Times New Roman" pitchFamily="18" charset="0"/>
                <a:hlinkClick r:id="rId2"/>
              </a:rPr>
              <a:t>batteries</a:t>
            </a:r>
            <a:r>
              <a:rPr lang="en-US" sz="2200" dirty="0" smtClean="0">
                <a:latin typeface="Times New Roman" pitchFamily="18" charset="0"/>
                <a:cs typeface="Times New Roman" pitchFamily="18" charset="0"/>
              </a:rPr>
              <a:t>), connection to the national grid, or smart system integration to ensure a continuous water supply. </a:t>
            </a:r>
          </a:p>
          <a:p>
            <a:pPr algn="just"/>
            <a:r>
              <a:rPr lang="en-US" sz="2200" b="1" dirty="0" smtClean="0">
                <a:latin typeface="Times New Roman" pitchFamily="18" charset="0"/>
                <a:cs typeface="Times New Roman" pitchFamily="18" charset="0"/>
              </a:rPr>
              <a:t>Integration Complexity:</a:t>
            </a:r>
            <a:r>
              <a:rPr lang="en-US" sz="2200" dirty="0" smtClean="0">
                <a:latin typeface="Times New Roman" pitchFamily="18" charset="0"/>
                <a:cs typeface="Times New Roman" pitchFamily="18" charset="0"/>
              </a:rPr>
              <a:t> Matching the fluctuating wind power with the consistent, high-energy demands of the desalination process is critical for system efficiency. </a:t>
            </a:r>
          </a:p>
          <a:p>
            <a:pPr algn="just"/>
            <a:r>
              <a:rPr lang="en-US" sz="2200" b="1" dirty="0" smtClean="0">
                <a:latin typeface="Times New Roman" pitchFamily="18" charset="0"/>
                <a:cs typeface="Times New Roman" pitchFamily="18" charset="0"/>
              </a:rPr>
              <a:t>Scalability:</a:t>
            </a:r>
            <a:r>
              <a:rPr lang="en-US" sz="2200" dirty="0" smtClean="0">
                <a:latin typeface="Times New Roman" pitchFamily="18" charset="0"/>
                <a:cs typeface="Times New Roman" pitchFamily="18" charset="0"/>
              </a:rPr>
              <a:t> Requires large-scale wind resources, and integration with existing energy infrastructure. </a:t>
            </a:r>
          </a:p>
          <a:p>
            <a:r>
              <a:rPr lang="en-US" sz="2200" dirty="0" smtClean="0">
                <a:latin typeface="Times New Roman" pitchFamily="18" charset="0"/>
                <a:cs typeface="Times New Roman" pitchFamily="18" charset="0"/>
              </a:rPr>
              <a:t>Potential Applications</a:t>
            </a:r>
          </a:p>
          <a:p>
            <a:r>
              <a:rPr lang="en-US" sz="2200" b="1" dirty="0" smtClean="0">
                <a:latin typeface="Times New Roman" pitchFamily="18" charset="0"/>
                <a:cs typeface="Times New Roman" pitchFamily="18" charset="0"/>
              </a:rPr>
              <a:t>Coastal Areas and Islands:</a:t>
            </a:r>
            <a:r>
              <a:rPr lang="en-US" sz="2200" dirty="0" smtClean="0">
                <a:latin typeface="Times New Roman" pitchFamily="18" charset="0"/>
                <a:cs typeface="Times New Roman" pitchFamily="18" charset="0"/>
              </a:rPr>
              <a:t> These are prime locations due to abundant wind resources and high demand for freshwater. </a:t>
            </a:r>
          </a:p>
          <a:p>
            <a:r>
              <a:rPr lang="en-US" sz="2200" b="1" dirty="0" smtClean="0">
                <a:latin typeface="Times New Roman" pitchFamily="18" charset="0"/>
                <a:cs typeface="Times New Roman" pitchFamily="18" charset="0"/>
              </a:rPr>
              <a:t>Off-Grid Solutions:</a:t>
            </a:r>
            <a:r>
              <a:rPr lang="en-US" sz="2200" dirty="0" smtClean="0">
                <a:latin typeface="Times New Roman" pitchFamily="18" charset="0"/>
                <a:cs typeface="Times New Roman" pitchFamily="18" charset="0"/>
              </a:rPr>
              <a:t> Stand-alone systems can provide water in remote areas without access to the national electricity grid. </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10006" r="7723"/>
          <a:stretch>
            <a:fillRect/>
          </a:stretch>
        </p:blipFill>
        <p:spPr bwMode="auto">
          <a:xfrm>
            <a:off x="381000" y="609600"/>
            <a:ext cx="4246221" cy="23622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495800" y="609600"/>
            <a:ext cx="4495800" cy="2144553"/>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2133600" y="2971800"/>
            <a:ext cx="5992813" cy="201367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715962"/>
          </a:xfrm>
        </p:spPr>
        <p:txBody>
          <a:bodyPr>
            <a:normAutofit fontScale="90000"/>
          </a:bodyPr>
          <a:lstStyle/>
          <a:p>
            <a:r>
              <a:rPr lang="en-US" dirty="0" smtClean="0"/>
              <a:t/>
            </a:r>
            <a:br>
              <a:rPr lang="en-US" dirty="0" smtClean="0"/>
            </a:br>
            <a:r>
              <a:rPr lang="en-US" dirty="0" smtClean="0"/>
              <a:t/>
            </a:r>
            <a:br>
              <a:rPr lang="en-US" dirty="0" smtClean="0"/>
            </a:br>
            <a:r>
              <a:rPr lang="en-US" sz="3100" b="1" dirty="0" smtClean="0">
                <a:solidFill>
                  <a:srgbClr val="0070C0"/>
                </a:solidFill>
              </a:rPr>
              <a:t>WIND DESALINATION AND POWER TURBINE NACELLE</a:t>
            </a:r>
            <a:r>
              <a:rPr lang="en-US" dirty="0" smtClean="0"/>
              <a:t/>
            </a:r>
            <a:br>
              <a:rPr lang="en-US" dirty="0" smtClean="0"/>
            </a:br>
            <a:r>
              <a:rPr lang="en-US" dirty="0" smtClean="0">
                <a:hlinkClick r:id="rId2"/>
              </a:rPr>
              <a:t/>
            </a:r>
            <a:br>
              <a:rPr lang="en-US" dirty="0" smtClean="0">
                <a:hlinkClick r:id="rId2"/>
              </a:rPr>
            </a:br>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1881188" y="1111250"/>
            <a:ext cx="5381625" cy="4638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Methodology</a:t>
            </a:r>
            <a:br>
              <a:rPr lang="en-US" b="1" dirty="0" smtClean="0"/>
            </a:br>
            <a:endParaRPr lang="en-US" dirty="0"/>
          </a:p>
        </p:txBody>
      </p:sp>
      <p:sp>
        <p:nvSpPr>
          <p:cNvPr id="3" name="Content Placeholder 2"/>
          <p:cNvSpPr>
            <a:spLocks noGrp="1"/>
          </p:cNvSpPr>
          <p:nvPr>
            <p:ph idx="1"/>
          </p:nvPr>
        </p:nvSpPr>
        <p:spPr>
          <a:xfrm>
            <a:off x="381000" y="1066800"/>
            <a:ext cx="8229600" cy="4525963"/>
          </a:xfrm>
        </p:spPr>
        <p:txBody>
          <a:bodyPr>
            <a:noAutofit/>
          </a:bodyPr>
          <a:lstStyle/>
          <a:p>
            <a:pPr marL="742950" indent="-742950" algn="just">
              <a:buAutoNum type="arabicPeriod"/>
            </a:pPr>
            <a:r>
              <a:rPr lang="en-US" sz="2000" dirty="0" smtClean="0">
                <a:latin typeface="Times New Roman" pitchFamily="18" charset="0"/>
                <a:cs typeface="Times New Roman" pitchFamily="18" charset="0"/>
              </a:rPr>
              <a:t>Figure 1 presents the conventional wind-powered desalination and the proposed wind desalination and power (WDP). Conventional wind powered desalination (Figure 1(a)) uses wind power turbines to generate electricity. </a:t>
            </a:r>
          </a:p>
          <a:p>
            <a:pPr marL="742950" indent="-742950" algn="just">
              <a:buAutoNum type="arabicPeriod"/>
            </a:pPr>
            <a:r>
              <a:rPr lang="en-US" sz="2000" dirty="0" smtClean="0">
                <a:latin typeface="Times New Roman" pitchFamily="18" charset="0"/>
                <a:cs typeface="Times New Roman" pitchFamily="18" charset="0"/>
              </a:rPr>
              <a:t>The electricity is then used to desalinate seawater with a pump powered by an electric motor. The desalination plant is also connected to the national grid and can desalinate seawater using electricity from other sources. The WDP plant (Figure 1(b)) has the pump built inside the wind turbine’s nacelle and connected both to the turbine blades and a motor-generator through the gearbox.</a:t>
            </a:r>
          </a:p>
          <a:p>
            <a:pPr marL="742950" indent="-742950" algn="just">
              <a:buAutoNum type="arabicPeriod"/>
            </a:pPr>
            <a:r>
              <a:rPr lang="en-US" sz="2000" dirty="0" smtClean="0">
                <a:latin typeface="Times New Roman" pitchFamily="18" charset="0"/>
                <a:cs typeface="Times New Roman" pitchFamily="18" charset="0"/>
              </a:rPr>
              <a:t> The advantage of this arrangement is that the pump transfers the kinetic energy of the wind to hydraulic energy, which can also be powered by a motor. During high wind speed periods, the pump and generator can operate at total capacity, pumping water and generating electricity. </a:t>
            </a:r>
          </a:p>
          <a:p>
            <a:endParaRPr 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742950" indent="-742950" algn="just">
              <a:buNone/>
            </a:pPr>
            <a:r>
              <a:rPr lang="en-US" dirty="0" smtClean="0">
                <a:latin typeface="Times New Roman" pitchFamily="18" charset="0"/>
                <a:cs typeface="Times New Roman" pitchFamily="18" charset="0"/>
              </a:rPr>
              <a:t>4.     The possibility of operating the generator as a motor reduces the costs of having two separate equipment (a generator and an engine). To avoid </a:t>
            </a:r>
            <a:r>
              <a:rPr lang="en-US" dirty="0" err="1" smtClean="0">
                <a:latin typeface="Times New Roman" pitchFamily="18" charset="0"/>
                <a:cs typeface="Times New Roman" pitchFamily="18" charset="0"/>
              </a:rPr>
              <a:t>cavitation</a:t>
            </a:r>
            <a:r>
              <a:rPr lang="en-US" dirty="0" smtClean="0">
                <a:latin typeface="Times New Roman" pitchFamily="18" charset="0"/>
                <a:cs typeface="Times New Roman" pitchFamily="18" charset="0"/>
              </a:rPr>
              <a:t> in the pump 160 meters above the ground, </a:t>
            </a:r>
            <a:r>
              <a:rPr lang="en-US" dirty="0" err="1" smtClean="0">
                <a:latin typeface="Times New Roman" pitchFamily="18" charset="0"/>
                <a:cs typeface="Times New Roman" pitchFamily="18" charset="0"/>
              </a:rPr>
              <a:t>pressurised</a:t>
            </a:r>
            <a:r>
              <a:rPr lang="en-US" dirty="0" smtClean="0">
                <a:latin typeface="Times New Roman" pitchFamily="18" charset="0"/>
                <a:cs typeface="Times New Roman" pitchFamily="18" charset="0"/>
              </a:rPr>
              <a:t> water must be available at the pump’s inlet. </a:t>
            </a:r>
          </a:p>
          <a:p>
            <a:pPr marL="742950" indent="-742950" algn="just">
              <a:buNone/>
            </a:pPr>
            <a:r>
              <a:rPr lang="en-US" dirty="0" smtClean="0">
                <a:latin typeface="Times New Roman" pitchFamily="18" charset="0"/>
                <a:cs typeface="Times New Roman" pitchFamily="18" charset="0"/>
              </a:rPr>
              <a:t>5.    To supply this requirement, the energy recovery (ER) system transfers the medium pressure from the RO membranes’ brine outlet to the incoming seawater to reach the turbine’s nacelle at the volume and pressure needed. </a:t>
            </a:r>
          </a:p>
          <a:p>
            <a:pPr marL="742950" indent="-742950" algn="just">
              <a:buNone/>
            </a:pPr>
            <a:r>
              <a:rPr lang="en-US" dirty="0" smtClean="0">
                <a:latin typeface="Times New Roman" pitchFamily="18" charset="0"/>
                <a:cs typeface="Times New Roman" pitchFamily="18" charset="0"/>
              </a:rPr>
              <a:t>6.      An auxiliary boost system in the ER system is required to provide the initial pressure for the water to raise to the wind turbine and prime pressure and cover the overall operational range of the system. The output pressure of the pump in the nacelle should be around 16 bar smaller than the pressure in the RO plan (65 bar), as the nacelle is 160 meters above the RO plant</a:t>
            </a:r>
            <a:endParaRPr lang="en-US" b="1"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09601"/>
            <a:ext cx="8229600" cy="4038600"/>
          </a:xfrm>
        </p:spPr>
        <p:txBody>
          <a:bodyPr>
            <a:normAutofit fontScale="55000" lnSpcReduction="20000"/>
          </a:bodyPr>
          <a:lstStyle/>
          <a:p>
            <a:pPr algn="just"/>
            <a:r>
              <a:rPr lang="en-US" dirty="0" smtClean="0">
                <a:latin typeface="Times New Roman" pitchFamily="18" charset="0"/>
                <a:cs typeface="Times New Roman" pitchFamily="18" charset="0"/>
              </a:rPr>
              <a:t>Figure 2 presents the inside of the proposed WDP turbine nacelle. It consists of several components. </a:t>
            </a:r>
          </a:p>
          <a:p>
            <a:pPr algn="just"/>
            <a:r>
              <a:rPr lang="en-US" dirty="0" smtClean="0">
                <a:latin typeface="Times New Roman" pitchFamily="18" charset="0"/>
                <a:cs typeface="Times New Roman" pitchFamily="18" charset="0"/>
              </a:rPr>
              <a:t>The gearbox transfers the rotational force from the low-speed shaft connected to the wind blades to the two high-speed shafts connected to the pump and generator.</a:t>
            </a:r>
          </a:p>
          <a:p>
            <a:pPr algn="just"/>
            <a:r>
              <a:rPr lang="en-US" dirty="0" smtClean="0">
                <a:latin typeface="Times New Roman" pitchFamily="18" charset="0"/>
                <a:cs typeface="Times New Roman" pitchFamily="18" charset="0"/>
              </a:rPr>
              <a:t> This arrangement increases the operational flexibility of both the pump and motor-generator. It also allows the motor-generator to propel the pump when there is no wind, consuming electricity from the grid. </a:t>
            </a:r>
          </a:p>
          <a:p>
            <a:pPr algn="just"/>
            <a:r>
              <a:rPr lang="en-US" dirty="0" smtClean="0">
                <a:latin typeface="Times New Roman" pitchFamily="18" charset="0"/>
                <a:cs typeface="Times New Roman" pitchFamily="18" charset="0"/>
              </a:rPr>
              <a:t>For this reason, the pump and motor-generator should have the same capacity. We propose a synchronous generator because: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it provides full control over power quality and grid compatibility, (ii) enables operation over a wide range of wind speeds, (iii) allows the operation of the generator as a motor.</a:t>
            </a:r>
          </a:p>
          <a:p>
            <a:pPr algn="just"/>
            <a:r>
              <a:rPr lang="en-US" dirty="0" smtClean="0">
                <a:latin typeface="Times New Roman" pitchFamily="18" charset="0"/>
                <a:cs typeface="Times New Roman" pitchFamily="18" charset="0"/>
              </a:rPr>
              <a:t> A significant challenge is to accommodate the gearbox, pump and motor-generator in the nacelle without substantially increasing its weight, volume and cost.</a:t>
            </a:r>
          </a:p>
          <a:p>
            <a:pPr algn="just"/>
            <a:r>
              <a:rPr lang="en-US" dirty="0" smtClean="0">
                <a:latin typeface="Times New Roman" pitchFamily="18" charset="0"/>
                <a:cs typeface="Times New Roman" pitchFamily="18" charset="0"/>
              </a:rPr>
              <a:t> A description of the WPD plant applied in this paper is described in Table 1. The energy losses in the pipes are neglected as the distance between the high and medium pipelines is small.</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4525963"/>
          </a:xfrm>
        </p:spPr>
        <p:txBody>
          <a:bodyPr>
            <a:normAutofit/>
          </a:bodyPr>
          <a:lstStyle/>
          <a:p>
            <a:pPr algn="just"/>
            <a:r>
              <a:rPr lang="en-US" sz="2000" dirty="0" smtClean="0">
                <a:latin typeface="Times New Roman" pitchFamily="18" charset="0"/>
                <a:cs typeface="Times New Roman" pitchFamily="18" charset="0"/>
              </a:rPr>
              <a:t>In the following, we present the equations that describe the salt separation and permeate production rate in a typical RO membrane based on the transport mechanism of solute and solvent at a steady state.</a:t>
            </a:r>
          </a:p>
          <a:p>
            <a:pPr algn="just"/>
            <a:r>
              <a:rPr lang="en-US" sz="2000" dirty="0" smtClean="0">
                <a:latin typeface="Times New Roman" pitchFamily="18" charset="0"/>
                <a:cs typeface="Times New Roman" pitchFamily="18" charset="0"/>
              </a:rPr>
              <a:t>For given pump power and feed pressure, the feed flow rate can be calculated from:</a:t>
            </a:r>
            <a:endParaRPr lang="en-US" sz="2000"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2" cstate="print"/>
          <a:srcRect/>
          <a:stretch>
            <a:fillRect/>
          </a:stretch>
        </p:blipFill>
        <p:spPr bwMode="auto">
          <a:xfrm>
            <a:off x="2667000" y="2133600"/>
            <a:ext cx="2133600" cy="695325"/>
          </a:xfrm>
          <a:prstGeom prst="rect">
            <a:avLst/>
          </a:prstGeom>
          <a:noFill/>
          <a:ln w="9525">
            <a:noFill/>
            <a:miter lim="800000"/>
            <a:headEnd/>
            <a:tailEnd/>
          </a:ln>
          <a:effectLst/>
        </p:spPr>
      </p:pic>
      <p:sp>
        <p:nvSpPr>
          <p:cNvPr id="6" name="Rectangle 5"/>
          <p:cNvSpPr/>
          <p:nvPr/>
        </p:nvSpPr>
        <p:spPr>
          <a:xfrm>
            <a:off x="609600" y="2743200"/>
            <a:ext cx="7848600" cy="1015663"/>
          </a:xfrm>
          <a:prstGeom prst="rect">
            <a:avLst/>
          </a:prstGeom>
        </p:spPr>
        <p:txBody>
          <a:bodyPr wrap="square">
            <a:spAutoFit/>
          </a:bodyPr>
          <a:lstStyle/>
          <a:p>
            <a:pPr algn="just"/>
            <a:r>
              <a:rPr lang="en-US" sz="2000" dirty="0" smtClean="0">
                <a:latin typeface="Times New Roman" pitchFamily="18" charset="0"/>
                <a:cs typeface="Times New Roman" pitchFamily="18" charset="0"/>
              </a:rPr>
              <a:t>where </a:t>
            </a:r>
            <a:r>
              <a:rPr lang="en-US" sz="2000" dirty="0" err="1" smtClean="0">
                <a:latin typeface="Times New Roman" pitchFamily="18" charset="0"/>
                <a:cs typeface="Times New Roman" pitchFamily="18" charset="0"/>
              </a:rPr>
              <a:t>Qf</a:t>
            </a:r>
            <a:r>
              <a:rPr lang="en-US" sz="2000" dirty="0" smtClean="0">
                <a:latin typeface="Times New Roman" pitchFamily="18" charset="0"/>
                <a:cs typeface="Times New Roman" pitchFamily="18" charset="0"/>
              </a:rPr>
              <a:t> , Pf , Pw , and </a:t>
            </a:r>
            <a:r>
              <a:rPr lang="en-US" sz="2000" dirty="0" err="1" smtClean="0">
                <a:latin typeface="Times New Roman" pitchFamily="18" charset="0"/>
                <a:cs typeface="Times New Roman" pitchFamily="18" charset="0"/>
              </a:rPr>
              <a:t>ηp</a:t>
            </a:r>
            <a:r>
              <a:rPr lang="en-US" sz="2000" dirty="0" smtClean="0">
                <a:latin typeface="Times New Roman" pitchFamily="18" charset="0"/>
                <a:cs typeface="Times New Roman" pitchFamily="18" charset="0"/>
              </a:rPr>
              <a:t> are the feed flow rate, the feed pressure, wind power, and pump efficiency, respectively. For the assumed recovery rate (</a:t>
            </a:r>
            <a:r>
              <a:rPr lang="en-US" sz="2000" dirty="0" err="1" smtClean="0">
                <a:latin typeface="Times New Roman" pitchFamily="18" charset="0"/>
                <a:cs typeface="Times New Roman" pitchFamily="18" charset="0"/>
              </a:rPr>
              <a:t>Rc</a:t>
            </a:r>
            <a:r>
              <a:rPr lang="en-US" sz="2000" dirty="0" smtClean="0">
                <a:latin typeface="Times New Roman" pitchFamily="18" charset="0"/>
                <a:cs typeface="Times New Roman" pitchFamily="18" charset="0"/>
              </a:rPr>
              <a:t> ), the permeate production rate (</a:t>
            </a:r>
            <a:r>
              <a:rPr lang="en-US" sz="2000" dirty="0" err="1" smtClean="0">
                <a:latin typeface="Times New Roman" pitchFamily="18" charset="0"/>
                <a:cs typeface="Times New Roman" pitchFamily="18" charset="0"/>
              </a:rPr>
              <a:t>Qp</a:t>
            </a:r>
            <a:r>
              <a:rPr lang="en-US" sz="2000" dirty="0" smtClean="0">
                <a:latin typeface="Times New Roman" pitchFamily="18" charset="0"/>
                <a:cs typeface="Times New Roman" pitchFamily="18" charset="0"/>
              </a:rPr>
              <a:t> ) is computed as follows:</a:t>
            </a:r>
            <a:endParaRPr lang="en-US" sz="2000" dirty="0">
              <a:latin typeface="Times New Roman" pitchFamily="18" charset="0"/>
              <a:cs typeface="Times New Roman" pitchFamily="18" charset="0"/>
            </a:endParaRPr>
          </a:p>
        </p:txBody>
      </p:sp>
      <p:pic>
        <p:nvPicPr>
          <p:cNvPr id="3076" name="Picture 4"/>
          <p:cNvPicPr>
            <a:picLocks noChangeAspect="1" noChangeArrowheads="1"/>
          </p:cNvPicPr>
          <p:nvPr/>
        </p:nvPicPr>
        <p:blipFill>
          <a:blip r:embed="rId3" cstate="print"/>
          <a:srcRect/>
          <a:stretch>
            <a:fillRect/>
          </a:stretch>
        </p:blipFill>
        <p:spPr bwMode="auto">
          <a:xfrm>
            <a:off x="1828800" y="4114800"/>
            <a:ext cx="4953000" cy="1819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229600" cy="4525963"/>
          </a:xfrm>
        </p:spPr>
        <p:txBody>
          <a:bodyPr>
            <a:normAutofit/>
          </a:bodyPr>
          <a:lstStyle/>
          <a:p>
            <a:pPr algn="just"/>
            <a:r>
              <a:rPr lang="en-US" sz="2000" dirty="0" smtClean="0">
                <a:latin typeface="Times New Roman" pitchFamily="18" charset="0"/>
                <a:cs typeface="Times New Roman" pitchFamily="18" charset="0"/>
              </a:rPr>
              <a:t>where Qc , Cc , and Cp are the brine flow rate, brine salinity, and permeate salinity, respectively. The flow rate of bulk fluid and its concentration are approximated by:</a:t>
            </a: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cstate="print"/>
          <a:srcRect/>
          <a:stretch>
            <a:fillRect/>
          </a:stretch>
        </p:blipFill>
        <p:spPr bwMode="auto">
          <a:xfrm>
            <a:off x="2057400" y="2133600"/>
            <a:ext cx="5210175"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347</Words>
  <Application>Microsoft Office PowerPoint</Application>
  <PresentationFormat>On-screen Show (4:3)</PresentationFormat>
  <Paragraphs>72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NUCLEAR POWER  AND  WIND-POWERED DESALINATION </vt:lpstr>
      <vt:lpstr>NUCLEAR POWER DESALINATION SYSTEM</vt:lpstr>
      <vt:lpstr> KEY BENEFITS </vt:lpstr>
      <vt:lpstr> SAFETY AND CHALLENGES </vt:lpstr>
      <vt:lpstr>Slide 5</vt:lpstr>
      <vt:lpstr>HOW IT WORKS </vt:lpstr>
      <vt:lpstr>WIND-POWERED DESALINATION</vt:lpstr>
      <vt:lpstr>  WIND-POWERED DESALINATION  HOW IT WORKS </vt:lpstr>
      <vt:lpstr> ADVANTAGES  </vt:lpstr>
      <vt:lpstr> CHALLENGES </vt:lpstr>
      <vt:lpstr>Slide 11</vt:lpstr>
      <vt:lpstr>  WIND DESALINATION AND POWER TURBINE NACELLE  </vt:lpstr>
      <vt:lpstr>Methodology </vt:lpstr>
      <vt:lpstr>Slide 14</vt:lpstr>
      <vt:lpstr>Slide 15</vt:lpstr>
      <vt:lpstr>Slide 16</vt:lpstr>
      <vt:lpstr>Slide 17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WIND-POWERED DESALINATION </dc:title>
  <dc:creator>Subas Chandra Dash</dc:creator>
  <cp:lastModifiedBy>subas.dash</cp:lastModifiedBy>
  <cp:revision>15</cp:revision>
  <dcterms:created xsi:type="dcterms:W3CDTF">2006-08-16T00:00:00Z</dcterms:created>
  <dcterms:modified xsi:type="dcterms:W3CDTF">2025-10-01T07:00:16Z</dcterms:modified>
</cp:coreProperties>
</file>