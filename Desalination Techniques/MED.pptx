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5" r:id="rId8"/>
    <p:sldId id="262" r:id="rId9"/>
    <p:sldId id="264" r:id="rId10"/>
    <p:sldId id="266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9" r:id="rId21"/>
    <p:sldId id="277" r:id="rId22"/>
    <p:sldId id="278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atermanaustralia.com/product/ro-plants-reverse-osmosis-plant/" TargetMode="External"/><Relationship Id="rId2" Type="http://schemas.openxmlformats.org/officeDocument/2006/relationships/hyperlink" Target="https://watermanaustralia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atermanaustralia.com/seawater-desalination-with-multiple-effect-distillation-med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MULTIPLE EFFECT DISTILLATION (MED) FOR SEAWATER DESALINATION</a:t>
            </a:r>
            <a:br>
              <a:rPr lang="en-US" sz="28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MULTIPLE EFFECT EVAPORATION  DISTILLATION (MED)</a:t>
            </a:r>
            <a:endParaRPr lang="en-US" sz="32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Enhancing Sustainability: Harnessing the Power of Multiple Effect Distillation (MED) for Seawater Desalination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MULTIPLE EFFECT DISTILLATION (MED)</a:t>
            </a:r>
            <a:endParaRPr lang="en-US" sz="3200" dirty="0">
              <a:solidFill>
                <a:srgbClr val="00B0F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earliest desalination method is multiple-effect distillation (MED), which is very efficient thermodynamically. 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MED process takes place in a sequence of evaporators known as multiple effects, and it works on the premise of lowering ambient pressure. 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This method allows the seawater feed to boil numerous times without the need for extra heat after the first effect.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After being preheated in tubes, seawater enters the first effect and is elevated to the boiling point. To encourage quick evaporation, seawater is sprayed onto the surface of evaporator tubes. 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Externally supplied steam from a normally dual-purpose power plant heats the tubes.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8420" r="11597"/>
          <a:stretch>
            <a:fillRect/>
          </a:stretch>
        </p:blipFill>
        <p:spPr bwMode="auto">
          <a:xfrm>
            <a:off x="685800" y="990600"/>
            <a:ext cx="7467600" cy="3982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MULTIPLE EFFECT DISTILLATION (MED)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steam condenses on the opposite side of the tubes, and the steam condensate is recycled as boiler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feedwater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at the power plant.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steam economy of the MED plant is related to the number of impacts.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The overall number of effects is constrained by the total temperature range allowed and the minimum temperature difference between each effect.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 the first effect, only a portion of the seawater poured to the tubes evaporates.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remaining feed water is fed to the second effect and applied to a tube bundle once more.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vapours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produced in the first effect then heat these tubes.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vapour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is condensed into a freshwater product, while a portion of the remaining seawater feed is evaporated in the next effect.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evaporation and condensation processes are repeated from effect to effect at decreasing pressures and temperatures.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continues for numerous effects, with a typical large plant having 4 to 21 effects and a performance ratio of 10 to 18 in a large plant.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685800"/>
            <a:ext cx="7240587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1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1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31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31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TYPES OFMULTIPLE EFFECT DISTILLATION (MED) </a:t>
            </a:r>
            <a:r>
              <a:rPr lang="en-US" b="1" dirty="0" smtClean="0"/>
              <a:t/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457200" indent="-457200">
              <a:buAutoNum type="arabicPeriod"/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Multiple Effect Distillation (MED)</a:t>
            </a:r>
          </a:p>
          <a:p>
            <a:pPr marL="457200" indent="-457200">
              <a:buAutoNum type="arabicPeriod"/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Multiple Effect Distillation with Thermal </a:t>
            </a:r>
            <a:r>
              <a:rPr lang="en-US" sz="2900" dirty="0" err="1" smtClean="0">
                <a:latin typeface="Times New Roman" pitchFamily="18" charset="0"/>
                <a:cs typeface="Times New Roman" pitchFamily="18" charset="0"/>
              </a:rPr>
              <a:t>Vapour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 Compression (MED-TVC)</a:t>
            </a:r>
          </a:p>
          <a:p>
            <a:pPr marL="457200" indent="-457200">
              <a:buAutoNum type="arabicPeriod"/>
            </a:pP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Multiple Effect Distillation with Mechanical </a:t>
            </a:r>
            <a:r>
              <a:rPr lang="en-US" sz="2900" dirty="0" err="1" smtClean="0">
                <a:latin typeface="Times New Roman" pitchFamily="18" charset="0"/>
                <a:cs typeface="Times New Roman" pitchFamily="18" charset="0"/>
              </a:rPr>
              <a:t>Vapour</a:t>
            </a:r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 Compression (MED-MVC)</a:t>
            </a:r>
          </a:p>
          <a:p>
            <a:pPr algn="just"/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In a sequence of effects, this procedure is repeated (Multiple Effect Distillation). </a:t>
            </a:r>
          </a:p>
          <a:p>
            <a:pPr algn="just"/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The produced steam condenses on a traditional shell and tubes heat exchanger in the final cell. </a:t>
            </a:r>
          </a:p>
          <a:p>
            <a:pPr algn="just"/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The “distillate condenser,” as it is known, is cooled by seawater. Part of the warmed saltwater is used as make-up for the unit at the condenser’s outlet, while the rest is rejected to the sea. </a:t>
            </a:r>
          </a:p>
          <a:p>
            <a:pPr algn="just"/>
            <a:r>
              <a:rPr lang="en-US" sz="2900" dirty="0" smtClean="0">
                <a:latin typeface="Times New Roman" pitchFamily="18" charset="0"/>
                <a:cs typeface="Times New Roman" pitchFamily="18" charset="0"/>
              </a:rPr>
              <a:t>Brine and distillate are collected from cell to cell until they reach the last one, where centrifugal pumps extract them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(MED)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2775" y="1339850"/>
            <a:ext cx="79168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number of kilos of distillate generated per kilo of steam supplied into the system is a measure of the evaporator’s thermal efficiency.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Gain Output Ratio (GOR) is a term for this figure. The installation of a thermo-compression between one of the cells and the hot one can improve the GOR of the evaporation.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static compressor will recycle portion of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vapour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created in one of the cells into higher pressure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vapour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be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utilised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as heating media for the first one, using LP or MP steam.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 MED evaporator with thermo-compression in a typical configuration (MED-TVC). Whereas the GOR of evaporation would be around 3 (using LLP steam), the GOR of condensation would be around 6. (Using LP or MP steam).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5638" y="1373188"/>
            <a:ext cx="7831137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04800" y="457200"/>
            <a:ext cx="769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    MED</a:t>
            </a:r>
            <a:endParaRPr 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When steam is not available, the MED procedure can still be used with a Mechanical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Vapour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Compressor (MED-MVC).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A centrifugal compressor powered by an electrical engine recycles the </a:t>
            </a:r>
            <a:r>
              <a:rPr lang="en-US" sz="2200" dirty="0" err="1" smtClean="0">
                <a:latin typeface="Times New Roman" pitchFamily="18" charset="0"/>
                <a:cs typeface="Times New Roman" pitchFamily="18" charset="0"/>
              </a:rPr>
              <a:t>vapour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 from the cold cell to the hot one in this case. 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The system’s electricity usage is in the range of 8 to 15 kWh/m</a:t>
            </a:r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. The maximum capacity of MED-MVC units is 5000 m</a:t>
            </a:r>
            <a:r>
              <a:rPr lang="en-US" sz="2200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/day due to existing compressor technology limitations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524000"/>
            <a:ext cx="7220958" cy="4429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57200" y="457200"/>
            <a:ext cx="8153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MULTIPLE EFFECT EVAPORATION DISTILLATION (MED)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MULTIPLE EFFECT EVAPORATION DISTILLATION (MED)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>
            <a:noAutofit/>
          </a:bodyPr>
          <a:lstStyle/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The multiple effect evaporation system where it’s not really a schematic, but it looks like a photograph of an existing system that has been done by a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leading specialist in 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water treatment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It was famous, much more famous working with heat exchangers and cooling towers, this company, and it is also producing units like that.</a:t>
            </a:r>
          </a:p>
          <a:p>
            <a:pPr algn="just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There are some companies that produce these units not much, by the way, but maybe three, four or five companies throughout the world for producing these 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3"/>
              </a:rPr>
              <a:t>desalination systems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in general, talking about the large-scale server desalination units.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62000" y="4876800"/>
            <a:ext cx="7620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hlinkClick r:id="rId4"/>
              </a:rPr>
              <a:t>https://watermanaustralia.com/seawater-desalination-with-multiple-effect-distillation-med/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 smtClean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MULTIPLE EFFECT EVAPORATION DISTILLATION (MED)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 Energy Efficiency:</a:t>
            </a:r>
          </a:p>
          <a:p>
            <a:pPr>
              <a:buNone/>
            </a:pPr>
            <a:endParaRPr lang="en-US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fontAlgn="ctr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Reduced Steam Consumption: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The core advantage is the reuse of steam across multiple stages, minimizing the amount of fresh steam needed. </a:t>
            </a:r>
          </a:p>
          <a:p>
            <a:pPr fontAlgn="ctr"/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Lower Energy Costs: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Because less steam is required, energy bills are significantly reduced. </a:t>
            </a:r>
          </a:p>
          <a:p>
            <a:r>
              <a:rPr lang="en-US" sz="2200" b="1" dirty="0" smtClean="0">
                <a:latin typeface="Times New Roman" pitchFamily="18" charset="0"/>
                <a:cs typeface="Times New Roman" pitchFamily="18" charset="0"/>
              </a:rPr>
              <a:t>Improved Heat Utilization: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 The latent heat of vaporization is harnessed effectively, maximizing heat transfer.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Cost Savings:</a:t>
            </a:r>
          </a:p>
          <a:p>
            <a:pPr>
              <a:buNone/>
            </a:pPr>
            <a:endParaRPr lang="en-US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font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Reduced Operational Costs: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Lower steam consumption directly translates to lower operating expenses. </a:t>
            </a:r>
          </a:p>
          <a:p>
            <a:pPr fontAlgn="ctr"/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Cost-Effective for Large Volumes: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Ideal for processes dealing with large volumes of wastewater or other liquids, where energy savings are substantial. 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Reduced Maintenance: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 In some cases, reduced energy consumption can lead to less wear and tear on equipment, potentially lowering maintenance costs.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Environmental Benefits: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Lower Carbon Footprint: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fontAlgn="ctr"/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Reduced steam and energy usage translates to a smaller environmental impact. 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Wastewater Management: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Efficiently concentrates and reduces the volume of wastewater, minimizing the environmental impact of industrial processes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229600" cy="4525963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Other Advantages: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High Concentration Ratios: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font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Multiple-effect evaporators can achieve high concentration ratios, which is useful for processes needing concentrated products like fruit juices, dairy, and chemicals. 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Scalability: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font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Systems can be designed with varying numbers of effects to meet specific production needs. 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Flexibility: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font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be adapted for various applications and solvents. 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Continuous Operation: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Many multiple-effect evaporators are designed for continuous operation, improving throughput and efficiency.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9188" y="1510411"/>
            <a:ext cx="8425625" cy="3837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685800"/>
            <a:ext cx="8582404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685800"/>
            <a:ext cx="7640637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5800" y="3657600"/>
            <a:ext cx="7688263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152400"/>
            <a:ext cx="6374042" cy="6529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795</Words>
  <Application>Microsoft Office PowerPoint</Application>
  <PresentationFormat>On-screen Show (4:3)</PresentationFormat>
  <Paragraphs>69</Paragraphs>
  <Slides>22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MULTIPLE EFFECT DISTILLATION (MED) FOR SEAWATER DESALINATION </vt:lpstr>
      <vt:lpstr>MULTIPLE EFFECT EVAPORATION  DISTILLATION (MED)</vt:lpstr>
      <vt:lpstr>MULTIPLE EFFECT DISTILLATION (MED)</vt:lpstr>
      <vt:lpstr>Slide 4</vt:lpstr>
      <vt:lpstr>MULTIPLE EFFECT DISTILLATION (MED)</vt:lpstr>
      <vt:lpstr>Slide 6</vt:lpstr>
      <vt:lpstr>Slide 7</vt:lpstr>
      <vt:lpstr>  TYPES OFMULTIPLE EFFECT DISTILLATION (MED)  </vt:lpstr>
      <vt:lpstr>(MED)</vt:lpstr>
      <vt:lpstr>MED</vt:lpstr>
      <vt:lpstr>Slide 11</vt:lpstr>
      <vt:lpstr>Slide 12</vt:lpstr>
      <vt:lpstr>Slide 13</vt:lpstr>
      <vt:lpstr>MULTIPLE EFFECT EVAPORATION DISTILLATION (MED)</vt:lpstr>
      <vt:lpstr>MULTIPLE EFFECT EVAPORATION DISTILLATION (MED)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Effect Distillation (MED) for Seawater Desalination </dc:title>
  <dc:creator>Subas Chandra Dash</dc:creator>
  <cp:lastModifiedBy>subas.dash</cp:lastModifiedBy>
  <cp:revision>29</cp:revision>
  <dcterms:created xsi:type="dcterms:W3CDTF">2006-08-16T00:00:00Z</dcterms:created>
  <dcterms:modified xsi:type="dcterms:W3CDTF">2025-08-23T06:11:47Z</dcterms:modified>
</cp:coreProperties>
</file>