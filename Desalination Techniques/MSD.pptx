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latin typeface="Times New Roman" pitchFamily="18" charset="0"/>
                <a:cs typeface="Times New Roman" pitchFamily="18" charset="0"/>
              </a:rPr>
              <a:t>Multi-stage flash (MSF)</a:t>
            </a:r>
            <a:endParaRPr lang="en-US" b="1" dirty="0">
              <a:solidFill>
                <a:srgbClr val="0070C0"/>
              </a:solidFill>
            </a:endParaRPr>
          </a:p>
        </p:txBody>
      </p:sp>
      <p:pic>
        <p:nvPicPr>
          <p:cNvPr id="1026" name="Picture 2"/>
          <p:cNvPicPr>
            <a:picLocks noChangeAspect="1" noChangeArrowheads="1"/>
          </p:cNvPicPr>
          <p:nvPr/>
        </p:nvPicPr>
        <p:blipFill>
          <a:blip r:embed="rId2" cstate="print"/>
          <a:srcRect/>
          <a:stretch>
            <a:fillRect/>
          </a:stretch>
        </p:blipFill>
        <p:spPr bwMode="auto">
          <a:xfrm>
            <a:off x="381000" y="1676400"/>
            <a:ext cx="8418807" cy="32893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304800" y="1600200"/>
            <a:ext cx="8587345" cy="452755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48783" y="1600200"/>
            <a:ext cx="8919017" cy="46482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52400" y="1600200"/>
            <a:ext cx="8825797" cy="46482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228600" y="1676400"/>
            <a:ext cx="8569024" cy="4572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152400" y="838200"/>
            <a:ext cx="8536610" cy="4699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304800" y="1219200"/>
            <a:ext cx="8523435" cy="4419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381000" y="1295400"/>
            <a:ext cx="8568170" cy="446563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152400" y="1066800"/>
            <a:ext cx="8842219" cy="4648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152400" y="946868"/>
            <a:ext cx="8763000" cy="465224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0" y="990600"/>
            <a:ext cx="8891947" cy="4572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smtClean="0"/>
              <a:t/>
            </a:r>
            <a:br>
              <a:rPr lang="en-US" sz="2000" dirty="0" smtClean="0"/>
            </a:br>
            <a:endParaRPr lang="en-US" sz="2000" dirty="0"/>
          </a:p>
        </p:txBody>
      </p:sp>
      <p:sp>
        <p:nvSpPr>
          <p:cNvPr id="3" name="Content Placeholder 2"/>
          <p:cNvSpPr>
            <a:spLocks noGrp="1"/>
          </p:cNvSpPr>
          <p:nvPr>
            <p:ph idx="1"/>
          </p:nvPr>
        </p:nvSpPr>
        <p:spPr>
          <a:xfrm>
            <a:off x="533400" y="685800"/>
            <a:ext cx="8229600" cy="4525963"/>
          </a:xfrm>
        </p:spPr>
        <p:txBody>
          <a:bodyPr>
            <a:normAutofit fontScale="85000" lnSpcReduction="10000"/>
          </a:bodyPr>
          <a:lstStyle/>
          <a:p>
            <a:pPr algn="just"/>
            <a:r>
              <a:rPr lang="en-US" sz="2000" dirty="0" smtClean="0">
                <a:latin typeface="Times New Roman" pitchFamily="18" charset="0"/>
                <a:cs typeface="Times New Roman" pitchFamily="18" charset="0"/>
              </a:rPr>
              <a:t>Multi-stage flash (MSF) distillation offers several advantages, primarily in water desalination. It excels at rejecting dissolved salts, producing high-quality treated water, and can be implemented on a large scale with relatively low operational costs. Additionally, it can be integrated with power plants to utilize waste heat and is known for its reliability and ease of large-scale </a:t>
            </a:r>
            <a:r>
              <a:rPr lang="en-US" sz="2000" dirty="0" smtClean="0">
                <a:latin typeface="Times New Roman" pitchFamily="18" charset="0"/>
                <a:cs typeface="Times New Roman" pitchFamily="18" charset="0"/>
              </a:rPr>
              <a:t>implementation.</a:t>
            </a:r>
          </a:p>
          <a:p>
            <a:r>
              <a:rPr lang="en-US" sz="2000" b="1" dirty="0" smtClean="0">
                <a:latin typeface="Times New Roman" pitchFamily="18" charset="0"/>
                <a:cs typeface="Times New Roman" pitchFamily="18" charset="0"/>
              </a:rPr>
              <a:t>High Dissolved Salt Rejection:</a:t>
            </a:r>
            <a:endParaRPr lang="en-US" sz="2000" dirty="0" smtClean="0">
              <a:latin typeface="Times New Roman" pitchFamily="18" charset="0"/>
              <a:cs typeface="Times New Roman" pitchFamily="18" charset="0"/>
            </a:endParaRPr>
          </a:p>
          <a:p>
            <a:pPr fontAlgn="ctr">
              <a:buNone/>
            </a:pPr>
            <a:r>
              <a:rPr lang="en-US" sz="2000" dirty="0" smtClean="0">
                <a:latin typeface="Times New Roman" pitchFamily="18" charset="0"/>
                <a:cs typeface="Times New Roman" pitchFamily="18" charset="0"/>
              </a:rPr>
              <a:t>       MSF </a:t>
            </a:r>
            <a:r>
              <a:rPr lang="en-US" sz="2000" dirty="0" smtClean="0">
                <a:latin typeface="Times New Roman" pitchFamily="18" charset="0"/>
                <a:cs typeface="Times New Roman" pitchFamily="18" charset="0"/>
              </a:rPr>
              <a:t>can effectively remove up to 99.9% of dissolved salts from seawater, producing potable water. </a:t>
            </a:r>
          </a:p>
          <a:p>
            <a:r>
              <a:rPr lang="en-US" sz="2000" b="1" dirty="0" smtClean="0">
                <a:latin typeface="Times New Roman" pitchFamily="18" charset="0"/>
                <a:cs typeface="Times New Roman" pitchFamily="18" charset="0"/>
              </a:rPr>
              <a:t>High-Quality Distillate:</a:t>
            </a:r>
            <a:endParaRPr lang="en-US" sz="2000" dirty="0" smtClean="0">
              <a:latin typeface="Times New Roman" pitchFamily="18" charset="0"/>
              <a:cs typeface="Times New Roman" pitchFamily="18" charset="0"/>
            </a:endParaRPr>
          </a:p>
          <a:p>
            <a:pPr fontAlgn="ctr">
              <a:buNone/>
            </a:pPr>
            <a:r>
              <a:rPr lang="en-US" sz="2000" dirty="0" smtClean="0">
                <a:latin typeface="Times New Roman" pitchFamily="18" charset="0"/>
                <a:cs typeface="Times New Roman" pitchFamily="18" charset="0"/>
              </a:rPr>
              <a:t>       The </a:t>
            </a:r>
            <a:r>
              <a:rPr lang="en-US" sz="2000" dirty="0" smtClean="0">
                <a:latin typeface="Times New Roman" pitchFamily="18" charset="0"/>
                <a:cs typeface="Times New Roman" pitchFamily="18" charset="0"/>
              </a:rPr>
              <a:t>process yields water with very low salt content, making it suitable for various applications, including boiler feed water. </a:t>
            </a:r>
          </a:p>
          <a:p>
            <a:r>
              <a:rPr lang="en-US" sz="2000" b="1" dirty="0" smtClean="0">
                <a:latin typeface="Times New Roman" pitchFamily="18" charset="0"/>
                <a:cs typeface="Times New Roman" pitchFamily="18" charset="0"/>
              </a:rPr>
              <a:t>Large-Scale Implementation:</a:t>
            </a:r>
            <a:endParaRPr lang="en-US" sz="2000" dirty="0" smtClean="0">
              <a:latin typeface="Times New Roman" pitchFamily="18" charset="0"/>
              <a:cs typeface="Times New Roman" pitchFamily="18" charset="0"/>
            </a:endParaRPr>
          </a:p>
          <a:p>
            <a:pPr fontAlgn="ctr">
              <a:buNone/>
            </a:pPr>
            <a:r>
              <a:rPr lang="en-US" sz="2000" dirty="0" smtClean="0">
                <a:latin typeface="Times New Roman" pitchFamily="18" charset="0"/>
                <a:cs typeface="Times New Roman" pitchFamily="18" charset="0"/>
              </a:rPr>
              <a:t>       MSF </a:t>
            </a:r>
            <a:r>
              <a:rPr lang="en-US" sz="2000" dirty="0" smtClean="0">
                <a:latin typeface="Times New Roman" pitchFamily="18" charset="0"/>
                <a:cs typeface="Times New Roman" pitchFamily="18" charset="0"/>
              </a:rPr>
              <a:t>is a well-established technology with a proven track record of building large-capacity units, some capable of producing up to 78,000 m3 per day. </a:t>
            </a:r>
          </a:p>
          <a:p>
            <a:r>
              <a:rPr lang="en-US" sz="2000" b="1" dirty="0" smtClean="0">
                <a:latin typeface="Times New Roman" pitchFamily="18" charset="0"/>
                <a:cs typeface="Times New Roman" pitchFamily="18" charset="0"/>
              </a:rPr>
              <a:t>Reliability and Durability:</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MSF </a:t>
            </a:r>
            <a:r>
              <a:rPr lang="en-US" sz="2000" dirty="0" smtClean="0">
                <a:latin typeface="Times New Roman" pitchFamily="18" charset="0"/>
                <a:cs typeface="Times New Roman" pitchFamily="18" charset="0"/>
              </a:rPr>
              <a:t>systems are known for their robustness and can be designed for long-term, reliable operation. </a:t>
            </a:r>
          </a:p>
          <a:p>
            <a:pPr algn="just"/>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txBody>
          <a:bodyPr>
            <a:normAutofit fontScale="55000" lnSpcReduction="20000"/>
          </a:bodyPr>
          <a:lstStyle/>
          <a:p>
            <a:r>
              <a:rPr lang="en-US" b="1" dirty="0" smtClean="0"/>
              <a:t>Waste Heat Utilization:</a:t>
            </a:r>
            <a:endParaRPr lang="en-US" dirty="0" smtClean="0"/>
          </a:p>
          <a:p>
            <a:pPr fontAlgn="ctr">
              <a:buNone/>
            </a:pPr>
            <a:r>
              <a:rPr lang="en-US" dirty="0" smtClean="0"/>
              <a:t>       MSF </a:t>
            </a:r>
            <a:r>
              <a:rPr lang="en-US" dirty="0" smtClean="0"/>
              <a:t>plants can be integrated with power plants, allowing for the utilization of waste heat, which reduces overall energy consumption. </a:t>
            </a:r>
          </a:p>
          <a:p>
            <a:r>
              <a:rPr lang="en-US" b="1" dirty="0" smtClean="0"/>
              <a:t>Low Operational Costs:</a:t>
            </a:r>
            <a:endParaRPr lang="en-US" dirty="0" smtClean="0"/>
          </a:p>
          <a:p>
            <a:pPr fontAlgn="ctr">
              <a:buNone/>
            </a:pPr>
            <a:r>
              <a:rPr lang="en-US" dirty="0" smtClean="0"/>
              <a:t>       While </a:t>
            </a:r>
            <a:r>
              <a:rPr lang="en-US" dirty="0" smtClean="0"/>
              <a:t>initial capital costs can be higher, operational costs (OPEX) for MSF are generally low. </a:t>
            </a:r>
          </a:p>
          <a:p>
            <a:r>
              <a:rPr lang="en-US" b="1" dirty="0" smtClean="0"/>
              <a:t>Flexibility in Operation:</a:t>
            </a:r>
            <a:endParaRPr lang="en-US" dirty="0" smtClean="0"/>
          </a:p>
          <a:p>
            <a:pPr fontAlgn="ctr">
              <a:buNone/>
            </a:pPr>
            <a:r>
              <a:rPr lang="en-US" dirty="0" smtClean="0"/>
              <a:t>       MSF </a:t>
            </a:r>
            <a:r>
              <a:rPr lang="en-US" dirty="0" smtClean="0"/>
              <a:t>plants can operate at part load and can be adapted to different heat sources. </a:t>
            </a:r>
          </a:p>
          <a:p>
            <a:r>
              <a:rPr lang="en-US" b="1" dirty="0" smtClean="0"/>
              <a:t>Reduced Scaling:</a:t>
            </a:r>
            <a:endParaRPr lang="en-US" dirty="0" smtClean="0"/>
          </a:p>
          <a:p>
            <a:pPr fontAlgn="ctr">
              <a:buNone/>
            </a:pPr>
            <a:r>
              <a:rPr lang="en-US" dirty="0" smtClean="0"/>
              <a:t>      The </a:t>
            </a:r>
            <a:r>
              <a:rPr lang="en-US" dirty="0" smtClean="0"/>
              <a:t>separation of heat transfer and evaporation minimizes scaling issues, which can significantly reduce maintenance and downtime. </a:t>
            </a:r>
          </a:p>
          <a:p>
            <a:r>
              <a:rPr lang="en-US" b="1" dirty="0" smtClean="0"/>
              <a:t>Proven Technology:</a:t>
            </a:r>
            <a:endParaRPr lang="en-US" dirty="0" smtClean="0"/>
          </a:p>
          <a:p>
            <a:pPr fontAlgn="ctr">
              <a:buNone/>
            </a:pPr>
            <a:r>
              <a:rPr lang="en-US" dirty="0" smtClean="0"/>
              <a:t>      MSF </a:t>
            </a:r>
            <a:r>
              <a:rPr lang="en-US" dirty="0" smtClean="0"/>
              <a:t>is a mature technology with extensive operational experience, leading to well-developed construction and operational procedures. </a:t>
            </a:r>
          </a:p>
          <a:p>
            <a:r>
              <a:rPr lang="en-US" b="1" dirty="0" smtClean="0"/>
              <a:t>Suitable for Various Applications:</a:t>
            </a:r>
            <a:endParaRPr lang="en-US" dirty="0" smtClean="0"/>
          </a:p>
          <a:p>
            <a:pPr>
              <a:buNone/>
            </a:pPr>
            <a:r>
              <a:rPr lang="en-US" dirty="0" smtClean="0"/>
              <a:t>       Beyond </a:t>
            </a:r>
            <a:r>
              <a:rPr lang="en-US" dirty="0" smtClean="0"/>
              <a:t>desalination, MSF can be used to treat industrial wastewater, including wastewater from petrochemical, printing, dyeing, and paper industries.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562600"/>
          </a:xfrm>
        </p:spPr>
        <p:txBody>
          <a:bodyPr>
            <a:normAutofit fontScale="25000" lnSpcReduction="20000"/>
          </a:bodyPr>
          <a:lstStyle/>
          <a:p>
            <a:pPr algn="just"/>
            <a:r>
              <a:rPr lang="en-US" sz="8000" dirty="0" smtClean="0">
                <a:latin typeface="Times New Roman" pitchFamily="18" charset="0"/>
                <a:cs typeface="Times New Roman" pitchFamily="18" charset="0"/>
              </a:rPr>
              <a:t>Multi-stage flash (MSF) distillation, while widely used, has several disadvantages. These include high energy consumption, potential for corrosion and scaling, large plant size, and high capital costs. Additionally, it can be sensitive to feed water quality and may require significant pretreatment. </a:t>
            </a:r>
          </a:p>
          <a:p>
            <a:r>
              <a:rPr lang="en-US" sz="8000" b="1" dirty="0" smtClean="0">
                <a:latin typeface="Times New Roman" pitchFamily="18" charset="0"/>
                <a:cs typeface="Times New Roman" pitchFamily="18" charset="0"/>
              </a:rPr>
              <a:t>Detailed </a:t>
            </a:r>
            <a:r>
              <a:rPr lang="en-US" sz="8000" b="1" dirty="0" smtClean="0">
                <a:latin typeface="Times New Roman" pitchFamily="18" charset="0"/>
                <a:cs typeface="Times New Roman" pitchFamily="18" charset="0"/>
              </a:rPr>
              <a:t>Disadvantages:</a:t>
            </a:r>
          </a:p>
          <a:p>
            <a:r>
              <a:rPr lang="en-US" sz="8000" b="1" dirty="0" smtClean="0">
                <a:latin typeface="Times New Roman" pitchFamily="18" charset="0"/>
                <a:cs typeface="Times New Roman" pitchFamily="18" charset="0"/>
              </a:rPr>
              <a:t>High Energy Consumption:</a:t>
            </a:r>
            <a:endParaRPr lang="en-US" sz="8000" dirty="0" smtClean="0">
              <a:latin typeface="Times New Roman" pitchFamily="18" charset="0"/>
              <a:cs typeface="Times New Roman" pitchFamily="18" charset="0"/>
            </a:endParaRPr>
          </a:p>
          <a:p>
            <a:pPr fontAlgn="ctr">
              <a:buNone/>
            </a:pPr>
            <a:r>
              <a:rPr lang="en-US" sz="8000" dirty="0" smtClean="0">
                <a:latin typeface="Times New Roman" pitchFamily="18" charset="0"/>
                <a:cs typeface="Times New Roman" pitchFamily="18" charset="0"/>
              </a:rPr>
              <a:t>       MSF </a:t>
            </a:r>
            <a:r>
              <a:rPr lang="en-US" sz="8000" dirty="0" smtClean="0">
                <a:latin typeface="Times New Roman" pitchFamily="18" charset="0"/>
                <a:cs typeface="Times New Roman" pitchFamily="18" charset="0"/>
              </a:rPr>
              <a:t>distillation requires a substantial amount of energy, particularly thermal energy, to operate. This is a major drawback, especially when considering the cost of energy and its environmental impact. </a:t>
            </a:r>
          </a:p>
          <a:p>
            <a:r>
              <a:rPr lang="en-US" sz="8000" b="1" dirty="0" smtClean="0">
                <a:latin typeface="Times New Roman" pitchFamily="18" charset="0"/>
                <a:cs typeface="Times New Roman" pitchFamily="18" charset="0"/>
              </a:rPr>
              <a:t>Corrosion and Scaling:</a:t>
            </a:r>
            <a:endParaRPr lang="en-US" sz="8000" dirty="0" smtClean="0">
              <a:latin typeface="Times New Roman" pitchFamily="18" charset="0"/>
              <a:cs typeface="Times New Roman" pitchFamily="18" charset="0"/>
            </a:endParaRPr>
          </a:p>
          <a:p>
            <a:pPr fontAlgn="ctr">
              <a:buNone/>
            </a:pPr>
            <a:r>
              <a:rPr lang="en-US" sz="8000" dirty="0" smtClean="0">
                <a:latin typeface="Times New Roman" pitchFamily="18" charset="0"/>
                <a:cs typeface="Times New Roman" pitchFamily="18" charset="0"/>
              </a:rPr>
              <a:t>      The </a:t>
            </a:r>
            <a:r>
              <a:rPr lang="en-US" sz="8000" dirty="0" smtClean="0">
                <a:latin typeface="Times New Roman" pitchFamily="18" charset="0"/>
                <a:cs typeface="Times New Roman" pitchFamily="18" charset="0"/>
              </a:rPr>
              <a:t>high temperatures involved in MSF can lead to corrosion of the equipment and scaling (mineral buildup) on heat transfer surfaces, which reduces efficiency and requires frequent maintenance and cleaning. </a:t>
            </a:r>
          </a:p>
          <a:p>
            <a:r>
              <a:rPr lang="en-US" sz="8000" b="1" dirty="0" smtClean="0">
                <a:latin typeface="Times New Roman" pitchFamily="18" charset="0"/>
                <a:cs typeface="Times New Roman" pitchFamily="18" charset="0"/>
              </a:rPr>
              <a:t>High Initial Capital Cost:</a:t>
            </a:r>
            <a:endParaRPr lang="en-US" sz="8000" dirty="0" smtClean="0">
              <a:latin typeface="Times New Roman" pitchFamily="18" charset="0"/>
              <a:cs typeface="Times New Roman" pitchFamily="18" charset="0"/>
            </a:endParaRPr>
          </a:p>
          <a:p>
            <a:pPr fontAlgn="ctr">
              <a:buNone/>
            </a:pPr>
            <a:r>
              <a:rPr lang="en-US" sz="8000" dirty="0" smtClean="0">
                <a:latin typeface="Times New Roman" pitchFamily="18" charset="0"/>
                <a:cs typeface="Times New Roman" pitchFamily="18" charset="0"/>
              </a:rPr>
              <a:t>      Building </a:t>
            </a:r>
            <a:r>
              <a:rPr lang="en-US" sz="8000" dirty="0" smtClean="0">
                <a:latin typeface="Times New Roman" pitchFamily="18" charset="0"/>
                <a:cs typeface="Times New Roman" pitchFamily="18" charset="0"/>
              </a:rPr>
              <a:t>and installing MSF plants can be expensive due to the complex equipment and large scale of the operation. </a:t>
            </a:r>
          </a:p>
          <a:p>
            <a:r>
              <a:rPr lang="en-US" sz="8000" b="1" dirty="0" smtClean="0">
                <a:latin typeface="Times New Roman" pitchFamily="18" charset="0"/>
                <a:cs typeface="Times New Roman" pitchFamily="18" charset="0"/>
              </a:rPr>
              <a:t>Large Plant Size:</a:t>
            </a:r>
            <a:endParaRPr lang="en-US" sz="8000" dirty="0" smtClean="0">
              <a:latin typeface="Times New Roman" pitchFamily="18" charset="0"/>
              <a:cs typeface="Times New Roman" pitchFamily="18" charset="0"/>
            </a:endParaRPr>
          </a:p>
          <a:p>
            <a:pPr fontAlgn="ctr">
              <a:buNone/>
            </a:pPr>
            <a:r>
              <a:rPr lang="en-US" sz="8000" dirty="0" smtClean="0">
                <a:latin typeface="Times New Roman" pitchFamily="18" charset="0"/>
                <a:cs typeface="Times New Roman" pitchFamily="18" charset="0"/>
              </a:rPr>
              <a:t>      MSF </a:t>
            </a:r>
            <a:r>
              <a:rPr lang="en-US" sz="8000" dirty="0" smtClean="0">
                <a:latin typeface="Times New Roman" pitchFamily="18" charset="0"/>
                <a:cs typeface="Times New Roman" pitchFamily="18" charset="0"/>
              </a:rPr>
              <a:t>plants typically require a large footprint, which can be a limitation in areas with limited space. </a:t>
            </a:r>
          </a:p>
          <a:p>
            <a:pPr>
              <a:buNone/>
            </a:pPr>
            <a:r>
              <a:rPr lang="en-US" sz="8000" dirty="0" smtClean="0"/>
              <a:t/>
            </a:r>
            <a:br>
              <a:rPr lang="en-US" sz="8000" dirty="0" smtClean="0"/>
            </a:br>
            <a:endParaRPr lang="en-US" sz="8000" dirty="0" smtClean="0"/>
          </a:p>
          <a:p>
            <a:pPr algn="just"/>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229600" cy="4525963"/>
          </a:xfrm>
        </p:spPr>
        <p:txBody>
          <a:bodyPr>
            <a:noAutofit/>
          </a:bodyPr>
          <a:lstStyle/>
          <a:p>
            <a:r>
              <a:rPr lang="en-US" sz="2000" b="1" dirty="0" smtClean="0"/>
              <a:t>Sensitivity to Feed Water Quality:</a:t>
            </a:r>
            <a:endParaRPr lang="en-US" sz="2000" dirty="0" smtClean="0"/>
          </a:p>
          <a:p>
            <a:pPr fontAlgn="ctr">
              <a:buNone/>
            </a:pPr>
            <a:r>
              <a:rPr lang="en-US" sz="2000" dirty="0" smtClean="0"/>
              <a:t>        The </a:t>
            </a:r>
            <a:r>
              <a:rPr lang="en-US" sz="2000" dirty="0" smtClean="0"/>
              <a:t>presence of contaminants like organic and inorganic chemicals, and biological matter in the feed water can cause scaling, fouling, and corrosion. This necessitates pretreatment processes, adding to the complexity and cost. </a:t>
            </a:r>
          </a:p>
          <a:p>
            <a:r>
              <a:rPr lang="en-US" sz="2000" b="1" dirty="0" smtClean="0"/>
              <a:t>Low Performance Ratio (Limited Efficiency):</a:t>
            </a:r>
            <a:endParaRPr lang="en-US" sz="2000" dirty="0" smtClean="0"/>
          </a:p>
          <a:p>
            <a:pPr fontAlgn="ctr">
              <a:buNone/>
            </a:pPr>
            <a:r>
              <a:rPr lang="en-US" sz="2000" dirty="0" smtClean="0"/>
              <a:t>        Compared </a:t>
            </a:r>
            <a:r>
              <a:rPr lang="en-US" sz="2000" dirty="0" smtClean="0"/>
              <a:t>to other desalination methods, MSF may have a lower performance ratio, meaning it requires more energy to produce a given amount of fresh water. </a:t>
            </a:r>
          </a:p>
          <a:p>
            <a:r>
              <a:rPr lang="en-US" sz="2000" b="1" dirty="0" smtClean="0"/>
              <a:t>Potential for Greenhouse Gas Emissions:</a:t>
            </a:r>
            <a:endParaRPr lang="en-US" sz="2000" dirty="0" smtClean="0"/>
          </a:p>
          <a:p>
            <a:pPr fontAlgn="ctr">
              <a:buNone/>
            </a:pPr>
            <a:r>
              <a:rPr lang="en-US" sz="2000" dirty="0" smtClean="0"/>
              <a:t>         If </a:t>
            </a:r>
            <a:r>
              <a:rPr lang="en-US" sz="2000" dirty="0" smtClean="0"/>
              <a:t>fossil fuels are used to power the MSF plant, it can contribute to greenhouse gas emissions. </a:t>
            </a:r>
          </a:p>
          <a:p>
            <a:r>
              <a:rPr lang="en-US" sz="2000" b="1" dirty="0" smtClean="0"/>
              <a:t>Transient Time for Operation:</a:t>
            </a:r>
            <a:endParaRPr lang="en-US" sz="2000" dirty="0" smtClean="0"/>
          </a:p>
          <a:p>
            <a:pPr fontAlgn="ctr">
              <a:buNone/>
            </a:pPr>
            <a:r>
              <a:rPr lang="en-US" sz="2000" dirty="0" smtClean="0"/>
              <a:t>        MSF </a:t>
            </a:r>
            <a:r>
              <a:rPr lang="en-US" sz="2000" dirty="0" smtClean="0"/>
              <a:t>plants require a certain amount of time to stabilize at the desired operating conditions after startup, which can be a disadvantage in applications where rapid changes in production are needed. </a:t>
            </a:r>
          </a:p>
          <a:p>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229600" cy="4525963"/>
          </a:xfrm>
        </p:spPr>
        <p:txBody>
          <a:bodyPr/>
          <a:lstStyle/>
          <a:p>
            <a:pPr algn="just"/>
            <a:r>
              <a:rPr lang="en-US" sz="2000" b="1" dirty="0" smtClean="0">
                <a:latin typeface="Times New Roman" pitchFamily="18" charset="0"/>
                <a:cs typeface="Times New Roman" pitchFamily="18" charset="0"/>
              </a:rPr>
              <a:t>Limited Flexibility for Solar Energy:</a:t>
            </a:r>
            <a:endParaRPr lang="en-US"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MSF </a:t>
            </a:r>
            <a:r>
              <a:rPr lang="en-US" sz="2000" dirty="0" smtClean="0">
                <a:latin typeface="Times New Roman" pitchFamily="18" charset="0"/>
                <a:cs typeface="Times New Roman" pitchFamily="18" charset="0"/>
              </a:rPr>
              <a:t>plants can be less suitable for solar energy applications due to the need for precise temperature and pressure control, although this can be mitigated with thermal buffering systems. </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134</Words>
  <Application>Microsoft Office PowerPoint</Application>
  <PresentationFormat>On-screen Show (4:3)</PresentationFormat>
  <Paragraphs>44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Multi-stage flash (MSF)</vt:lpstr>
      <vt:lpstr>Slide 3</vt:lpstr>
      <vt:lpstr>Slide 4</vt:lpstr>
      <vt:lpstr>Slide 5</vt:lpstr>
      <vt:lpstr>Slide 6</vt:lpstr>
      <vt:lpstr>Slide 7</vt:lpstr>
      <vt:lpstr>Slide 8</vt:lpstr>
      <vt:lpstr>Slide 9</vt:lpstr>
      <vt:lpstr>Slide 10</vt:lpstr>
      <vt:lpstr>Slide 11</vt:lpstr>
      <vt:lpstr>Slide 12</vt:lpstr>
      <vt:lpstr> </vt:lpstr>
      <vt:lpstr>Slide 14</vt:lpstr>
      <vt:lpstr>Slide 15</vt:lpstr>
      <vt:lpstr>Slide 16</vt:lpstr>
      <vt:lpstr>Slide 17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Subas Chandra Dash</dc:creator>
  <cp:lastModifiedBy>subas.dash</cp:lastModifiedBy>
  <cp:revision>10</cp:revision>
  <dcterms:created xsi:type="dcterms:W3CDTF">2006-08-16T00:00:00Z</dcterms:created>
  <dcterms:modified xsi:type="dcterms:W3CDTF">2025-08-10T12:12:35Z</dcterms:modified>
</cp:coreProperties>
</file>