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7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0"/>
    <p:sldId id="279" r:id="rId21"/>
    <p:sldId id="280" r:id="rId22"/>
    <p:sldId id="281" r:id="rId23"/>
    <p:sldId id="282" r:id="rId24"/>
    <p:sldId id="283" r:id="rId25"/>
    <p:sldId id="284" r:id="rId26"/>
    <p:sldId id="285" r:id="rId27"/>
    <p:sldId id="286" r:id="rId28"/>
    <p:sldId id="28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944" y="-28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8/4/2025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8/4/2025</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8/4/2025</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8/4/2025</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8/4/2025</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8/4/2025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youtu.be/BDDqY7IZhxQ?si=zve40Gkt09ZS0Rni"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puretecwater.com/products-and-services/industrial-reverse-osmosis-ro-system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lantech.in/" TargetMode="External"/><Relationship Id="rId2" Type="http://schemas.openxmlformats.org/officeDocument/2006/relationships/hyperlink" Target="https://alantech.in/water-treatment-system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0"/>
            <a:ext cx="7772400" cy="1470025"/>
          </a:xfrm>
        </p:spPr>
        <p:txBody>
          <a:bodyPr>
            <a:normAutofit/>
          </a:bodyPr>
          <a:lstStyle/>
          <a:p>
            <a:r>
              <a:rPr lang="en-US" sz="3600" b="1" dirty="0" smtClean="0">
                <a:latin typeface="Times New Roman" pitchFamily="18" charset="0"/>
                <a:cs typeface="Times New Roman" pitchFamily="18" charset="0"/>
              </a:rPr>
              <a:t>Desalination Technique</a:t>
            </a:r>
            <a:endParaRPr lang="en-US" sz="36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533400" y="4495800"/>
          <a:ext cx="7848600" cy="1828800"/>
        </p:xfrm>
        <a:graphic>
          <a:graphicData uri="http://schemas.openxmlformats.org/drawingml/2006/table">
            <a:tbl>
              <a:tblPr/>
              <a:tblGrid>
                <a:gridCol w="3924300"/>
                <a:gridCol w="3924300"/>
              </a:tblGrid>
              <a:tr h="0">
                <a:tc>
                  <a:txBody>
                    <a:bodyPr/>
                    <a:lstStyle/>
                    <a:p>
                      <a:pPr algn="just">
                        <a:lnSpc>
                          <a:spcPct val="150000"/>
                        </a:lnSpc>
                        <a:spcAft>
                          <a:spcPts val="1000"/>
                        </a:spcAft>
                      </a:pPr>
                      <a:r>
                        <a:rPr lang="en-US" sz="2000" dirty="0">
                          <a:latin typeface="Times New Roman"/>
                          <a:ea typeface="Calibri"/>
                          <a:cs typeface="Mangal"/>
                        </a:rPr>
                        <a:t>Thermal Technology </a:t>
                      </a:r>
                      <a:endParaRPr lang="en-US" sz="20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1000"/>
                        </a:spcAft>
                      </a:pPr>
                      <a:r>
                        <a:rPr lang="en-US" sz="2000" dirty="0">
                          <a:latin typeface="Times New Roman"/>
                          <a:ea typeface="Calibri"/>
                          <a:cs typeface="Mangal"/>
                        </a:rPr>
                        <a:t>Membrane Technology</a:t>
                      </a:r>
                      <a:endParaRPr lang="en-US" sz="20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1000"/>
                        </a:spcAft>
                      </a:pPr>
                      <a:r>
                        <a:rPr lang="en-US" sz="2000" dirty="0">
                          <a:latin typeface="Times New Roman"/>
                          <a:ea typeface="Calibri"/>
                          <a:cs typeface="Mangal"/>
                        </a:rPr>
                        <a:t>Multi-Stage Flash Distillation (MSF) </a:t>
                      </a:r>
                      <a:endParaRPr lang="en-US" sz="20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1000"/>
                        </a:spcAft>
                      </a:pPr>
                      <a:r>
                        <a:rPr lang="en-US" sz="2000" dirty="0" err="1">
                          <a:latin typeface="Times New Roman"/>
                          <a:ea typeface="Calibri"/>
                          <a:cs typeface="Mangal"/>
                        </a:rPr>
                        <a:t>Electrodialysis</a:t>
                      </a:r>
                      <a:r>
                        <a:rPr lang="en-US" sz="2000" dirty="0">
                          <a:latin typeface="Times New Roman"/>
                          <a:ea typeface="Calibri"/>
                          <a:cs typeface="Mangal"/>
                        </a:rPr>
                        <a:t>  (ED</a:t>
                      </a:r>
                      <a:endParaRPr lang="en-US" sz="20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50000"/>
                        </a:lnSpc>
                        <a:spcAft>
                          <a:spcPts val="1000"/>
                        </a:spcAft>
                      </a:pPr>
                      <a:r>
                        <a:rPr lang="en-US" sz="2000" dirty="0">
                          <a:latin typeface="Times New Roman"/>
                          <a:ea typeface="Calibri"/>
                          <a:cs typeface="Mangal"/>
                        </a:rPr>
                        <a:t>Vapor Compression Distillation (VCD) </a:t>
                      </a:r>
                      <a:endParaRPr lang="en-US" sz="20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1000"/>
                        </a:spcAft>
                      </a:pPr>
                      <a:r>
                        <a:rPr lang="en-US" sz="2000" dirty="0">
                          <a:latin typeface="Times New Roman"/>
                          <a:ea typeface="Calibri"/>
                          <a:cs typeface="Mangal"/>
                        </a:rPr>
                        <a:t>Reverse Osmosis  (RO)</a:t>
                      </a:r>
                      <a:endParaRPr lang="en-US" sz="2000" dirty="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4"/>
          <p:cNvSpPr/>
          <p:nvPr/>
        </p:nvSpPr>
        <p:spPr>
          <a:xfrm>
            <a:off x="533400" y="381000"/>
            <a:ext cx="7924800" cy="3754874"/>
          </a:xfrm>
          <a:prstGeom prst="rect">
            <a:avLst/>
          </a:prstGeom>
        </p:spPr>
        <p:txBody>
          <a:bodyPr wrap="square">
            <a:spAutoFit/>
          </a:bodyPr>
          <a:lstStyle/>
          <a:p>
            <a:endParaRPr lang="en-US" dirty="0" smtClean="0"/>
          </a:p>
          <a:p>
            <a:r>
              <a:rPr lang="en-US" dirty="0" smtClean="0"/>
              <a:t> </a:t>
            </a:r>
            <a:r>
              <a:rPr lang="en-US" sz="2400" b="1" dirty="0" smtClean="0">
                <a:solidFill>
                  <a:srgbClr val="0070C0"/>
                </a:solidFill>
              </a:rPr>
              <a:t>THE MAJOR DESALINATION PROCESSES ARE IDENTIFIED</a:t>
            </a:r>
          </a:p>
          <a:p>
            <a:endParaRPr lang="en-US" sz="2400" dirty="0" smtClean="0"/>
          </a:p>
          <a:p>
            <a:pPr marL="457200" indent="-457200">
              <a:buFont typeface="Arial" pitchFamily="34" charset="0"/>
              <a:buChar char="•"/>
            </a:pPr>
            <a:r>
              <a:rPr lang="en-US" sz="2400" dirty="0" smtClean="0"/>
              <a:t> </a:t>
            </a:r>
            <a:r>
              <a:rPr lang="en-US" sz="2000" dirty="0" smtClean="0"/>
              <a:t>The two major types of technologies that are used around the world for desalination can be broadly classified as either thermal or membrane. </a:t>
            </a:r>
          </a:p>
          <a:p>
            <a:pPr marL="457200" indent="-457200">
              <a:buFont typeface="Arial" pitchFamily="34" charset="0"/>
              <a:buChar char="•"/>
            </a:pPr>
            <a:r>
              <a:rPr lang="en-US" sz="2000" dirty="0" smtClean="0"/>
              <a:t>Both technologies need energy to operate and produce fresh water. Within those two broad types, there are sub-categories (processes) using different techniques. The major desalination processes are identified</a:t>
            </a:r>
            <a:r>
              <a:rPr lang="en-US" sz="2400" b="1" dirty="0" smtClean="0"/>
              <a:t> </a:t>
            </a:r>
            <a:endParaRPr lang="en-US" sz="24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438400"/>
            <a:ext cx="7467600" cy="1143000"/>
          </a:xfrm>
        </p:spPr>
        <p:txBody>
          <a:bodyPr>
            <a:normAutofit fontScale="90000"/>
          </a:bodyPr>
          <a:lstStyle/>
          <a:p>
            <a:r>
              <a:rPr lang="en-US" b="1" dirty="0" smtClean="0"/>
              <a:t>   </a:t>
            </a:r>
            <a:br>
              <a:rPr lang="en-US" b="1" dirty="0" smtClean="0"/>
            </a:br>
            <a:r>
              <a:rPr lang="en-US" sz="4000" b="1" dirty="0" smtClean="0"/>
              <a:t>Reverse Osmosis – The Basics</a:t>
            </a:r>
            <a:r>
              <a:rPr lang="en-US" b="1" dirty="0" smtClean="0"/>
              <a:t/>
            </a:r>
            <a:br>
              <a:rPr lang="en-US" b="1" dirty="0" smtClean="0"/>
            </a:b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pPr algn="just"/>
            <a:r>
              <a:rPr lang="en-US" sz="2000" dirty="0" smtClean="0">
                <a:latin typeface="Times New Roman" pitchFamily="18" charset="0"/>
                <a:cs typeface="Times New Roman" pitchFamily="18" charset="0"/>
              </a:rPr>
              <a:t>To understand RO’s purpose and process, first you must understand the naturally occurring process of </a:t>
            </a:r>
            <a:r>
              <a:rPr lang="en-US" sz="2000" dirty="0" smtClean="0">
                <a:latin typeface="Times New Roman" pitchFamily="18" charset="0"/>
                <a:cs typeface="Times New Roman" pitchFamily="18" charset="0"/>
                <a:hlinkClick r:id="rId2"/>
              </a:rPr>
              <a:t>Osmosis</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Osmosis is a naturally occurring phenomenon, and one of the most important processes in nature, where a weaker saline solution will tend to migrate to a strong saline solution. For example, when plant roots absorb water from the soil, or our kidneys absorb water from our blood.</a:t>
            </a:r>
          </a:p>
          <a:p>
            <a:pPr algn="just"/>
            <a:r>
              <a:rPr lang="en-US" sz="2000" dirty="0" smtClean="0">
                <a:latin typeface="Times New Roman" pitchFamily="18" charset="0"/>
                <a:cs typeface="Times New Roman" pitchFamily="18" charset="0"/>
              </a:rPr>
              <a:t>The diagram to the right shows how osmosis works.</a:t>
            </a:r>
          </a:p>
          <a:p>
            <a:pPr algn="just"/>
            <a:r>
              <a:rPr lang="en-US" sz="2000" dirty="0" smtClean="0">
                <a:latin typeface="Times New Roman" pitchFamily="18" charset="0"/>
                <a:cs typeface="Times New Roman" pitchFamily="18" charset="0"/>
              </a:rPr>
              <a:t>A less concentrated solution has a natural tendency to migrate to a solution with a higher concentration.</a:t>
            </a:r>
          </a:p>
          <a:p>
            <a:pPr algn="just"/>
            <a:r>
              <a:rPr lang="en-US" sz="2000" dirty="0" smtClean="0">
                <a:latin typeface="Times New Roman" pitchFamily="18" charset="0"/>
                <a:cs typeface="Times New Roman" pitchFamily="18" charset="0"/>
              </a:rPr>
              <a:t>For example, if you had a container full of water with low salt concentration and another container full of water with high salt concentration, separated by a semi-permeable membrane, the water with the lower salt concentration would start to move towards the container with the higher salt concentration.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3528" y="404664"/>
            <a:ext cx="8229600" cy="4525963"/>
          </a:xfrm>
        </p:spPr>
        <p:txBody>
          <a:bodyPr/>
          <a:lstStyle/>
          <a:p>
            <a:pPr algn="just"/>
            <a:r>
              <a:rPr lang="en-US" sz="2000" dirty="0" smtClean="0">
                <a:latin typeface="Times New Roman" pitchFamily="18" charset="0"/>
                <a:cs typeface="Times New Roman" pitchFamily="18" charset="0"/>
              </a:rPr>
              <a:t>A semi-permeable membrane allows some atoms or molecules to pass but not others. A simple example is a screen door which allows air molecules to pass through but not pests or anything larger than the screen holes. </a:t>
            </a:r>
          </a:p>
          <a:p>
            <a:pPr algn="just"/>
            <a:r>
              <a:rPr lang="en-US" sz="2000" dirty="0" smtClean="0">
                <a:latin typeface="Times New Roman" pitchFamily="18" charset="0"/>
                <a:cs typeface="Times New Roman" pitchFamily="18" charset="0"/>
              </a:rPr>
              <a:t>Another example is Gore-Tex clothing which has an extremely thin plastic film with billions of small pores just big enough to let water vapor through, but small enough to prevent liquid water from passing.</a:t>
            </a:r>
          </a:p>
          <a:p>
            <a:pPr>
              <a:buNone/>
            </a:pPr>
            <a:r>
              <a:rPr lang="en-US" b="1" dirty="0" smtClean="0">
                <a:latin typeface="Times New Roman" pitchFamily="18" charset="0"/>
                <a:cs typeface="Times New Roman" pitchFamily="18" charset="0"/>
              </a:rPr>
              <a:t>Reverse Osmosis</a:t>
            </a:r>
          </a:p>
          <a:p>
            <a:pPr algn="just"/>
            <a:r>
              <a:rPr lang="en-US" sz="2000" dirty="0" smtClean="0">
                <a:latin typeface="Times New Roman" pitchFamily="18" charset="0"/>
                <a:cs typeface="Times New Roman" pitchFamily="18" charset="0"/>
              </a:rPr>
              <a:t>RO is the process of Osmosis in reverse. Osmosis occurs naturally without an external energy source, but reversing the osmosis process requires applying energy to the more saline solution to reverse the natural flow.</a:t>
            </a:r>
          </a:p>
          <a:p>
            <a:endParaRPr lang="en-US" sz="2000" dirty="0"/>
          </a:p>
        </p:txBody>
      </p:sp>
      <p:pic>
        <p:nvPicPr>
          <p:cNvPr id="4" name="Picture 2"/>
          <p:cNvPicPr>
            <a:picLocks noChangeAspect="1" noChangeArrowheads="1"/>
          </p:cNvPicPr>
          <p:nvPr/>
        </p:nvPicPr>
        <p:blipFill>
          <a:blip r:embed="rId2" cstate="print"/>
          <a:srcRect/>
          <a:stretch>
            <a:fillRect/>
          </a:stretch>
        </p:blipFill>
        <p:spPr bwMode="auto">
          <a:xfrm>
            <a:off x="5220072" y="4005064"/>
            <a:ext cx="2258582" cy="2314522"/>
          </a:xfrm>
          <a:prstGeom prst="rect">
            <a:avLst/>
          </a:prstGeom>
          <a:noFill/>
          <a:ln w="9525">
            <a:noFill/>
            <a:miter lim="800000"/>
            <a:headEnd/>
            <a:tailEn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2800" b="1" dirty="0" smtClean="0"/>
              <a:t>How does Reverse Osmosis work?</a:t>
            </a:r>
            <a:r>
              <a:rPr lang="en-US" b="1" dirty="0" smtClean="0"/>
              <a:t/>
            </a:r>
            <a:br>
              <a:rPr lang="en-US" b="1" dirty="0" smtClean="0"/>
            </a:br>
            <a:endParaRPr lang="en-US" dirty="0"/>
          </a:p>
        </p:txBody>
      </p:sp>
      <p:sp>
        <p:nvSpPr>
          <p:cNvPr id="5" name="Content Placeholder 4"/>
          <p:cNvSpPr>
            <a:spLocks noGrp="1"/>
          </p:cNvSpPr>
          <p:nvPr>
            <p:ph sz="quarter" idx="1"/>
          </p:nvPr>
        </p:nvSpPr>
        <p:spPr>
          <a:xfrm>
            <a:off x="395536" y="1412776"/>
            <a:ext cx="8229600" cy="4525963"/>
          </a:xfrm>
        </p:spPr>
        <p:txBody>
          <a:bodyPr>
            <a:normAutofit/>
          </a:bodyPr>
          <a:lstStyle/>
          <a:p>
            <a:pPr algn="just"/>
            <a:r>
              <a:rPr lang="en-US" sz="2000" dirty="0" smtClean="0">
                <a:latin typeface="Times New Roman" pitchFamily="18" charset="0"/>
                <a:cs typeface="Times New Roman" pitchFamily="18" charset="0"/>
              </a:rPr>
              <a:t>RO works using a high-pressure pump to apply pressure on the salt side of the RO system and to force the water across the semi- permeable RO membrane, leaving almost all (95% to 99%) of dissolved salts behind in the reject stream.</a:t>
            </a:r>
          </a:p>
          <a:p>
            <a:pPr algn="just"/>
            <a:r>
              <a:rPr lang="en-US" sz="2000" dirty="0" smtClean="0">
                <a:latin typeface="Times New Roman" pitchFamily="18" charset="0"/>
                <a:cs typeface="Times New Roman" pitchFamily="18" charset="0"/>
              </a:rPr>
              <a:t>The amount of pressure required depends on the salt concentration of the feed water. The more concentrated the feed water, the more pressure is required to overcome the osmotic pressure.</a:t>
            </a:r>
          </a:p>
          <a:p>
            <a:pPr algn="just">
              <a:buNone/>
            </a:pPr>
            <a:r>
              <a:rPr lang="en-US" sz="2000" b="1" dirty="0" smtClean="0">
                <a:latin typeface="Times New Roman" pitchFamily="18" charset="0"/>
                <a:cs typeface="Times New Roman" pitchFamily="18" charset="0"/>
              </a:rPr>
              <a:t>Permeate vs. Concentrate Water:</a:t>
            </a:r>
          </a:p>
          <a:p>
            <a:r>
              <a:rPr lang="en-US" sz="2000" dirty="0" smtClean="0"/>
              <a:t>In very simple terms, feed water is pumped into an RO system and two types of water come out: good water (permeate) and bad water (concentrate).</a:t>
            </a:r>
          </a:p>
          <a:p>
            <a:r>
              <a:rPr lang="en-US" sz="2000" dirty="0" smtClean="0"/>
              <a:t>The “good” water has most contaminants removed and is called permeate. Another term for permeate is product water. </a:t>
            </a:r>
            <a:endParaRPr lang="en-US" sz="2000" b="1"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quarter" idx="1"/>
          </p:nvPr>
        </p:nvPicPr>
        <p:blipFill>
          <a:blip r:embed="rId2" cstate="print"/>
          <a:srcRect/>
          <a:stretch>
            <a:fillRect/>
          </a:stretch>
        </p:blipFill>
        <p:spPr bwMode="auto">
          <a:xfrm>
            <a:off x="539552" y="332656"/>
            <a:ext cx="6611273" cy="2429214"/>
          </a:xfrm>
          <a:prstGeom prst="rect">
            <a:avLst/>
          </a:prstGeom>
          <a:noFill/>
          <a:ln w="9525">
            <a:noFill/>
            <a:miter lim="800000"/>
            <a:headEnd/>
            <a:tailEnd/>
          </a:ln>
          <a:effectLst/>
        </p:spPr>
      </p:pic>
      <p:sp>
        <p:nvSpPr>
          <p:cNvPr id="5" name="Rectangle 4"/>
          <p:cNvSpPr/>
          <p:nvPr/>
        </p:nvSpPr>
        <p:spPr>
          <a:xfrm>
            <a:off x="323528" y="2996952"/>
            <a:ext cx="8208912" cy="3170099"/>
          </a:xfrm>
          <a:prstGeom prst="rect">
            <a:avLst/>
          </a:prstGeom>
        </p:spPr>
        <p:txBody>
          <a:bodyPr wrap="square">
            <a:spAutoFit/>
          </a:bodyPr>
          <a:lstStyle/>
          <a:p>
            <a:pPr algn="just"/>
            <a:endParaRPr lang="en-US" sz="2000" dirty="0" smtClean="0">
              <a:latin typeface="Times New Roman" pitchFamily="18" charset="0"/>
              <a:cs typeface="Times New Roman" pitchFamily="18" charset="0"/>
            </a:endParaRPr>
          </a:p>
          <a:p>
            <a:pPr marL="457200" indent="-457200" algn="just">
              <a:buFont typeface="+mj-lt"/>
              <a:buAutoNum type="arabicPeriod"/>
            </a:pPr>
            <a:r>
              <a:rPr lang="en-US" sz="2000" dirty="0" smtClean="0">
                <a:latin typeface="Times New Roman" pitchFamily="18" charset="0"/>
                <a:cs typeface="Times New Roman" pitchFamily="18" charset="0"/>
              </a:rPr>
              <a:t>As the feed water enters the RO membrane under pressure (enough to overcome osmotic pressure) the water molecules pass through the semi-permeable membrane and the salts and other contaminants remain on the other side and are discharged from the system through the concentrate stream.</a:t>
            </a:r>
          </a:p>
          <a:p>
            <a:pPr marL="457200" indent="-457200" algn="just">
              <a:buFont typeface="+mj-lt"/>
              <a:buAutoNum type="arabicPeriod"/>
            </a:pPr>
            <a:r>
              <a:rPr lang="en-US" sz="2000" dirty="0" smtClean="0">
                <a:latin typeface="Times New Roman" pitchFamily="18" charset="0"/>
                <a:cs typeface="Times New Roman" pitchFamily="18" charset="0"/>
              </a:rPr>
              <a:t>The concentrate either goes to a drain or, in some circumstances, is fed back into the feed water supply and recycled through the RO system to save water. The water that makes it through the RO membrane usually has approximately 95% to 99% of dissolved salts removed.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What is Reverse Osmosis Water?</a:t>
            </a:r>
            <a:r>
              <a:rPr lang="en-US" b="1" dirty="0" smtClean="0"/>
              <a:t/>
            </a:r>
            <a:br>
              <a:rPr lang="en-US" b="1" dirty="0" smtClean="0"/>
            </a:br>
            <a:endParaRPr lang="en-US" dirty="0"/>
          </a:p>
        </p:txBody>
      </p:sp>
      <p:sp>
        <p:nvSpPr>
          <p:cNvPr id="3" name="Content Placeholder 2"/>
          <p:cNvSpPr>
            <a:spLocks noGrp="1"/>
          </p:cNvSpPr>
          <p:nvPr>
            <p:ph sz="quarter" idx="1"/>
          </p:nvPr>
        </p:nvSpPr>
        <p:spPr>
          <a:xfrm>
            <a:off x="467544" y="1196752"/>
            <a:ext cx="8229600" cy="4525963"/>
          </a:xfrm>
        </p:spPr>
        <p:txBody>
          <a:bodyPr/>
          <a:lstStyle/>
          <a:p>
            <a:pPr algn="just"/>
            <a:r>
              <a:rPr lang="en-US" sz="2000" dirty="0" smtClean="0">
                <a:latin typeface="Times New Roman" pitchFamily="18" charset="0"/>
                <a:cs typeface="Times New Roman" pitchFamily="18" charset="0"/>
              </a:rPr>
              <a:t>Reverse osmosis water is purified water that has been filtered through a </a:t>
            </a:r>
            <a:r>
              <a:rPr lang="en-US" sz="2000" dirty="0" err="1" smtClean="0">
                <a:latin typeface="Times New Roman" pitchFamily="18" charset="0"/>
                <a:cs typeface="Times New Roman" pitchFamily="18" charset="0"/>
              </a:rPr>
              <a:t>semipermeable</a:t>
            </a:r>
            <a:r>
              <a:rPr lang="en-US" sz="2000" dirty="0" smtClean="0">
                <a:latin typeface="Times New Roman" pitchFamily="18" charset="0"/>
                <a:cs typeface="Times New Roman" pitchFamily="18" charset="0"/>
              </a:rPr>
              <a:t> membrane to remove dissolved salts, impurities, and contaminants. This process effectively eliminates minerals, chemicals, and other pollutants, producing clean, high-quality water.</a:t>
            </a:r>
          </a:p>
          <a:p>
            <a:r>
              <a:rPr lang="en-US" sz="2000" dirty="0" smtClean="0">
                <a:latin typeface="Times New Roman" pitchFamily="18" charset="0"/>
                <a:cs typeface="Times New Roman" pitchFamily="18" charset="0"/>
              </a:rPr>
              <a:t>RO can remove 95-99% of dissolved salts (ions), particles, colloids, organics, bacteria, and </a:t>
            </a:r>
            <a:r>
              <a:rPr lang="en-US" sz="2000" dirty="0" err="1" smtClean="0">
                <a:latin typeface="Times New Roman" pitchFamily="18" charset="0"/>
                <a:cs typeface="Times New Roman" pitchFamily="18" charset="0"/>
              </a:rPr>
              <a:t>pyrogens</a:t>
            </a:r>
            <a:r>
              <a:rPr lang="en-US" sz="2000" dirty="0" smtClean="0">
                <a:latin typeface="Times New Roman" pitchFamily="18" charset="0"/>
                <a:cs typeface="Times New Roman" pitchFamily="18" charset="0"/>
              </a:rPr>
              <a:t> from feed water. An RO membrane rejects contaminants based on their size and charge. Any contaminant with a molecular weight greater than 200 will likely be rejected by a properly running RO system.</a:t>
            </a:r>
          </a:p>
          <a:p>
            <a:r>
              <a:rPr lang="en-US" sz="2000" dirty="0" smtClean="0">
                <a:latin typeface="Times New Roman" pitchFamily="18" charset="0"/>
                <a:cs typeface="Times New Roman" pitchFamily="18" charset="0"/>
              </a:rPr>
              <a:t>The greater the ionic charge of the contaminant, the more likely it will be unable to pass through the RO membrane. For example, a sodium ion has only one charge (</a:t>
            </a:r>
            <a:r>
              <a:rPr lang="en-US" sz="2000" dirty="0" err="1" smtClean="0">
                <a:latin typeface="Times New Roman" pitchFamily="18" charset="0"/>
                <a:cs typeface="Times New Roman" pitchFamily="18" charset="0"/>
              </a:rPr>
              <a:t>monovalent</a:t>
            </a:r>
            <a:r>
              <a:rPr lang="en-US" sz="2000" dirty="0" smtClean="0">
                <a:latin typeface="Times New Roman" pitchFamily="18" charset="0"/>
                <a:cs typeface="Times New Roman" pitchFamily="18" charset="0"/>
              </a:rPr>
              <a:t>) and is not rejected by the RO membrane as well as calcium, which has two charges.</a:t>
            </a: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sz="2000" dirty="0" smtClean="0">
                <a:latin typeface="Times New Roman" pitchFamily="18" charset="0"/>
                <a:cs typeface="Times New Roman" pitchFamily="18" charset="0"/>
              </a:rPr>
              <a:t>RO systems cannot remove dissolved gases, such as carbon dioxide (CO2), very well because they are not highly ionized (charged) while in solution and have a very low molecular weight. Because RO systems do not remove gases, permeate water can have a slightly lower than normal pH level, depending on dissolved CO2 in the feed water since CO2 is converted to carbonic acid.</a:t>
            </a:r>
          </a:p>
          <a:p>
            <a:pPr algn="just"/>
            <a:r>
              <a:rPr lang="en-US" sz="2000" dirty="0" smtClean="0">
                <a:latin typeface="Times New Roman" pitchFamily="18" charset="0"/>
                <a:cs typeface="Times New Roman" pitchFamily="18" charset="0"/>
              </a:rPr>
              <a:t>RO is very effective in treating brackish, surface and ground water for both large and small flow applications. Industries that use RO water include pharmaceutical, boiler feed water, food and beverage, metal finishing, and semiconductor manufacturing to name a few.</a:t>
            </a:r>
          </a:p>
          <a:p>
            <a:pPr algn="just"/>
            <a:endParaRPr lang="en-US"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t/>
            </a:r>
            <a:br>
              <a:rPr lang="en-US" sz="3200" b="1" dirty="0" smtClean="0"/>
            </a:br>
            <a:r>
              <a:rPr lang="en-US" sz="3200" b="1" dirty="0" smtClean="0"/>
              <a:t/>
            </a:r>
            <a:br>
              <a:rPr lang="en-US" sz="3200" b="1" dirty="0" smtClean="0"/>
            </a:br>
            <a:r>
              <a:rPr lang="en-US" sz="3200" b="1" dirty="0" smtClean="0"/>
              <a:t>RO systems performance and design calculations</a:t>
            </a:r>
            <a:r>
              <a:rPr lang="en-US" b="1" dirty="0" smtClean="0"/>
              <a:t/>
            </a:r>
            <a:br>
              <a:rPr lang="en-US" b="1" dirty="0" smtClean="0"/>
            </a:br>
            <a:endParaRPr lang="en-US" dirty="0"/>
          </a:p>
        </p:txBody>
      </p:sp>
      <p:sp>
        <p:nvSpPr>
          <p:cNvPr id="3" name="Content Placeholder 2"/>
          <p:cNvSpPr>
            <a:spLocks noGrp="1"/>
          </p:cNvSpPr>
          <p:nvPr>
            <p:ph sz="quarter" idx="1"/>
          </p:nvPr>
        </p:nvSpPr>
        <p:spPr>
          <a:xfrm>
            <a:off x="457200" y="1600200"/>
            <a:ext cx="8229600" cy="4997152"/>
          </a:xfrm>
        </p:spPr>
        <p:txBody>
          <a:bodyPr/>
          <a:lstStyle/>
          <a:p>
            <a:pPr algn="just"/>
            <a:r>
              <a:rPr lang="en-US" sz="2000" dirty="0" smtClean="0">
                <a:latin typeface="Times New Roman" pitchFamily="18" charset="0"/>
                <a:cs typeface="Times New Roman" pitchFamily="18" charset="0"/>
              </a:rPr>
              <a:t>There are a handful of calculations that are used to judge the performance of an RO system and for design considerations. An RO system has instrumentation that displays quality, flow, pressure and sometimes other data like temperature or hours of operation. To accurately measure the performance of an RO system you need the following operation parameters at a minimum:</a:t>
            </a:r>
          </a:p>
          <a:p>
            <a:r>
              <a:rPr lang="en-US" sz="2000" dirty="0" smtClean="0">
                <a:latin typeface="Times New Roman" pitchFamily="18" charset="0"/>
                <a:cs typeface="Times New Roman" pitchFamily="18" charset="0"/>
              </a:rPr>
              <a:t>Feed pressure</a:t>
            </a:r>
          </a:p>
          <a:p>
            <a:r>
              <a:rPr lang="en-US" sz="2000" dirty="0" smtClean="0">
                <a:latin typeface="Times New Roman" pitchFamily="18" charset="0"/>
                <a:cs typeface="Times New Roman" pitchFamily="18" charset="0"/>
              </a:rPr>
              <a:t>Permeate pressure</a:t>
            </a:r>
          </a:p>
          <a:p>
            <a:r>
              <a:rPr lang="en-US" sz="2000" dirty="0" smtClean="0">
                <a:latin typeface="Times New Roman" pitchFamily="18" charset="0"/>
                <a:cs typeface="Times New Roman" pitchFamily="18" charset="0"/>
              </a:rPr>
              <a:t>Concentrate pressure</a:t>
            </a:r>
          </a:p>
          <a:p>
            <a:r>
              <a:rPr lang="en-US" sz="2000" dirty="0" smtClean="0">
                <a:latin typeface="Times New Roman" pitchFamily="18" charset="0"/>
                <a:cs typeface="Times New Roman" pitchFamily="18" charset="0"/>
              </a:rPr>
              <a:t>Feed conductivity</a:t>
            </a:r>
          </a:p>
          <a:p>
            <a:r>
              <a:rPr lang="en-US" sz="2000" dirty="0" smtClean="0">
                <a:latin typeface="Times New Roman" pitchFamily="18" charset="0"/>
                <a:cs typeface="Times New Roman" pitchFamily="18" charset="0"/>
              </a:rPr>
              <a:t>Permeate conductivity</a:t>
            </a:r>
          </a:p>
          <a:p>
            <a:r>
              <a:rPr lang="en-US" sz="2000" dirty="0" smtClean="0">
                <a:latin typeface="Times New Roman" pitchFamily="18" charset="0"/>
                <a:cs typeface="Times New Roman" pitchFamily="18" charset="0"/>
              </a:rPr>
              <a:t>Concentrate flow</a:t>
            </a:r>
          </a:p>
          <a:p>
            <a:r>
              <a:rPr lang="en-US" sz="2000" dirty="0" smtClean="0">
                <a:latin typeface="Times New Roman" pitchFamily="18" charset="0"/>
                <a:cs typeface="Times New Roman" pitchFamily="18" charset="0"/>
              </a:rPr>
              <a:t>Permeate flow</a:t>
            </a:r>
          </a:p>
          <a:p>
            <a:r>
              <a:rPr lang="en-US" sz="2000" dirty="0" smtClean="0">
                <a:latin typeface="Times New Roman" pitchFamily="18" charset="0"/>
                <a:cs typeface="Times New Roman" pitchFamily="18" charset="0"/>
              </a:rPr>
              <a:t>Temperature</a:t>
            </a: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67544" y="836712"/>
            <a:ext cx="8229600" cy="4896544"/>
          </a:xfrm>
        </p:spPr>
        <p:txBody>
          <a:bodyPr/>
          <a:lstStyle/>
          <a:p>
            <a:r>
              <a:rPr lang="en-US" b="1" dirty="0" smtClean="0"/>
              <a:t>Salt Rejection %</a:t>
            </a:r>
          </a:p>
          <a:p>
            <a:pPr algn="just"/>
            <a:r>
              <a:rPr lang="en-US" sz="2000" dirty="0" smtClean="0">
                <a:latin typeface="Times New Roman" pitchFamily="18" charset="0"/>
                <a:cs typeface="Times New Roman" pitchFamily="18" charset="0"/>
              </a:rPr>
              <a:t>This equation tells you how effectively the RO membranes are removing contaminants. It does not tell you how each individual membrane is performing. However, it will tell you how the system overall is performing on average.</a:t>
            </a:r>
          </a:p>
          <a:p>
            <a:pPr algn="just"/>
            <a:r>
              <a:rPr lang="en-US" sz="2000" dirty="0" smtClean="0">
                <a:latin typeface="Times New Roman" pitchFamily="18" charset="0"/>
                <a:cs typeface="Times New Roman" pitchFamily="18" charset="0"/>
              </a:rPr>
              <a:t>A well-designed RO system with properly functioning RO membranes will reject 95% to 99% of most feed water contaminants (of a certain size and charge).</a:t>
            </a:r>
          </a:p>
          <a:p>
            <a:pPr algn="just"/>
            <a:r>
              <a:rPr lang="en-US" sz="2000" dirty="0" smtClean="0">
                <a:latin typeface="Times New Roman" pitchFamily="18" charset="0"/>
                <a:cs typeface="Times New Roman" pitchFamily="18" charset="0"/>
              </a:rPr>
              <a:t>The following equation can be used to determine how effective the RO membranes are at removing contaminants:</a:t>
            </a:r>
          </a:p>
          <a:p>
            <a:pPr algn="just">
              <a:buNone/>
            </a:pPr>
            <a:r>
              <a:rPr lang="en-US" sz="2000" b="1" dirty="0" smtClean="0">
                <a:latin typeface="Times New Roman" pitchFamily="18" charset="0"/>
                <a:cs typeface="Times New Roman" pitchFamily="18" charset="0"/>
              </a:rPr>
              <a:t>     Salt Rejection % = ((Feed water conductivity – Permeate water conductivity) / Feed water conductivity) x 100</a:t>
            </a: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3528" y="692696"/>
            <a:ext cx="8229600" cy="4525963"/>
          </a:xfrm>
        </p:spPr>
        <p:txBody>
          <a:bodyPr>
            <a:normAutofit fontScale="92500" lnSpcReduction="20000"/>
          </a:bodyPr>
          <a:lstStyle/>
          <a:p>
            <a:pPr>
              <a:buNone/>
            </a:pPr>
            <a:r>
              <a:rPr lang="en-US" b="1" dirty="0" smtClean="0"/>
              <a:t>Salt Passage %</a:t>
            </a:r>
          </a:p>
          <a:p>
            <a:r>
              <a:rPr lang="en-US" sz="2000" dirty="0" smtClean="0"/>
              <a:t>This is simply the inverse of salt rejection described in the previous equation. This is the amount of salts, expressed as a percentage, passing through the RO system.</a:t>
            </a:r>
          </a:p>
          <a:p>
            <a:r>
              <a:rPr lang="en-US" sz="2000" dirty="0" smtClean="0"/>
              <a:t>The lower the salt passage, the better the system is performing. A high salt passage can mean the membranes require cleaning or replacement.</a:t>
            </a:r>
          </a:p>
          <a:p>
            <a:r>
              <a:rPr lang="en-US" sz="2000" dirty="0" smtClean="0"/>
              <a:t>Salt Passage % = (1 – Salt Rejection %) x 100</a:t>
            </a:r>
          </a:p>
          <a:p>
            <a:r>
              <a:rPr lang="en-US" sz="2000" b="1" dirty="0" smtClean="0"/>
              <a:t>Recovery %</a:t>
            </a:r>
          </a:p>
          <a:p>
            <a:r>
              <a:rPr lang="en-US" sz="2000" dirty="0" smtClean="0"/>
              <a:t>Recovery is the amount of feed water emerging from the system as good, permeate water.</a:t>
            </a:r>
          </a:p>
          <a:p>
            <a:r>
              <a:rPr lang="en-US" sz="2000" dirty="0" smtClean="0"/>
              <a:t>Another way to think about recovery is as the amount of water collected as permeate or product water instead of being sent to drain as concentrate. Higher recovery percents mean you are sending less water to drain as concentrate and saving more permeate water. However, if recovery percents are too high for the RO design, it can lead to larger problems from membrane scaling and fouling.</a:t>
            </a:r>
          </a:p>
          <a:p>
            <a:endParaRPr lang="en-US" sz="2000" dirty="0" smtClean="0"/>
          </a:p>
          <a:p>
            <a:pPr>
              <a:buNone/>
            </a:pPr>
            <a:endParaRPr 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67544" y="548680"/>
            <a:ext cx="8229600" cy="5544616"/>
          </a:xfrm>
        </p:spPr>
        <p:txBody>
          <a:bodyPr/>
          <a:lstStyle/>
          <a:p>
            <a:pPr algn="just"/>
            <a:r>
              <a:rPr lang="en-US" sz="2000" dirty="0" smtClean="0">
                <a:latin typeface="Times New Roman" pitchFamily="18" charset="0"/>
                <a:cs typeface="Times New Roman" pitchFamily="18" charset="0"/>
              </a:rPr>
              <a:t>Design software establishes RO system recovery rates by considering numerous factors such as feed water chemistry and pre-treatment before the RO system. Therefore, proper RO system recovery depends on the design. Calculating the recovery facilitates rapid determination that the system is operating outside of the intended design.</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calculation below expresses the recovery rate as a percentage.</a:t>
            </a:r>
          </a:p>
          <a:p>
            <a:pPr algn="just"/>
            <a:endParaRPr lang="en-US" sz="2000" dirty="0" smtClean="0">
              <a:latin typeface="Times New Roman" pitchFamily="18" charset="0"/>
              <a:cs typeface="Times New Roman" pitchFamily="18" charset="0"/>
            </a:endParaRPr>
          </a:p>
          <a:p>
            <a:pPr algn="just">
              <a:buNone/>
            </a:pPr>
            <a:r>
              <a:rPr lang="en-US" sz="2000" b="1" dirty="0" smtClean="0">
                <a:latin typeface="Times New Roman" pitchFamily="18" charset="0"/>
                <a:cs typeface="Times New Roman" pitchFamily="18" charset="0"/>
              </a:rPr>
              <a:t>% Recovery= (Permeate Flow Rate </a:t>
            </a:r>
            <a:r>
              <a:rPr lang="en-US" sz="2000" b="1" dirty="0" err="1" smtClean="0">
                <a:latin typeface="Times New Roman" pitchFamily="18" charset="0"/>
                <a:cs typeface="Times New Roman" pitchFamily="18" charset="0"/>
              </a:rPr>
              <a:t>gpm</a:t>
            </a:r>
            <a:r>
              <a:rPr lang="en-US" sz="2000" b="1" dirty="0" smtClean="0">
                <a:latin typeface="Times New Roman" pitchFamily="18" charset="0"/>
                <a:cs typeface="Times New Roman" pitchFamily="18" charset="0"/>
              </a:rPr>
              <a:t> / (Permeate Flow Rate </a:t>
            </a:r>
            <a:r>
              <a:rPr lang="en-US" sz="2000" b="1" dirty="0" err="1" smtClean="0">
                <a:latin typeface="Times New Roman" pitchFamily="18" charset="0"/>
                <a:cs typeface="Times New Roman" pitchFamily="18" charset="0"/>
              </a:rPr>
              <a:t>gpm</a:t>
            </a:r>
            <a:r>
              <a:rPr lang="en-US" sz="2000" b="1" dirty="0" smtClean="0">
                <a:latin typeface="Times New Roman" pitchFamily="18" charset="0"/>
                <a:cs typeface="Times New Roman" pitchFamily="18" charset="0"/>
              </a:rPr>
              <a:t> + Concentrate Flow Rate </a:t>
            </a:r>
            <a:r>
              <a:rPr lang="en-US" sz="2000" b="1" dirty="0" err="1" smtClean="0">
                <a:latin typeface="Times New Roman" pitchFamily="18" charset="0"/>
                <a:cs typeface="Times New Roman" pitchFamily="18" charset="0"/>
              </a:rPr>
              <a:t>gpm</a:t>
            </a:r>
            <a:r>
              <a:rPr lang="en-US" sz="2000" b="1" dirty="0" smtClean="0">
                <a:latin typeface="Times New Roman" pitchFamily="18" charset="0"/>
                <a:cs typeface="Times New Roman" pitchFamily="18" charset="0"/>
              </a:rPr>
              <a:t>)) x 100</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For example, if the recovery rate is 80% then for every 100 gallons of feed water entering the RO system, you are recovering 80 gallons as usable permeate water while 20 gallons go to the drain as concentrate. </a:t>
            </a:r>
          </a:p>
          <a:p>
            <a:pPr algn="just">
              <a:buNone/>
            </a:pPr>
            <a:r>
              <a:rPr lang="en-US" sz="2000" b="1" dirty="0" smtClean="0">
                <a:latin typeface="Times New Roman" pitchFamily="18" charset="0"/>
                <a:cs typeface="Times New Roman" pitchFamily="18" charset="0"/>
                <a:hlinkClick r:id="rId2"/>
              </a:rPr>
              <a:t>Commercial RO systems</a:t>
            </a:r>
            <a:r>
              <a:rPr lang="en-US" sz="2000" dirty="0" smtClean="0">
                <a:latin typeface="Times New Roman" pitchFamily="18" charset="0"/>
                <a:cs typeface="Times New Roman" pitchFamily="18" charset="0"/>
              </a:rPr>
              <a:t> typically run between 50% to 85% recovery depending on feed water characteristics and other design considerations.</a:t>
            </a:r>
          </a:p>
          <a:p>
            <a:pPr algn="just"/>
            <a:endParaRPr lang="en-US" sz="2000" dirty="0" smtClean="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Concentration Factor</a:t>
            </a:r>
            <a:br>
              <a:rPr lang="en-US" b="1" dirty="0" smtClean="0"/>
            </a:br>
            <a:endParaRPr lang="en-US" dirty="0"/>
          </a:p>
        </p:txBody>
      </p:sp>
      <p:sp>
        <p:nvSpPr>
          <p:cNvPr id="3" name="Content Placeholder 2"/>
          <p:cNvSpPr>
            <a:spLocks noGrp="1"/>
          </p:cNvSpPr>
          <p:nvPr>
            <p:ph sz="quarter" idx="1"/>
          </p:nvPr>
        </p:nvSpPr>
        <p:spPr/>
        <p:txBody>
          <a:bodyPr>
            <a:normAutofit lnSpcReduction="10000"/>
          </a:bodyPr>
          <a:lstStyle/>
          <a:p>
            <a:pPr algn="just"/>
            <a:r>
              <a:rPr lang="en-US" sz="2000" dirty="0" smtClean="0">
                <a:latin typeface="Times New Roman" pitchFamily="18" charset="0"/>
                <a:cs typeface="Times New Roman" pitchFamily="18" charset="0"/>
              </a:rPr>
              <a:t>The concentration factor is related to RO system recovery and is important for RO system design. The more water you recover as permeate (higher recovery %), the more concentrated salts and contaminants you collect in the concentrate stream. When the concentration factor is too high for the system design and feed water composition, the system may experience increased scaling on RO membrane surfaces.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Concentration Factor = (1 / (1 – Recovery %)</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 concept is no different than that of a boiler or cooling tower with purified water exiting the system as steam leaving a concentrated solution behind. As the concentration increases, solubility limits may be exceeded and precipitate on equipment surfaces as scale.</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67544" y="692696"/>
            <a:ext cx="8229600" cy="4525963"/>
          </a:xfrm>
        </p:spPr>
        <p:txBody>
          <a:bodyPr>
            <a:normAutofit fontScale="92500" lnSpcReduction="20000"/>
          </a:bodyPr>
          <a:lstStyle/>
          <a:p>
            <a:r>
              <a:rPr lang="en-US" sz="2000" dirty="0" smtClean="0">
                <a:latin typeface="Times New Roman" pitchFamily="18" charset="0"/>
                <a:cs typeface="Times New Roman" pitchFamily="18" charset="0"/>
              </a:rPr>
              <a:t>For example, if your feed flow is 100 </a:t>
            </a:r>
            <a:r>
              <a:rPr lang="en-US" sz="2000" dirty="0" err="1" smtClean="0">
                <a:latin typeface="Times New Roman" pitchFamily="18" charset="0"/>
                <a:cs typeface="Times New Roman" pitchFamily="18" charset="0"/>
              </a:rPr>
              <a:t>gpm</a:t>
            </a:r>
            <a:r>
              <a:rPr lang="en-US" sz="2000" dirty="0" smtClean="0">
                <a:latin typeface="Times New Roman" pitchFamily="18" charset="0"/>
                <a:cs typeface="Times New Roman" pitchFamily="18" charset="0"/>
              </a:rPr>
              <a:t> and the permeate flow is 80 </a:t>
            </a:r>
            <a:r>
              <a:rPr lang="en-US" sz="2000" dirty="0" err="1" smtClean="0">
                <a:latin typeface="Times New Roman" pitchFamily="18" charset="0"/>
                <a:cs typeface="Times New Roman" pitchFamily="18" charset="0"/>
              </a:rPr>
              <a:t>gpm</a:t>
            </a:r>
            <a:r>
              <a:rPr lang="en-US" sz="2000" dirty="0" smtClean="0">
                <a:latin typeface="Times New Roman" pitchFamily="18" charset="0"/>
                <a:cs typeface="Times New Roman" pitchFamily="18" charset="0"/>
              </a:rPr>
              <a:t>, then the recovery is (80/100) x 100 = 80%.</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To find the concentration factor, the formula would be 1 ÷ (1 – 80%) = 5.</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A concentration factor of 5 means the water going to the concentrate stream will be 5 times more concentrated than the feed water. If the feed water in this example was 500 </a:t>
            </a:r>
            <a:r>
              <a:rPr lang="en-US" sz="2000" dirty="0" err="1" smtClean="0">
                <a:latin typeface="Times New Roman" pitchFamily="18" charset="0"/>
                <a:cs typeface="Times New Roman" pitchFamily="18" charset="0"/>
              </a:rPr>
              <a:t>ppm</a:t>
            </a:r>
            <a:r>
              <a:rPr lang="en-US" sz="2000" dirty="0" smtClean="0">
                <a:latin typeface="Times New Roman" pitchFamily="18" charset="0"/>
                <a:cs typeface="Times New Roman" pitchFamily="18" charset="0"/>
              </a:rPr>
              <a:t>, then the concentrate stream would be 500 x 5 = 2,500 </a:t>
            </a:r>
            <a:r>
              <a:rPr lang="en-US" sz="2000" dirty="0" err="1" smtClean="0">
                <a:latin typeface="Times New Roman" pitchFamily="18" charset="0"/>
                <a:cs typeface="Times New Roman" pitchFamily="18" charset="0"/>
              </a:rPr>
              <a:t>ppm</a:t>
            </a:r>
            <a:r>
              <a:rPr lang="en-US" sz="2000" dirty="0" smtClean="0">
                <a:latin typeface="Times New Roman" pitchFamily="18" charset="0"/>
                <a:cs typeface="Times New Roman" pitchFamily="18" charset="0"/>
              </a:rPr>
              <a:t>.</a:t>
            </a:r>
          </a:p>
          <a:p>
            <a:pPr>
              <a:buNone/>
            </a:pPr>
            <a:r>
              <a:rPr lang="en-US" sz="2000" b="1" dirty="0" smtClean="0"/>
              <a:t>Flux Rate</a:t>
            </a:r>
          </a:p>
          <a:p>
            <a:r>
              <a:rPr lang="en-US" sz="2000" dirty="0" smtClean="0"/>
              <a:t>Flux expresses the amount of water passing (permeating) through a reverse osmosis membrane during a given time, measured as gallons per square foot per day (GFD) or liters per square meter per hour (l/m²/hr).</a:t>
            </a:r>
          </a:p>
          <a:p>
            <a:r>
              <a:rPr lang="en-US" sz="2000" dirty="0" smtClean="0"/>
              <a:t>A higher flux means more water is permeating through the RO membrane.</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95536" y="548680"/>
            <a:ext cx="8229600" cy="4525963"/>
          </a:xfrm>
        </p:spPr>
        <p:txBody>
          <a:bodyPr/>
          <a:lstStyle/>
          <a:p>
            <a:r>
              <a:rPr lang="en-US" sz="2000" dirty="0" smtClean="0">
                <a:latin typeface="Times New Roman" pitchFamily="18" charset="0"/>
                <a:cs typeface="Times New Roman" pitchFamily="18" charset="0"/>
              </a:rPr>
              <a:t>Designers establish RO systems to operate within a specific flux range to ensure that the water flowing through the RO membrane is neither too fast nor too slow.</a:t>
            </a:r>
          </a:p>
          <a:p>
            <a:r>
              <a:rPr lang="en-US" sz="2000" dirty="0" smtClean="0">
                <a:latin typeface="Times New Roman" pitchFamily="18" charset="0"/>
                <a:cs typeface="Times New Roman" pitchFamily="18" charset="0"/>
              </a:rPr>
              <a:t>Flux </a:t>
            </a:r>
            <a:r>
              <a:rPr lang="en-US" sz="2000" dirty="0" err="1" smtClean="0">
                <a:latin typeface="Times New Roman" pitchFamily="18" charset="0"/>
                <a:cs typeface="Times New Roman" pitchFamily="18" charset="0"/>
              </a:rPr>
              <a:t>Gfd</a:t>
            </a:r>
            <a:r>
              <a:rPr lang="en-US" sz="2000" dirty="0" smtClean="0">
                <a:latin typeface="Times New Roman" pitchFamily="18" charset="0"/>
                <a:cs typeface="Times New Roman" pitchFamily="18" charset="0"/>
              </a:rPr>
              <a:t> =  (Permeate flow </a:t>
            </a:r>
            <a:r>
              <a:rPr lang="en-US" sz="2000" dirty="0" err="1" smtClean="0">
                <a:latin typeface="Times New Roman" pitchFamily="18" charset="0"/>
                <a:cs typeface="Times New Roman" pitchFamily="18" charset="0"/>
              </a:rPr>
              <a:t>gpm</a:t>
            </a:r>
            <a:r>
              <a:rPr lang="en-US" sz="2000" dirty="0" smtClean="0">
                <a:latin typeface="Times New Roman" pitchFamily="18" charset="0"/>
                <a:cs typeface="Times New Roman" pitchFamily="18" charset="0"/>
              </a:rPr>
              <a:t> * 1,440) / (# of RO elements in system * square footage of each RO element)     </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For example, you have the following: The RO system is producing 80 </a:t>
            </a:r>
            <a:r>
              <a:rPr lang="en-US" sz="2000" dirty="0" err="1" smtClean="0">
                <a:latin typeface="Times New Roman" pitchFamily="18" charset="0"/>
                <a:cs typeface="Times New Roman" pitchFamily="18" charset="0"/>
              </a:rPr>
              <a:t>gpm</a:t>
            </a:r>
            <a:r>
              <a:rPr lang="en-US" sz="2000" dirty="0" smtClean="0">
                <a:latin typeface="Times New Roman" pitchFamily="18" charset="0"/>
                <a:cs typeface="Times New Roman" pitchFamily="18" charset="0"/>
              </a:rPr>
              <a:t> of permeate.(Gallons Per Minute)</a:t>
            </a: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 system has 3 RO vessels each holding 6 RO membranes for a total of 3 x 6 = 18 membranes.</a:t>
            </a:r>
          </a:p>
          <a:p>
            <a:pPr>
              <a:buNone/>
            </a:pPr>
            <a:r>
              <a:rPr lang="en-US" sz="2000" dirty="0" smtClean="0">
                <a:latin typeface="Times New Roman" pitchFamily="18" charset="0"/>
                <a:cs typeface="Times New Roman" pitchFamily="18" charset="0"/>
              </a:rPr>
              <a:t>The RO system membranes are Toray TMG20D-400 which has 400 square feet of surface area per membrane.</a:t>
            </a:r>
          </a:p>
          <a:p>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smtClean="0"/>
              <a:t>Understanding the difference between passes and stages in a Reverse Osmosis (RO) system</a:t>
            </a:r>
            <a:endParaRPr lang="en-US" sz="2800" b="1" dirty="0"/>
          </a:p>
        </p:txBody>
      </p:sp>
      <p:sp>
        <p:nvSpPr>
          <p:cNvPr id="3" name="Content Placeholder 2"/>
          <p:cNvSpPr>
            <a:spLocks noGrp="1"/>
          </p:cNvSpPr>
          <p:nvPr>
            <p:ph sz="quarter" idx="1"/>
          </p:nvPr>
        </p:nvSpPr>
        <p:spPr/>
        <p:txBody>
          <a:bodyPr/>
          <a:lstStyle/>
          <a:p>
            <a:pPr algn="just"/>
            <a:r>
              <a:rPr lang="en-US" sz="2000" dirty="0" smtClean="0">
                <a:latin typeface="Times New Roman" pitchFamily="18" charset="0"/>
                <a:cs typeface="Times New Roman" pitchFamily="18" charset="0"/>
              </a:rPr>
              <a:t>The term ‘stage’ and ‘pass’ are often mistaken for the same thing in an RO system, and the terminology can be confusing for an RO operator. It is important to understand the difference between a one- and two-stage RO and a one- and two-pass RO.</a:t>
            </a:r>
          </a:p>
          <a:p>
            <a:pPr algn="just"/>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1 stage </a:t>
            </a:r>
            <a:r>
              <a:rPr lang="en-US" sz="2000" b="1" dirty="0" err="1" smtClean="0">
                <a:latin typeface="Times New Roman" pitchFamily="18" charset="0"/>
                <a:cs typeface="Times New Roman" pitchFamily="18" charset="0"/>
              </a:rPr>
              <a:t>vs</a:t>
            </a:r>
            <a:r>
              <a:rPr lang="en-US" sz="2000" b="1" dirty="0" smtClean="0">
                <a:latin typeface="Times New Roman" pitchFamily="18" charset="0"/>
                <a:cs typeface="Times New Roman" pitchFamily="18" charset="0"/>
              </a:rPr>
              <a:t> 2 stage Reverse Osmosis (RO) system</a:t>
            </a:r>
          </a:p>
          <a:p>
            <a:r>
              <a:rPr lang="en-US" sz="2000" dirty="0" smtClean="0">
                <a:latin typeface="Times New Roman" pitchFamily="18" charset="0"/>
                <a:cs typeface="Times New Roman" pitchFamily="18" charset="0"/>
              </a:rPr>
              <a:t>In a one-stage RO system, the feed water enters as one stream and exits the RO as either concentrate or permeate water.</a:t>
            </a:r>
          </a:p>
          <a:p>
            <a:r>
              <a:rPr lang="en-US" sz="2000" dirty="0" smtClean="0">
                <a:latin typeface="Times New Roman" pitchFamily="18" charset="0"/>
                <a:cs typeface="Times New Roman" pitchFamily="18" charset="0"/>
              </a:rPr>
              <a:t>In a two-stage system, the concentrate (or reject) from the first stage then becomes feed water for the second stage. </a:t>
            </a: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914400"/>
            <a:ext cx="7467600" cy="4873752"/>
          </a:xfrm>
        </p:spPr>
        <p:txBody>
          <a:bodyPr/>
          <a:lstStyle/>
          <a:p>
            <a:r>
              <a:rPr lang="en-US" dirty="0" smtClean="0">
                <a:latin typeface="Times New Roman" pitchFamily="18" charset="0"/>
                <a:cs typeface="Times New Roman" pitchFamily="18" charset="0"/>
              </a:rPr>
              <a:t>The permeate water collected from the first stage is combined with permeate water from the second stage. Additional stages increase the RO system’s recovery.</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endParaRPr lang="en-US" dirty="0"/>
          </a:p>
        </p:txBody>
      </p:sp>
      <p:sp>
        <p:nvSpPr>
          <p:cNvPr id="3" name="Content Placeholder 2"/>
          <p:cNvSpPr>
            <a:spLocks noGrp="1"/>
          </p:cNvSpPr>
          <p:nvPr>
            <p:ph sz="quarter" idx="1"/>
          </p:nvPr>
        </p:nvSpPr>
        <p:spPr>
          <a:xfrm>
            <a:off x="381000" y="762000"/>
            <a:ext cx="8153400" cy="4873752"/>
          </a:xfrm>
        </p:spPr>
        <p:txBody>
          <a:bodyPr/>
          <a:lstStyle/>
          <a:p>
            <a:r>
              <a:rPr lang="en-US" dirty="0" smtClean="0"/>
              <a:t>References </a:t>
            </a:r>
          </a:p>
          <a:p>
            <a:endParaRPr lang="en-US" dirty="0"/>
          </a:p>
        </p:txBody>
      </p:sp>
      <p:sp>
        <p:nvSpPr>
          <p:cNvPr id="4" name="TextBox 3"/>
          <p:cNvSpPr txBox="1"/>
          <p:nvPr/>
        </p:nvSpPr>
        <p:spPr>
          <a:xfrm>
            <a:off x="228601" y="1676400"/>
            <a:ext cx="8382000" cy="1600438"/>
          </a:xfrm>
          <a:prstGeom prst="rect">
            <a:avLst/>
          </a:prstGeom>
          <a:noFill/>
        </p:spPr>
        <p:txBody>
          <a:bodyPr wrap="square" rtlCol="0">
            <a:spAutoFit/>
          </a:bodyPr>
          <a:lstStyle/>
          <a:p>
            <a:pPr>
              <a:buFont typeface="Arial" pitchFamily="34" charset="0"/>
              <a:buChar char="•"/>
            </a:pPr>
            <a:r>
              <a:rPr lang="en-US" sz="1600" dirty="0" smtClean="0"/>
              <a:t>  https://puretecwater.com/resources/the-basics-of-reverseosmosis/#understandosmosis </a:t>
            </a:r>
          </a:p>
          <a:p>
            <a:pPr>
              <a:buFont typeface="Arial" pitchFamily="34" charset="0"/>
              <a:buChar char="•"/>
            </a:pPr>
            <a:endParaRPr lang="en-US" sz="1600" dirty="0" smtClean="0"/>
          </a:p>
          <a:p>
            <a:pPr>
              <a:buFont typeface="Arial" pitchFamily="34" charset="0"/>
              <a:buChar char="•"/>
            </a:pPr>
            <a:endParaRPr lang="en-US" sz="1600" dirty="0" smtClean="0"/>
          </a:p>
          <a:p>
            <a:pPr>
              <a:buFont typeface="Arial" pitchFamily="34" charset="0"/>
              <a:buChar char="•"/>
            </a:pPr>
            <a:endParaRPr lang="en-US" sz="1600" dirty="0" smtClean="0"/>
          </a:p>
          <a:p>
            <a:pPr>
              <a:buFont typeface="Arial" pitchFamily="34" charset="0"/>
              <a:buChar char="•"/>
            </a:pPr>
            <a:r>
              <a:rPr lang="en-US" sz="1600" dirty="0" smtClean="0"/>
              <a:t>                  </a:t>
            </a:r>
          </a:p>
          <a:p>
            <a:pPr>
              <a:buFont typeface="Arial" pitchFamily="34" charset="0"/>
              <a:buChar char="•"/>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990600"/>
            <a:ext cx="8229600" cy="4873752"/>
          </a:xfrm>
        </p:spPr>
        <p:txBody>
          <a:bodyPr/>
          <a:lstStyle/>
          <a:p>
            <a:pPr algn="just"/>
            <a:r>
              <a:rPr lang="en-US" dirty="0" smtClean="0"/>
              <a:t>Reverse osmosis is the most widely used desalination technology, accounting for a significant portion of the world's desalinated water production. It involves the use of a semi permeable membrane that allows water molecules to pass through while rejecting dissolved salts and other impurities.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467600" cy="1143000"/>
          </a:xfrm>
        </p:spPr>
        <p:txBody>
          <a:bodyPr>
            <a:normAutofit fontScale="90000"/>
          </a:bodyPr>
          <a:lstStyle/>
          <a:p>
            <a:pPr algn="ct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Advantages of Reverse Osmosis Systems</a:t>
            </a:r>
            <a:br>
              <a:rPr lang="en-US" b="1" dirty="0" smtClean="0"/>
            </a:br>
            <a:endParaRPr lang="en-US" dirty="0"/>
          </a:p>
        </p:txBody>
      </p:sp>
      <p:sp>
        <p:nvSpPr>
          <p:cNvPr id="3" name="Content Placeholder 2"/>
          <p:cNvSpPr>
            <a:spLocks noGrp="1"/>
          </p:cNvSpPr>
          <p:nvPr>
            <p:ph sz="quarter" idx="1"/>
          </p:nvPr>
        </p:nvSpPr>
        <p:spPr>
          <a:xfrm>
            <a:off x="533400" y="1219200"/>
            <a:ext cx="7924800" cy="4873752"/>
          </a:xfrm>
        </p:spPr>
        <p:txBody>
          <a:bodyPr>
            <a:normAutofit/>
          </a:bodyPr>
          <a:lstStyle/>
          <a:p>
            <a:pPr algn="just"/>
            <a:r>
              <a:rPr lang="en-US" dirty="0" smtClean="0"/>
              <a:t>Reverse osmosis filtration systems are among the most efficient methods for removing contaminants from water. They can effectively eliminate: Heavy metals such as lead, mercury, and arsenic.</a:t>
            </a:r>
          </a:p>
          <a:p>
            <a:pPr algn="just"/>
            <a:r>
              <a:rPr lang="en-US" dirty="0" smtClean="0"/>
              <a:t>Dissolved solids including salts from water and nitrates. Microorganisms such as bacteria, viruses, and </a:t>
            </a:r>
            <a:r>
              <a:rPr lang="en-US" dirty="0" err="1" smtClean="0"/>
              <a:t>parasites.Chemical</a:t>
            </a:r>
            <a:r>
              <a:rPr lang="en-US" dirty="0" smtClean="0"/>
              <a:t> impurities including fluoride, chlorine, and pesticides.</a:t>
            </a:r>
          </a:p>
          <a:p>
            <a:pPr algn="just"/>
            <a:r>
              <a:rPr lang="en-US" dirty="0" smtClean="0"/>
              <a:t>This ensures access to high-quality water that is entirely safe and free from harmful substances.</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8153400" cy="5257800"/>
          </a:xfrm>
        </p:spPr>
        <p:txBody>
          <a:bodyPr/>
          <a:lstStyle/>
          <a:p>
            <a:r>
              <a:rPr lang="en-US" b="1" dirty="0" smtClean="0"/>
              <a:t> Improves Taste &amp; </a:t>
            </a:r>
            <a:r>
              <a:rPr lang="en-US" b="1" dirty="0" err="1" smtClean="0"/>
              <a:t>Odour</a:t>
            </a:r>
            <a:endParaRPr lang="en-US" b="1" dirty="0" smtClean="0"/>
          </a:p>
          <a:p>
            <a:endParaRPr lang="en-US" b="1" dirty="0" smtClean="0"/>
          </a:p>
          <a:p>
            <a:pPr algn="just"/>
            <a:r>
              <a:rPr lang="en-US" dirty="0" smtClean="0"/>
              <a:t>By removing contaminants, reverse osmosis water filtration systems improve the taste and </a:t>
            </a:r>
            <a:r>
              <a:rPr lang="en-US" dirty="0" err="1" smtClean="0"/>
              <a:t>odour</a:t>
            </a:r>
            <a:r>
              <a:rPr lang="en-US" dirty="0" smtClean="0"/>
              <a:t> of drinking water. Many people find that purified water tastes fresher and cleaner than untreated tap water. In most cases, untreated tap water can contain chlorine and other impurities.</a:t>
            </a:r>
          </a:p>
          <a:p>
            <a:endParaRPr lang="en-US" dirty="0"/>
          </a:p>
        </p:txBody>
      </p:sp>
      <p:sp>
        <p:nvSpPr>
          <p:cNvPr id="4" name="Rectangle 3"/>
          <p:cNvSpPr/>
          <p:nvPr/>
        </p:nvSpPr>
        <p:spPr>
          <a:xfrm>
            <a:off x="457200" y="3810000"/>
            <a:ext cx="8001000" cy="1600438"/>
          </a:xfrm>
          <a:prstGeom prst="rect">
            <a:avLst/>
          </a:prstGeom>
        </p:spPr>
        <p:txBody>
          <a:bodyPr wrap="square">
            <a:spAutoFit/>
          </a:bodyPr>
          <a:lstStyle/>
          <a:p>
            <a:pPr algn="just"/>
            <a:r>
              <a:rPr lang="en-US" b="1" dirty="0" smtClean="0"/>
              <a:t>Reduces Sodium &amp; Hard Water Issues</a:t>
            </a:r>
          </a:p>
          <a:p>
            <a:pPr algn="just"/>
            <a:r>
              <a:rPr lang="en-US" sz="2000" dirty="0" smtClean="0"/>
              <a:t>RO systems are highly effective at reducing sodium and minerals from water. This makes them ideal for areas with hard water problems. This improves the efficiency of household appliances and extends their lifespan.</a:t>
            </a:r>
            <a:endParaRPr 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533400"/>
            <a:ext cx="8001000" cy="5257800"/>
          </a:xfrm>
        </p:spPr>
        <p:txBody>
          <a:bodyPr>
            <a:normAutofit fontScale="92500" lnSpcReduction="20000"/>
          </a:bodyPr>
          <a:lstStyle/>
          <a:p>
            <a:pPr>
              <a:buNone/>
            </a:pPr>
            <a:r>
              <a:rPr lang="en-US" b="1" dirty="0" smtClean="0"/>
              <a:t>Energy Efficient Compared to Distillation</a:t>
            </a:r>
          </a:p>
          <a:p>
            <a:pPr algn="just"/>
            <a:r>
              <a:rPr lang="en-US" dirty="0" smtClean="0"/>
              <a:t>Reverse osmosis is more energy-efficient than traditional distillation methods. While it does require energy to generate pressure for filtration, the overall energy consumption is lower compared to other water purification processes.</a:t>
            </a:r>
          </a:p>
          <a:p>
            <a:pPr>
              <a:buNone/>
            </a:pPr>
            <a:r>
              <a:rPr lang="en-US" b="1" dirty="0" smtClean="0"/>
              <a:t>Versatility and Wide Applications</a:t>
            </a:r>
          </a:p>
          <a:p>
            <a:r>
              <a:rPr lang="en-US" dirty="0" smtClean="0"/>
              <a:t>RO technology is used in various applications, including:</a:t>
            </a:r>
          </a:p>
          <a:p>
            <a:r>
              <a:rPr lang="en-US" dirty="0" smtClean="0"/>
              <a:t>Residential Water Filtration: Providing safe drinking water for households.</a:t>
            </a:r>
          </a:p>
          <a:p>
            <a:r>
              <a:rPr lang="en-US" dirty="0" smtClean="0"/>
              <a:t>Industrial Water Purification: Used in food processing, pharmaceuticals, and manufacturing industries.</a:t>
            </a:r>
          </a:p>
          <a:p>
            <a:r>
              <a:rPr lang="en-US" dirty="0" smtClean="0"/>
              <a:t>Desalination of Seawater: Converting brackish water and seawater into potable water.</a:t>
            </a:r>
          </a:p>
          <a:p>
            <a:r>
              <a:rPr lang="en-US" dirty="0" smtClean="0"/>
              <a:t>Agricultural Use: Ensuring high-quality water for irrigation and livestock.</a:t>
            </a:r>
            <a:br>
              <a:rPr lang="en-US" dirty="0" smtClean="0"/>
            </a:br>
            <a:endParaRPr lang="en-US" dirty="0" smtClean="0"/>
          </a:p>
          <a:p>
            <a:pPr algn="just"/>
            <a:endParaRPr lang="en-US" dirty="0" smtClean="0"/>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467600" cy="1554162"/>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Disadvantages of Reverse Osmosis Systems Waste Water Generation</a:t>
            </a:r>
            <a:br>
              <a:rPr lang="en-US" b="1" dirty="0" smtClean="0"/>
            </a:br>
            <a:endParaRPr lang="en-US" dirty="0"/>
          </a:p>
        </p:txBody>
      </p:sp>
      <p:sp>
        <p:nvSpPr>
          <p:cNvPr id="3" name="Content Placeholder 2"/>
          <p:cNvSpPr>
            <a:spLocks noGrp="1"/>
          </p:cNvSpPr>
          <p:nvPr>
            <p:ph sz="quarter" idx="1"/>
          </p:nvPr>
        </p:nvSpPr>
        <p:spPr/>
        <p:txBody>
          <a:bodyPr>
            <a:normAutofit lnSpcReduction="10000"/>
          </a:bodyPr>
          <a:lstStyle/>
          <a:p>
            <a:pPr algn="just"/>
            <a:r>
              <a:rPr lang="en-US" b="1" dirty="0" smtClean="0"/>
              <a:t> Waste Water Generation: </a:t>
            </a:r>
            <a:r>
              <a:rPr lang="en-US" dirty="0" smtClean="0"/>
              <a:t>One of the major drawbacks of reverse osmosis filtration systems is the generation of waste water. For every gallon of purified water produced, several gallons may be discarded as waste. This can be a concern in areas where water conservation is crucial.</a:t>
            </a:r>
          </a:p>
          <a:p>
            <a:pPr algn="just"/>
            <a:r>
              <a:rPr lang="en-US" b="1" dirty="0" smtClean="0"/>
              <a:t>Removes Beneficial Minerals: </a:t>
            </a:r>
            <a:r>
              <a:rPr lang="en-US" dirty="0" smtClean="0"/>
              <a:t>Reverse osmosis water filters not only remove contaminants from water. This also strips away beneficial minerals like calcium, magnesium, and potassium. The lack of essential minerals in RO water can lead to lower nutritional value and a bland taste.</a:t>
            </a:r>
          </a:p>
          <a:p>
            <a:pPr algn="just"/>
            <a:endParaRPr lang="en-US" dirty="0" smtClean="0"/>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533400"/>
            <a:ext cx="7467600" cy="4873752"/>
          </a:xfrm>
        </p:spPr>
        <p:txBody>
          <a:bodyPr>
            <a:normAutofit lnSpcReduction="10000"/>
          </a:bodyPr>
          <a:lstStyle/>
          <a:p>
            <a:r>
              <a:rPr lang="en-US" b="1" dirty="0" smtClean="0"/>
              <a:t>High Initial Cost &amp; Maintenance</a:t>
            </a:r>
          </a:p>
          <a:p>
            <a:pPr algn="just"/>
            <a:r>
              <a:rPr lang="en-US" dirty="0" smtClean="0"/>
              <a:t>RO systems can be expensive to install, and ongoing maintenance costs include regular filter replacements and potential repairs. Some components, like the semi-permeable membrane, need to be replaced periodically. This is essential to maintain efficiency.</a:t>
            </a:r>
          </a:p>
          <a:p>
            <a:r>
              <a:rPr lang="en-US" b="1" dirty="0" smtClean="0"/>
              <a:t>Environmental Concerns</a:t>
            </a:r>
          </a:p>
          <a:p>
            <a:pPr algn="just"/>
            <a:r>
              <a:rPr lang="en-US" dirty="0" smtClean="0"/>
              <a:t>The removal of minerals from water and the production of waste water can have environmental implications. Apart from that, discarded filters contribute to plastic waste, raising concerns about sustainability.</a:t>
            </a:r>
          </a:p>
          <a:p>
            <a:pPr algn="just"/>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685800"/>
            <a:ext cx="7467600" cy="5562600"/>
          </a:xfrm>
        </p:spPr>
        <p:txBody>
          <a:bodyPr>
            <a:normAutofit fontScale="85000" lnSpcReduction="20000"/>
          </a:bodyPr>
          <a:lstStyle/>
          <a:p>
            <a:pPr algn="just"/>
            <a:r>
              <a:rPr lang="en-US" b="1" dirty="0" smtClean="0"/>
              <a:t>Is Reverse Osmosis Water Safe for Drinking? </a:t>
            </a:r>
            <a:r>
              <a:rPr lang="en-US" dirty="0" smtClean="0"/>
              <a:t>Yes, reverse osmosis water is safe for drinking as it removes most harmful substances and provides purified water. However, because the process removes essential minerals, some users may prefer to add beneficial minerals back into the water using a </a:t>
            </a:r>
            <a:r>
              <a:rPr lang="en-US" dirty="0" err="1" smtClean="0"/>
              <a:t>remineralization</a:t>
            </a:r>
            <a:r>
              <a:rPr lang="en-US" dirty="0" smtClean="0"/>
              <a:t> filter.</a:t>
            </a:r>
          </a:p>
          <a:p>
            <a:pPr algn="just"/>
            <a:endParaRPr lang="en-US" dirty="0" smtClean="0"/>
          </a:p>
          <a:p>
            <a:r>
              <a:rPr lang="en-US" b="1" dirty="0" smtClean="0"/>
              <a:t>How to Maintain a Reverse Osmosis System</a:t>
            </a:r>
          </a:p>
          <a:p>
            <a:r>
              <a:rPr lang="en-US" dirty="0" smtClean="0"/>
              <a:t>To keep an RO system functioning efficiently, regular maintenance is necessary:</a:t>
            </a:r>
          </a:p>
          <a:p>
            <a:r>
              <a:rPr lang="en-US" b="1" dirty="0" smtClean="0"/>
              <a:t>Change Filters Regularly</a:t>
            </a:r>
            <a:r>
              <a:rPr lang="en-US" dirty="0" smtClean="0"/>
              <a:t>: Pre-filters and post-filters should be replaced every 6-12 months.</a:t>
            </a:r>
          </a:p>
          <a:p>
            <a:r>
              <a:rPr lang="en-US" b="1" dirty="0" smtClean="0"/>
              <a:t>Replace the RO Membrane</a:t>
            </a:r>
            <a:r>
              <a:rPr lang="en-US" dirty="0" smtClean="0"/>
              <a:t>: The semi-permeable membrane should be changed every 2-3 years. This can be based on water quality.</a:t>
            </a:r>
          </a:p>
          <a:p>
            <a:r>
              <a:rPr lang="en-US" b="1" dirty="0" smtClean="0"/>
              <a:t>Sanitize the System Annually</a:t>
            </a:r>
            <a:r>
              <a:rPr lang="en-US" dirty="0" smtClean="0"/>
              <a:t>: This prevents bacterial growth and keeps the system clean.</a:t>
            </a:r>
          </a:p>
          <a:p>
            <a:r>
              <a:rPr lang="en-US" b="1" dirty="0" smtClean="0"/>
              <a:t>Check for Leaks &amp; Pressure Issues</a:t>
            </a:r>
            <a:r>
              <a:rPr lang="en-US" dirty="0" smtClean="0"/>
              <a:t>: Ensuring proper pressure helps to maintain filtration efficiency without any failure.</a:t>
            </a:r>
          </a:p>
          <a:p>
            <a:pPr algn="just"/>
            <a:endParaRPr lang="en-US" dirty="0" smtClean="0"/>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609600"/>
            <a:ext cx="8229600" cy="4873752"/>
          </a:xfrm>
        </p:spPr>
        <p:txBody>
          <a:bodyPr/>
          <a:lstStyle/>
          <a:p>
            <a:r>
              <a:rPr lang="en-US" b="1" dirty="0" smtClean="0"/>
              <a:t>Who Should Use Reverse Osmosis Filtration?</a:t>
            </a:r>
          </a:p>
          <a:p>
            <a:r>
              <a:rPr lang="en-US" dirty="0" smtClean="0"/>
              <a:t>RO systems are a suitable option for:</a:t>
            </a:r>
          </a:p>
          <a:p>
            <a:r>
              <a:rPr lang="en-US" dirty="0" smtClean="0"/>
              <a:t>Individuals in areas with contaminated water sources.</a:t>
            </a:r>
          </a:p>
          <a:p>
            <a:r>
              <a:rPr lang="en-US" dirty="0" smtClean="0"/>
              <a:t>Households concerned about heavy metals and dissolved solids.</a:t>
            </a:r>
          </a:p>
          <a:p>
            <a:r>
              <a:rPr lang="en-US" dirty="0" smtClean="0"/>
              <a:t>People looking for an alternative to bottled water.</a:t>
            </a:r>
          </a:p>
          <a:p>
            <a:r>
              <a:rPr lang="en-US" dirty="0" smtClean="0"/>
              <a:t>Industrial applications where purified water is necessary.</a:t>
            </a:r>
          </a:p>
          <a:p>
            <a:pPr>
              <a:buNone/>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153400" cy="5486400"/>
          </a:xfrm>
        </p:spPr>
        <p:txBody>
          <a:bodyPr>
            <a:normAutofit fontScale="92500" lnSpcReduction="20000"/>
          </a:bodyPr>
          <a:lstStyle/>
          <a:p>
            <a:r>
              <a:rPr lang="en-US" b="1" dirty="0" smtClean="0"/>
              <a:t>Conclusion</a:t>
            </a:r>
          </a:p>
          <a:p>
            <a:r>
              <a:rPr lang="en-US" dirty="0" smtClean="0"/>
              <a:t>Reverse osmosis systems provide a highly effective solution for water purification. By removing contaminants from water, this system is essential to ensure safe drinking water. While they come with advantages like improved water quality and taste, they also have disadvantages, such as wastewater production and the removal of healthy minerals.</a:t>
            </a:r>
          </a:p>
          <a:p>
            <a:r>
              <a:rPr lang="en-US" dirty="0" smtClean="0"/>
              <a:t>Understanding the advantages and disadvantages of reverse osmosis can help you to make a better decision according to your specific requirement. For those looking for high-quality, filtered water, an RO system remains one of the best membrane technologies available today. </a:t>
            </a:r>
          </a:p>
          <a:p>
            <a:r>
              <a:rPr lang="en-US" dirty="0" smtClean="0"/>
              <a:t>As a top </a:t>
            </a:r>
            <a:r>
              <a:rPr lang="en-US" dirty="0" smtClean="0">
                <a:hlinkClick r:id="rId2"/>
              </a:rPr>
              <a:t>water treatment plant manufacturer</a:t>
            </a:r>
            <a:r>
              <a:rPr lang="en-US" dirty="0" smtClean="0"/>
              <a:t>, </a:t>
            </a:r>
            <a:r>
              <a:rPr lang="en-US" dirty="0" err="1" smtClean="0">
                <a:hlinkClick r:id="rId3"/>
              </a:rPr>
              <a:t>Alantech</a:t>
            </a:r>
            <a:r>
              <a:rPr lang="en-US" dirty="0" smtClean="0"/>
              <a:t> can help you find the right water purification plant. With over 12 years of industrial experience and a dedicated team, </a:t>
            </a:r>
            <a:r>
              <a:rPr lang="en-US" dirty="0" err="1" smtClean="0"/>
              <a:t>Alantech</a:t>
            </a:r>
            <a:r>
              <a:rPr lang="en-US" dirty="0" smtClean="0"/>
              <a:t> has completed over 500 installations successfully. </a:t>
            </a:r>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84</TotalTime>
  <Words>2331</Words>
  <Application>Microsoft Office PowerPoint</Application>
  <PresentationFormat>On-screen Show (4:3)</PresentationFormat>
  <Paragraphs>145</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Oriel</vt:lpstr>
      <vt:lpstr>Desalination Technique</vt:lpstr>
      <vt:lpstr>Slide 2</vt:lpstr>
      <vt:lpstr>    Reverse Osmosis – The Basics </vt:lpstr>
      <vt:lpstr>Slide 4</vt:lpstr>
      <vt:lpstr>Slide 5</vt:lpstr>
      <vt:lpstr> How does Reverse Osmosis work? </vt:lpstr>
      <vt:lpstr>Slide 7</vt:lpstr>
      <vt:lpstr>What is Reverse Osmosis Water? </vt:lpstr>
      <vt:lpstr>Slide 9</vt:lpstr>
      <vt:lpstr>  RO systems performance and design calculations </vt:lpstr>
      <vt:lpstr>Slide 11</vt:lpstr>
      <vt:lpstr>Slide 12</vt:lpstr>
      <vt:lpstr>Slide 13</vt:lpstr>
      <vt:lpstr> Concentration Factor </vt:lpstr>
      <vt:lpstr>Slide 15</vt:lpstr>
      <vt:lpstr>Slide 16</vt:lpstr>
      <vt:lpstr>Understanding the difference between passes and stages in a Reverse Osmosis (RO) system</vt:lpstr>
      <vt:lpstr>Slide 18</vt:lpstr>
      <vt:lpstr> </vt:lpstr>
      <vt:lpstr>Slide 20</vt:lpstr>
      <vt:lpstr>          Advantages of Reverse Osmosis Systems </vt:lpstr>
      <vt:lpstr>Slide 22</vt:lpstr>
      <vt:lpstr>Slide 23</vt:lpstr>
      <vt:lpstr>  Disadvantages of Reverse Osmosis Systems Waste Water Generation </vt:lpstr>
      <vt:lpstr>Slide 25</vt:lpstr>
      <vt:lpstr>Slide 26</vt:lpstr>
      <vt:lpstr>Slide 27</vt:lpstr>
      <vt:lpstr>Slide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Desalination Technique</dc:title>
  <dc:creator>Subas Chandra Dash</dc:creator>
  <cp:lastModifiedBy>subas.dash</cp:lastModifiedBy>
  <cp:revision>18</cp:revision>
  <dcterms:created xsi:type="dcterms:W3CDTF">2006-08-16T00:00:00Z</dcterms:created>
  <dcterms:modified xsi:type="dcterms:W3CDTF">2025-08-04T06:28:23Z</dcterms:modified>
</cp:coreProperties>
</file>