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59"/>
  </p:notesMasterIdLst>
  <p:sldIdLst>
    <p:sldId id="256" r:id="rId2"/>
    <p:sldId id="257" r:id="rId3"/>
    <p:sldId id="258" r:id="rId4"/>
    <p:sldId id="259" r:id="rId5"/>
    <p:sldId id="260" r:id="rId6"/>
    <p:sldId id="281" r:id="rId7"/>
    <p:sldId id="282" r:id="rId8"/>
    <p:sldId id="283" r:id="rId9"/>
    <p:sldId id="284" r:id="rId10"/>
    <p:sldId id="285" r:id="rId11"/>
    <p:sldId id="286" r:id="rId12"/>
    <p:sldId id="262" r:id="rId13"/>
    <p:sldId id="261" r:id="rId14"/>
    <p:sldId id="263" r:id="rId15"/>
    <p:sldId id="264" r:id="rId16"/>
    <p:sldId id="270" r:id="rId17"/>
    <p:sldId id="272" r:id="rId18"/>
    <p:sldId id="265" r:id="rId19"/>
    <p:sldId id="266" r:id="rId20"/>
    <p:sldId id="267" r:id="rId21"/>
    <p:sldId id="268" r:id="rId22"/>
    <p:sldId id="269" r:id="rId23"/>
    <p:sldId id="273" r:id="rId24"/>
    <p:sldId id="274" r:id="rId25"/>
    <p:sldId id="275" r:id="rId26"/>
    <p:sldId id="287" r:id="rId27"/>
    <p:sldId id="288" r:id="rId28"/>
    <p:sldId id="294" r:id="rId29"/>
    <p:sldId id="295" r:id="rId30"/>
    <p:sldId id="296" r:id="rId31"/>
    <p:sldId id="289" r:id="rId32"/>
    <p:sldId id="290" r:id="rId33"/>
    <p:sldId id="291" r:id="rId34"/>
    <p:sldId id="292" r:id="rId35"/>
    <p:sldId id="293" r:id="rId36"/>
    <p:sldId id="276" r:id="rId37"/>
    <p:sldId id="277" r:id="rId38"/>
    <p:sldId id="278" r:id="rId39"/>
    <p:sldId id="301" r:id="rId40"/>
    <p:sldId id="302" r:id="rId41"/>
    <p:sldId id="303" r:id="rId42"/>
    <p:sldId id="304" r:id="rId43"/>
    <p:sldId id="313" r:id="rId44"/>
    <p:sldId id="312" r:id="rId45"/>
    <p:sldId id="311" r:id="rId46"/>
    <p:sldId id="305" r:id="rId47"/>
    <p:sldId id="306" r:id="rId48"/>
    <p:sldId id="307" r:id="rId49"/>
    <p:sldId id="308" r:id="rId50"/>
    <p:sldId id="309" r:id="rId51"/>
    <p:sldId id="310" r:id="rId52"/>
    <p:sldId id="280" r:id="rId53"/>
    <p:sldId id="279" r:id="rId54"/>
    <p:sldId id="300" r:id="rId55"/>
    <p:sldId id="297" r:id="rId56"/>
    <p:sldId id="298" r:id="rId57"/>
    <p:sldId id="299" r:id="rId5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00FF43A7-A12C-4F65-8419-32A1EAF88F4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A0BA83-2905-49D5-A977-45F774DD0D0C}" type="slidenum">
              <a:rPr lang="en-US"/>
              <a:pPr/>
              <a:t>1</a:t>
            </a:fld>
            <a:endParaRPr lang="en-US"/>
          </a:p>
        </p:txBody>
      </p:sp>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5CDF0B-950F-4503-AD3D-728A9B07CB2A}" type="slidenum">
              <a:rPr lang="en-US"/>
              <a:pPr/>
              <a:t>2</a:t>
            </a:fld>
            <a:endParaRPr lang="en-US"/>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8FB6B2-C3CC-4978-AF7B-CB04310C6D6F}" type="slidenum">
              <a:rPr lang="en-US"/>
              <a:pPr/>
              <a:t>3</a:t>
            </a:fld>
            <a:endParaRPr lang="en-US"/>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791EEF-4398-42D1-8636-911AA2DD1A70}" type="slidenum">
              <a:rPr lang="en-US"/>
              <a:pPr/>
              <a:t>4</a:t>
            </a:fld>
            <a:endParaRPr lang="en-US"/>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AED34E-952A-4CF9-B25A-BDA21CE290A8}" type="slidenum">
              <a:rPr lang="en-US"/>
              <a:pPr/>
              <a:t>5</a:t>
            </a:fld>
            <a:endParaRPr lang="en-US"/>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7E639C-14C6-4201-AF7A-C8E46DA9046D}" type="slidenum">
              <a:rPr lang="en-US"/>
              <a:pPr/>
              <a:t>12</a:t>
            </a:fld>
            <a:endParaRPr lang="en-US"/>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16FB86-8C4E-461A-A980-39C6CC3D071E}" type="slidenum">
              <a:rPr lang="en-US"/>
              <a:pPr/>
              <a:t>13</a:t>
            </a:fld>
            <a:endParaRPr lang="en-US"/>
          </a:p>
        </p:txBody>
      </p:sp>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703B56-B06B-4613-B8F4-75C9862A8CDA}" type="slidenum">
              <a:rPr lang="en-US"/>
              <a:pPr/>
              <a:t>14</a:t>
            </a:fld>
            <a:endParaRPr lang="en-US"/>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618B69-023F-4EF4-BCD5-6348E4A7C24B}" type="slidenum">
              <a:rPr lang="en-US"/>
              <a:pPr/>
              <a:t>15</a:t>
            </a:fld>
            <a:endParaRPr lang="en-US"/>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75514F-1CA4-4BA2-9C4A-338AB06B47FC}" type="slidenum">
              <a:rPr lang="en-US"/>
              <a:pPr/>
              <a:t>16</a:t>
            </a:fld>
            <a:endParaRPr lang="en-US"/>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A549B7-B69E-418B-A44A-D78950199198}" type="slidenum">
              <a:rPr lang="en-US"/>
              <a:pPr/>
              <a:t>17</a:t>
            </a:fld>
            <a:endParaRPr lang="en-US"/>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37B58C-616E-4879-908E-ABD8F9BE1C61}" type="slidenum">
              <a:rPr lang="en-US"/>
              <a:pPr/>
              <a:t>18</a:t>
            </a:fld>
            <a:endParaRPr lang="en-US"/>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8FBA77-BE89-448B-9D4F-4F08D2C2B229}" type="slidenum">
              <a:rPr lang="en-US"/>
              <a:pPr/>
              <a:t>19</a:t>
            </a:fld>
            <a:endParaRPr lang="en-US"/>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AF063D-4C94-479A-A49B-FED38CC05CB8}" type="slidenum">
              <a:rPr lang="en-US"/>
              <a:pPr/>
              <a:t>20</a:t>
            </a:fld>
            <a:endParaRPr lang="en-US"/>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E80B3B-B6B7-451D-B9D8-91D14EAA3EA5}" type="slidenum">
              <a:rPr lang="en-US"/>
              <a:pPr/>
              <a:t>21</a:t>
            </a:fld>
            <a:endParaRPr lang="en-US"/>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F2E241-1DA2-489B-8DDF-240C66B21D2C}" type="slidenum">
              <a:rPr lang="en-US"/>
              <a:pPr/>
              <a:t>22</a:t>
            </a:fld>
            <a:endParaRPr lang="en-US"/>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0C716B-EA3E-4CD9-9DE9-72BFF27A2B6E}" type="slidenum">
              <a:rPr lang="en-US"/>
              <a:pPr/>
              <a:t>23</a:t>
            </a:fld>
            <a:endParaRPr 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9D30C5-EA9A-4726-A68C-C2F5F6957444}" type="slidenum">
              <a:rPr lang="en-US"/>
              <a:pPr/>
              <a:t>24</a:t>
            </a:fld>
            <a:endParaRPr lang="en-US"/>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B9BF41-AE4E-469E-BA99-95678760F737}" type="slidenum">
              <a:rPr lang="en-US"/>
              <a:pPr/>
              <a:t>25</a:t>
            </a:fld>
            <a:endParaRPr lang="en-US"/>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A5D312-9CA8-4BDF-AC24-AE5DF4CEDF07}" type="slidenum">
              <a:rPr lang="en-US"/>
              <a:pPr/>
              <a:t>36</a:t>
            </a:fld>
            <a:endParaRPr lang="en-US"/>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81C97A-6F57-4BDA-94A0-ED40AE365131}" type="slidenum">
              <a:rPr lang="en-US"/>
              <a:pPr/>
              <a:t>37</a:t>
            </a:fld>
            <a:endParaRPr lang="en-US"/>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B6686D-93F9-4859-BC38-DF7C604B4979}" type="slidenum">
              <a:rPr lang="en-US"/>
              <a:pPr/>
              <a:t>38</a:t>
            </a:fld>
            <a:endParaRPr lang="en-US"/>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27050-FD62-4C47-B1FE-AFBE782DF87E}" type="slidenum">
              <a:rPr lang="en-US"/>
              <a:pPr/>
              <a:t>52</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C9347F-7883-44A1-9261-8EDC376E3EF0}" type="slidenum">
              <a:rPr lang="en-US"/>
              <a:pPr/>
              <a:t>53</a:t>
            </a:fld>
            <a:endParaRPr lang="en-US"/>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37D0304F-368F-49FC-AE6D-E28A32D516E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D88ADD8-586D-4D79-8A77-85C01B4C0B45}"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AE940A4-6137-4CA0-845F-84B73A1DD5EA}"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A18C778-8D2B-4240-8B90-B29088F33E91}"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61C1EA8-A0CE-475E-973C-54EE9C0CA68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58CC7C74-C09E-4F5E-AE37-7F3A5EF57B1A}"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4F87AE6-585A-446D-BC6B-1183E5FB02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E1219FC-EB1A-489B-B1E2-8CDCBA5F614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44A588F-10F0-4431-B100-3C362AE20436}"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2526D54-CFEB-4175-ABAD-478FFDDA0E7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3218D21-3DA6-4205-9ABA-DBB17D7C5C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161CDB4A-343C-481B-839C-753C8F6D1FB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Image:Sun920607.jp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iwaponline.com/aqua/article/73/2/239/100032/Impact-of-various-design-parameters-on-solar-stil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hyperlink" Target="http://en.wikipedia.org/wiki/Image:Smallsketch.jpg"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google.com/search?sca_esv=ef5c9cfd86438e8a&amp;rlz=1C1GCEU_enIN1119IN1119&amp;cs=0&amp;sxsrf=AE3TifOeLrlrfOFLGHp-1E-pc4uWkI1YXw%3A1758695291084&amp;q=thermal+efficiency&amp;sa=X&amp;ved=2ahUKEwjM3bTA4vCPAxX33TgGHdFuA8gQxccNegQIGhAB&amp;mstk=AUtExfDruekDUCWqGMQR1abRWiwYZ9Ku-mK9lLmvfwZhjTVmHz7ZS8aILTgsTdL0MbyNC3swMLM0oOy4ywShrrAsZHN9tJwdFZJ3QE4pwHJKeFh-QIh_1C0T1s1KO1vqmqUGnWzv7cHUi5CRstY4c7nQARCDgLCjOv1tor-3Nw7MlR1B2PmTLv29gxMKTu5soGcbU9bnGPZ9AahTyRnVyluRovJBwYdIP2jfpeFYc3MNmNmDmDoMTwNPpM0ROF3w6egJsDF6d_prEatcQeoMJkfRWLtO&amp;csui=3" TargetMode="External"/><Relationship Id="rId2" Type="http://schemas.openxmlformats.org/officeDocument/2006/relationships/hyperlink" Target="https://www.google.com/search?sca_esv=ef5c9cfd86438e8a&amp;rlz=1C1GCEU_enIN1119IN1119&amp;cs=0&amp;sxsrf=AE3TifOeLrlrfOFLGHp-1E-pc4uWkI1YXw%3A1758695291084&amp;q=absorber+plate&amp;sa=X&amp;ved=2ahUKEwjM3bTA4vCPAxX33TgGHdFuA8gQxccNegQIFxAB&amp;mstk=AUtExfDruekDUCWqGMQR1abRWiwYZ9Ku-mK9lLmvfwZhjTVmHz7ZS8aILTgsTdL0MbyNC3swMLM0oOy4ywShrrAsZHN9tJwdFZJ3QE4pwHJKeFh-QIh_1C0T1s1KO1vqmqUGnWzv7cHUi5CRstY4c7nQARCDgLCjOv1tor-3Nw7MlR1B2PmTLv29gxMKTu5soGcbU9bnGPZ9AahTyRnVyluRovJBwYdIP2jfpeFYc3MNmNmDmDoMTwNPpM0ROF3w6egJsDF6d_prEatcQeoMJkfRWLtO&amp;csui=3"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google.com/search?sca_esv=ef5c9cfd86438e8a&amp;rlz=1C1GCEU_enIN1119IN1119&amp;cs=0&amp;sxsrf=AE3TifOeLrlrfOFLGHp-1E-pc4uWkI1YXw%3A1758695291084&amp;q=solar+still&amp;sa=X&amp;ved=2ahUKEwjM3bTA4vCPAxX33TgGHdFuA8gQxccNegQIMRAB&amp;mstk=AUtExfDruekDUCWqGMQR1abRWiwYZ9Ku-mK9lLmvfwZhjTVmHz7ZS8aILTgsTdL0MbyNC3swMLM0oOy4ywShrrAsZHN9tJwdFZJ3QE4pwHJKeFh-QIh_1C0T1s1KO1vqmqUGnWzv7cHUi5CRstY4c7nQARCDgLCjOv1tor-3Nw7MlR1B2PmTLv29gxMKTu5soGcbU9bnGPZ9AahTyRnVyluRovJBwYdIP2jfpeFYc3MNmNmDmDoMTwNPpM0ROF3w6egJsDF6d_prEatcQeoMJkfRWLtO&amp;csui=3"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alternative-energy-tutorials.com/solar-hot-water/flat-plate-collector.html/comment-page-2"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outhface.org/solar/solar-roadmap/solar_how-to/solar-how_solar_works.htm"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google.com/search?sca_esv=ef5c9cfd86438e8a&amp;rlz=1C1GCEU_enIN1119IN1119&amp;cs=0&amp;sxsrf=AE3TifOeLrlrfOFLGHp-1E-pc4uWkI1YXw%3A1758695291084&amp;q=anodized+aluminum&amp;sa=X&amp;ved=2ahUKEwjM3bTA4vCPAxX33TgGHdFuA8gQxccNegQIBhAB&amp;mstk=AUtExfDruekDUCWqGMQR1abRWiwYZ9Ku-mK9lLmvfwZhjTVmHz7ZS8aILTgsTdL0MbyNC3swMLM0oOy4ywShrrAsZHN9tJwdFZJ3QE4pwHJKeFh-QIh_1C0T1s1KO1vqmqUGnWzv7cHUi5CRstY4c7nQARCDgLCjOv1tor-3Nw7MlR1B2PmTLv29gxMKTu5soGcbU9bnGPZ9AahTyRnVyluRovJBwYdIP2jfpeFYc3MNmNmDmDoMTwNPpM0ROF3w6egJsDF6d_prEatcQeoMJkfRWLtO&amp;csui=3"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google.com/search?rlz=1C1GCEU_enIN1119IN1119&amp;cs=0&amp;sca_esv=ef5c9cfd86438e8a&amp;sxsrf=AE3TifPvGSgNc3CA_O5xnxDi3AUTBlr82g%3A1758694990624&amp;q=forward+osmosis&amp;sa=X&amp;ved=2ahUKEwi60qGx4fCPAxXyoWMGHeZaN3cQxccNegQICxAC&amp;mstk=AUtExfAxhkPjscT9_j8XXkRdnIylEaomQNeQSX_7_dtcdP627g6iaoUblU7gG2akgJ0rlZBjlucC5g3TXHvb3doy514Ykq1tarqSC-SLzfs5rxcHuYYesEaCrcVYzCGJF0s20ObxFD_LdZJF-HvEOTo-jnBAVmm48UlK11Ry7nT0rIHdr4fFzf4JbIs3Ly5rjF9_pAaGS-Ns111AwOvGdHakFUDOqPaZcvP2xmb3zB3n7FTqZAqdiVgjYTO0Kg7xwz6_iBkgqHDRKC1Ag0G8NUP8cFyj&amp;csui=3" TargetMode="External"/><Relationship Id="rId2" Type="http://schemas.openxmlformats.org/officeDocument/2006/relationships/hyperlink" Target="https://www.google.com/search?rlz=1C1GCEU_enIN1119IN1119&amp;cs=0&amp;sca_esv=ef5c9cfd86438e8a&amp;sxsrf=AE3TifPvGSgNc3CA_O5xnxDi3AUTBlr82g%3A1758694990624&amp;q=electrodialysis&amp;sa=X&amp;ved=2ahUKEwi60qGx4fCPAxXyoWMGHeZaN3cQxccNegQICxAB&amp;mstk=AUtExfAxhkPjscT9_j8XXkRdnIylEaomQNeQSX_7_dtcdP627g6iaoUblU7gG2akgJ0rlZBjlucC5g3TXHvb3doy514Ykq1tarqSC-SLzfs5rxcHuYYesEaCrcVYzCGJF0s20ObxFD_LdZJF-HvEOTo-jnBAVmm48UlK11Ry7nT0rIHdr4fFzf4JbIs3Ly5rjF9_pAaGS-Ns111AwOvGdHakFUDOqPaZcvP2xmb3zB3n7FTqZAqdiVgjYTO0Kg7xwz6_iBkgqHDRKC1Ag0G8NUP8cFyj&amp;csui=3"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google.com/search?rlz=1C1GCEU_enIN1119IN1119&amp;cs=0&amp;sca_esv=ef5c9cfd86438e8a&amp;sxsrf=AE3TifPvGSgNc3CA_O5xnxDi3AUTBlr82g%3A1758694990624&amp;q=Green+Hydrogen+Production&amp;sa=X&amp;ved=2ahUKEwi60qGx4fCPAxXyoWMGHeZaN3cQxccNegQINBAB&amp;mstk=AUtExfAxhkPjscT9_j8XXkRdnIylEaomQNeQSX_7_dtcdP627g6iaoUblU7gG2akgJ0rlZBjlucC5g3TXHvb3doy514Ykq1tarqSC-SLzfs5rxcHuYYesEaCrcVYzCGJF0s20ObxFD_LdZJF-HvEOTo-jnBAVmm48UlK11Ry7nT0rIHdr4fFzf4JbIs3Ly5rjF9_pAaGS-Ns111AwOvGdHakFUDOqPaZcvP2xmb3zB3n7FTqZAqdiVgjYTO0Kg7xwz6_iBkgqHDRKC1Ag0G8NUP8cFyj&amp;csui=3" TargetMode="External"/><Relationship Id="rId2" Type="http://schemas.openxmlformats.org/officeDocument/2006/relationships/hyperlink" Target="https://www.google.com/search?rlz=1C1GCEU_enIN1119IN1119&amp;cs=0&amp;sca_esv=ef5c9cfd86438e8a&amp;sxsrf=AE3TifPvGSgNc3CA_O5xnxDi3AUTBlr82g%3A1758694990624&amp;q=membranes+with+renewable+energy+sources&amp;sa=X&amp;ved=2ahUKEwi60qGx4fCPAxXyoWMGHeZaN3cQxccNegQIQBAB&amp;mstk=AUtExfAxhkPjscT9_j8XXkRdnIylEaomQNeQSX_7_dtcdP627g6iaoUblU7gG2akgJ0rlZBjlucC5g3TXHvb3doy514Ykq1tarqSC-SLzfs5rxcHuYYesEaCrcVYzCGJF0s20ObxFD_LdZJF-HvEOTo-jnBAVmm48UlK11Ry7nT0rIHdr4fFzf4JbIs3Ly5rjF9_pAaGS-Ns111AwOvGdHakFUDOqPaZcvP2xmb3zB3n7FTqZAqdiVgjYTO0Kg7xwz6_iBkgqHDRKC1Ag0G8NUP8cFyj&amp;csui=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Rot="1" noChangeArrowheads="1"/>
          </p:cNvSpPr>
          <p:nvPr>
            <p:ph type="ctrTitle"/>
          </p:nvPr>
        </p:nvSpPr>
        <p:spPr/>
        <p:txBody>
          <a:bodyPr/>
          <a:lstStyle/>
          <a:p>
            <a:r>
              <a:rPr lang="en-US"/>
              <a:t>Solar Thermal Energy</a:t>
            </a:r>
          </a:p>
        </p:txBody>
      </p:sp>
      <p:sp>
        <p:nvSpPr>
          <p:cNvPr id="2051" name="Rectangle 3"/>
          <p:cNvSpPr>
            <a:spLocks noGrp="1" noRot="1" noChangeArrowheads="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Rot="1" noChangeArrowheads="1"/>
          </p:cNvSpPr>
          <p:nvPr>
            <p:ph idx="1"/>
          </p:nvPr>
        </p:nvSpPr>
        <p:spPr/>
        <p:txBody>
          <a:bodyPr/>
          <a:lstStyle/>
          <a:p>
            <a:pPr>
              <a:lnSpc>
                <a:spcPct val="90000"/>
              </a:lnSpc>
            </a:pPr>
            <a:r>
              <a:rPr lang="en-US" dirty="0"/>
              <a:t>We have always used the energy of the sun as far back as humans have existed on this planet.  We know today that the sun is simply our nearest star and without it, life would not exist on our planet.  </a:t>
            </a:r>
            <a:br>
              <a:rPr lang="en-US" dirty="0"/>
            </a:br>
            <a:r>
              <a:rPr lang="en-US" dirty="0"/>
              <a:t>We use the sun’s energy everyday in many different ways.</a:t>
            </a:r>
          </a:p>
          <a:p>
            <a:pPr>
              <a:lnSpc>
                <a:spcPct val="90000"/>
              </a:lnSpc>
            </a:pPr>
            <a:r>
              <a:rPr lang="en-US" dirty="0"/>
              <a:t>In Belize we hang our clothes out in the sun to dry, for drying fish, fruits, etc.</a:t>
            </a:r>
          </a:p>
        </p:txBody>
      </p:sp>
      <p:sp>
        <p:nvSpPr>
          <p:cNvPr id="11266" name="Rectangle 2"/>
          <p:cNvSpPr>
            <a:spLocks noGrp="1" noRot="1" noChangeArrowheads="1"/>
          </p:cNvSpPr>
          <p:nvPr>
            <p:ph type="title"/>
          </p:nvPr>
        </p:nvSpPr>
        <p:spPr>
          <a:xfrm>
            <a:off x="2209800" y="228600"/>
            <a:ext cx="4343400" cy="1143000"/>
          </a:xfrm>
        </p:spPr>
        <p:txBody>
          <a:bodyPr/>
          <a:lstStyle/>
          <a:p>
            <a:r>
              <a:rPr lang="en-US" dirty="0"/>
              <a:t>Introduction</a:t>
            </a:r>
          </a:p>
        </p:txBody>
      </p:sp>
      <p:pic>
        <p:nvPicPr>
          <p:cNvPr id="11269" name="Picture 5" descr="Picture of sun."/>
          <p:cNvPicPr>
            <a:picLocks noChangeAspect="1" noChangeArrowheads="1"/>
          </p:cNvPicPr>
          <p:nvPr/>
        </p:nvPicPr>
        <p:blipFill>
          <a:blip r:embed="rId3" cstate="print"/>
          <a:srcRect/>
          <a:stretch>
            <a:fillRect/>
          </a:stretch>
        </p:blipFill>
        <p:spPr bwMode="auto">
          <a:xfrm>
            <a:off x="0" y="0"/>
            <a:ext cx="1981200" cy="17526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Rot="1" noChangeArrowheads="1"/>
          </p:cNvSpPr>
          <p:nvPr>
            <p:ph idx="1"/>
          </p:nvPr>
        </p:nvSpPr>
        <p:spPr/>
        <p:txBody>
          <a:bodyPr/>
          <a:lstStyle/>
          <a:p>
            <a:pPr>
              <a:lnSpc>
                <a:spcPct val="90000"/>
              </a:lnSpc>
            </a:pPr>
            <a:r>
              <a:rPr lang="en-US"/>
              <a:t>Decaying plants hundreds of millions of years ago produced the coal, oil and natural gas that we use today.  So, fossil fuels is actually sunlight stored millions and millions of years ago.</a:t>
            </a:r>
          </a:p>
          <a:p>
            <a:pPr>
              <a:lnSpc>
                <a:spcPct val="90000"/>
              </a:lnSpc>
            </a:pPr>
            <a:r>
              <a:rPr lang="en-US"/>
              <a:t>Indirectly, the sun and other stars are responsible for ALL our energy.  Even nuclear energy in the fury of a nova – a star exploding.</a:t>
            </a:r>
          </a:p>
        </p:txBody>
      </p:sp>
      <p:sp>
        <p:nvSpPr>
          <p:cNvPr id="13314" name="Rectangle 2"/>
          <p:cNvSpPr>
            <a:spLocks noGrp="1" noRot="1" noChangeArrowheads="1"/>
          </p:cNvSpPr>
          <p:nvPr>
            <p:ph type="title"/>
          </p:nvPr>
        </p:nvSpPr>
        <p:spPr/>
        <p:txBody>
          <a:bodyPr/>
          <a:lstStyle/>
          <a:p>
            <a:r>
              <a:rPr lang="en-US"/>
              <a:t>Introduction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Rot="1" noChangeArrowheads="1"/>
          </p:cNvSpPr>
          <p:nvPr>
            <p:ph idx="1"/>
          </p:nvPr>
        </p:nvSpPr>
        <p:spPr/>
        <p:txBody>
          <a:bodyPr/>
          <a:lstStyle/>
          <a:p>
            <a:r>
              <a:rPr lang="en-US">
                <a:effectLst/>
              </a:rPr>
              <a:t>There are many applications for the direct use of solar thermal energy, space heating and cooling, water heating, crop drying and solar cooking. </a:t>
            </a:r>
          </a:p>
          <a:p>
            <a:r>
              <a:rPr lang="en-US">
                <a:effectLst/>
              </a:rPr>
              <a:t>The most common use for solar thermal technology is for domestic water heating.</a:t>
            </a:r>
          </a:p>
          <a:p>
            <a:r>
              <a:rPr lang="en-US">
                <a:effectLst/>
              </a:rPr>
              <a:t>The Mediterranean and Australia – high solar insulation.</a:t>
            </a:r>
          </a:p>
        </p:txBody>
      </p:sp>
      <p:sp>
        <p:nvSpPr>
          <p:cNvPr id="15362" name="Rectangle 2"/>
          <p:cNvSpPr>
            <a:spLocks noGrp="1" noRot="1" noChangeArrowheads="1"/>
          </p:cNvSpPr>
          <p:nvPr>
            <p:ph type="title"/>
          </p:nvPr>
        </p:nvSpPr>
        <p:spPr/>
        <p:txBody>
          <a:bodyPr/>
          <a:lstStyle/>
          <a:p>
            <a:r>
              <a:rPr lang="en-US"/>
              <a:t>Solar Thermal Energy</a:t>
            </a:r>
          </a:p>
        </p:txBody>
      </p:sp>
      <p:pic>
        <p:nvPicPr>
          <p:cNvPr id="15364" name="Picture 4" descr="At the equator, the Sun provides approximately 1000 watts per square meter on Earth's surface.">
            <a:hlinkClick r:id="rId3" tooltip="&quot;At the equator, the Sun provides approximately 1000 watts per square meter on Earth's surface.&quot;"/>
          </p:cNvPr>
          <p:cNvPicPr>
            <a:picLocks noChangeAspect="1" noChangeArrowheads="1"/>
          </p:cNvPicPr>
          <p:nvPr/>
        </p:nvPicPr>
        <p:blipFill>
          <a:blip r:embed="rId4" cstate="print"/>
          <a:srcRect/>
          <a:stretch>
            <a:fillRect/>
          </a:stretch>
        </p:blipFill>
        <p:spPr bwMode="auto">
          <a:xfrm>
            <a:off x="0" y="0"/>
            <a:ext cx="1905000" cy="1428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Grp="1" noChangeAspect="1" noChangeArrowheads="1"/>
          </p:cNvPicPr>
          <p:nvPr>
            <p:ph idx="1"/>
          </p:nvPr>
        </p:nvPicPr>
        <p:blipFill>
          <a:blip r:embed="rId3" cstate="print"/>
          <a:stretch>
            <a:fillRect/>
          </a:stretch>
        </p:blipFill>
        <p:spPr>
          <a:xfrm>
            <a:off x="2596445" y="1768564"/>
            <a:ext cx="3951110" cy="3951110"/>
          </a:xfrm>
          <a:noFill/>
          <a:ln/>
        </p:spPr>
      </p:pic>
      <p:sp>
        <p:nvSpPr>
          <p:cNvPr id="17410" name="Rectangle 2"/>
          <p:cNvSpPr>
            <a:spLocks noGrp="1" noRot="1" noChangeArrowheads="1"/>
          </p:cNvSpPr>
          <p:nvPr>
            <p:ph type="title"/>
          </p:nvPr>
        </p:nvSpPr>
        <p:spPr/>
        <p:txBody>
          <a:bodyPr>
            <a:normAutofit fontScale="90000"/>
          </a:bodyPr>
          <a:lstStyle/>
          <a:p>
            <a:r>
              <a:rPr lang="en-US" sz="4000"/>
              <a:t>The nature and availability of solar radiation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A passive solar desalination system uses the sun's energy to heat saline water, causing evaporation and then condensation of the water vapor to produce fresh water, mimicking the natural water cycle. </a:t>
            </a:r>
          </a:p>
          <a:p>
            <a:pPr algn="just"/>
            <a:r>
              <a:rPr lang="en-US" sz="2000" dirty="0" smtClean="0">
                <a:latin typeface="Times New Roman" pitchFamily="18" charset="0"/>
                <a:cs typeface="Times New Roman" pitchFamily="18" charset="0"/>
              </a:rPr>
              <a:t>These systems require no external electricity, operating through natural processes like gravity, pressure, and convection, and often feature designs like solar stills or layered, wick-free structures that prevent salt buildup and improve efficiency. </a:t>
            </a:r>
          </a:p>
          <a:p>
            <a:pPr algn="just"/>
            <a:r>
              <a:rPr lang="en-US" sz="2000" dirty="0" smtClean="0">
                <a:latin typeface="Times New Roman" pitchFamily="18" charset="0"/>
                <a:cs typeface="Times New Roman" pitchFamily="18" charset="0"/>
              </a:rPr>
              <a:t>Recent advancements aim to increase water production rates, improve solar-to-water efficiency, and enable continuous operation, making them promising for off-grid communities in arid coastal regions</a:t>
            </a:r>
            <a:endParaRPr lang="en-US" sz="20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7239000" cy="4846320"/>
          </a:xfrm>
        </p:spPr>
        <p:txBody>
          <a:bodyPr/>
          <a:lstStyle/>
          <a:p>
            <a:r>
              <a:rPr lang="en-US" sz="2000" dirty="0" smtClean="0"/>
              <a:t>How it Works</a:t>
            </a:r>
          </a:p>
          <a:p>
            <a:pPr fontAlgn="ctr"/>
            <a:r>
              <a:rPr lang="en-US" sz="2000" b="1" dirty="0" smtClean="0"/>
              <a:t>Solar Heating:</a:t>
            </a:r>
            <a:r>
              <a:rPr lang="en-US" sz="2000" dirty="0" smtClean="0"/>
              <a:t> The system absorbs solar radiation, heating a layer of saltwater. </a:t>
            </a:r>
          </a:p>
          <a:p>
            <a:pPr fontAlgn="ctr"/>
            <a:r>
              <a:rPr lang="en-US" sz="2000" b="1" dirty="0" smtClean="0"/>
              <a:t>Evaporation:</a:t>
            </a:r>
            <a:r>
              <a:rPr lang="en-US" sz="2000" dirty="0" smtClean="0"/>
              <a:t> As the water heats, it turns into water vapor, leaving the salt behind. </a:t>
            </a:r>
          </a:p>
          <a:p>
            <a:pPr fontAlgn="ctr"/>
            <a:r>
              <a:rPr lang="en-US" sz="2000" b="1" dirty="0" smtClean="0"/>
              <a:t>Condensation:</a:t>
            </a:r>
            <a:r>
              <a:rPr lang="en-US" sz="2000" dirty="0" smtClean="0"/>
              <a:t> The water vapor rises, contacts a cooler surface, and condenses back into liquid fresh water. </a:t>
            </a:r>
          </a:p>
          <a:p>
            <a:r>
              <a:rPr lang="en-US" sz="2000" b="1" dirty="0" smtClean="0"/>
              <a:t>Collection:</a:t>
            </a:r>
            <a:r>
              <a:rPr lang="en-US" sz="2000" dirty="0" smtClean="0"/>
              <a:t> The condensed fresh water drips or flows into a separate collection channel.</a:t>
            </a:r>
            <a:r>
              <a:rPr lang="en-US" dirty="0" smtClean="0"/>
              <a:t> </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7239000" cy="5486400"/>
          </a:xfrm>
        </p:spPr>
        <p:txBody>
          <a:bodyPr>
            <a:normAutofit fontScale="25000" lnSpcReduction="20000"/>
          </a:bodyPr>
          <a:lstStyle/>
          <a:p>
            <a:r>
              <a:rPr lang="en-US" sz="9600" b="1" dirty="0" smtClean="0">
                <a:latin typeface="Times New Roman" pitchFamily="18" charset="0"/>
                <a:cs typeface="Times New Roman" pitchFamily="18" charset="0"/>
              </a:rPr>
              <a:t>Wick-Free Designs:</a:t>
            </a:r>
            <a:r>
              <a:rPr lang="en-US" sz="9600" dirty="0" smtClean="0">
                <a:latin typeface="Times New Roman" pitchFamily="18" charset="0"/>
                <a:cs typeface="Times New Roman" pitchFamily="18" charset="0"/>
              </a:rPr>
              <a:t> </a:t>
            </a:r>
          </a:p>
          <a:p>
            <a:pPr fontAlgn="ctr"/>
            <a:r>
              <a:rPr lang="en-US" sz="9600" dirty="0" smtClean="0">
                <a:latin typeface="Times New Roman" pitchFamily="18" charset="0"/>
                <a:cs typeface="Times New Roman" pitchFamily="18" charset="0"/>
              </a:rPr>
              <a:t>Some modern systems eliminate the need for traditional wicks, using layered structures with convection to draw salt back into the main body of water and prevent clogging. </a:t>
            </a:r>
          </a:p>
          <a:p>
            <a:r>
              <a:rPr lang="en-US" sz="9600" b="1" dirty="0" smtClean="0">
                <a:latin typeface="Times New Roman" pitchFamily="18" charset="0"/>
                <a:cs typeface="Times New Roman" pitchFamily="18" charset="0"/>
              </a:rPr>
              <a:t>Natural Circulation:</a:t>
            </a:r>
            <a:r>
              <a:rPr lang="en-US" sz="9600" dirty="0" smtClean="0">
                <a:latin typeface="Times New Roman" pitchFamily="18" charset="0"/>
                <a:cs typeface="Times New Roman" pitchFamily="18" charset="0"/>
              </a:rPr>
              <a:t> </a:t>
            </a:r>
          </a:p>
          <a:p>
            <a:pPr fontAlgn="ctr"/>
            <a:r>
              <a:rPr lang="en-US" sz="9600" dirty="0" smtClean="0">
                <a:latin typeface="Times New Roman" pitchFamily="18" charset="0"/>
                <a:cs typeface="Times New Roman" pitchFamily="18" charset="0"/>
              </a:rPr>
              <a:t>Convection currents driven by temperature differences and gravity move water and salt within the device, improving salt rejection and the efficiency of the evaporation process. </a:t>
            </a:r>
          </a:p>
          <a:p>
            <a:r>
              <a:rPr lang="en-US" sz="9600" b="1" dirty="0" smtClean="0">
                <a:latin typeface="Times New Roman" pitchFamily="18" charset="0"/>
                <a:cs typeface="Times New Roman" pitchFamily="18" charset="0"/>
              </a:rPr>
              <a:t>Thin-Film Condensation:</a:t>
            </a:r>
            <a:r>
              <a:rPr lang="en-US" sz="9600" dirty="0" smtClean="0">
                <a:latin typeface="Times New Roman" pitchFamily="18" charset="0"/>
                <a:cs typeface="Times New Roman" pitchFamily="18" charset="0"/>
              </a:rPr>
              <a:t> </a:t>
            </a:r>
          </a:p>
          <a:p>
            <a:pPr fontAlgn="ctr"/>
            <a:r>
              <a:rPr lang="en-US" sz="9600" dirty="0" smtClean="0">
                <a:latin typeface="Times New Roman" pitchFamily="18" charset="0"/>
                <a:cs typeface="Times New Roman" pitchFamily="18" charset="0"/>
              </a:rPr>
              <a:t>Novel modes of condensation on thin films are being developed to enhance the overall solar-to-water efficiency and water production. </a:t>
            </a:r>
          </a:p>
          <a:p>
            <a:r>
              <a:rPr lang="en-US" sz="9600" dirty="0" smtClean="0">
                <a:latin typeface="Times New Roman" pitchFamily="18" charset="0"/>
                <a:cs typeface="Times New Roman" pitchFamily="18" charset="0"/>
              </a:rPr>
              <a:t>. </a:t>
            </a:r>
          </a:p>
          <a:p>
            <a:endParaRPr lang="en-US" dirty="0"/>
          </a:p>
        </p:txBody>
      </p:sp>
      <p:sp>
        <p:nvSpPr>
          <p:cNvPr id="2" name="Title 1"/>
          <p:cNvSpPr>
            <a:spLocks noGrp="1"/>
          </p:cNvSpPr>
          <p:nvPr>
            <p:ph type="title"/>
          </p:nvPr>
        </p:nvSpPr>
        <p:spPr/>
        <p:txBody>
          <a:bodyPr>
            <a:normAutofit fontScale="90000"/>
          </a:bodyPr>
          <a:lstStyle/>
          <a:p>
            <a:r>
              <a:rPr lang="en-US" dirty="0" smtClean="0"/>
              <a:t>Key Features &amp; Innovations</a:t>
            </a:r>
            <a:br>
              <a:rPr lang="en-US" dirty="0" smtClean="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800" b="1" dirty="0" smtClean="0">
                <a:latin typeface="Times New Roman" pitchFamily="18" charset="0"/>
                <a:cs typeface="Times New Roman" pitchFamily="18" charset="0"/>
              </a:rPr>
              <a:t>Improved Salt Rejection:</a:t>
            </a:r>
            <a:r>
              <a:rPr lang="en-US" sz="2800" dirty="0" smtClean="0">
                <a:latin typeface="Times New Roman" pitchFamily="18" charset="0"/>
                <a:cs typeface="Times New Roman" pitchFamily="18" charset="0"/>
              </a:rPr>
              <a:t> </a:t>
            </a:r>
          </a:p>
          <a:p>
            <a:pPr fontAlgn="ctr"/>
            <a:r>
              <a:rPr lang="en-US" sz="2800" dirty="0" smtClean="0">
                <a:latin typeface="Times New Roman" pitchFamily="18" charset="0"/>
                <a:cs typeface="Times New Roman" pitchFamily="18" charset="0"/>
              </a:rPr>
              <a:t>New designs prevent the salt from crystallizing and building up on the evaporator, which can limit the operating time of simpler systems. </a:t>
            </a:r>
          </a:p>
          <a:p>
            <a:r>
              <a:rPr lang="en-US" sz="2800" b="1" dirty="0" smtClean="0">
                <a:latin typeface="Times New Roman" pitchFamily="18" charset="0"/>
                <a:cs typeface="Times New Roman" pitchFamily="18" charset="0"/>
              </a:rPr>
              <a:t>Floating Systems:</a:t>
            </a:r>
            <a:r>
              <a:rPr lang="en-US" sz="2800" dirty="0" smtClean="0">
                <a:latin typeface="Times New Roman" pitchFamily="18" charset="0"/>
                <a:cs typeface="Times New Roman" pitchFamily="18" charset="0"/>
              </a:rPr>
              <a:t> </a:t>
            </a:r>
          </a:p>
          <a:p>
            <a:r>
              <a:rPr lang="en-US" sz="2800" dirty="0" smtClean="0">
                <a:latin typeface="Times New Roman" pitchFamily="18" charset="0"/>
                <a:cs typeface="Times New Roman" pitchFamily="18" charset="0"/>
              </a:rPr>
              <a:t>Some designs are engineered to float on the surface of the water, reducing the need for costly grounded structures and potentially serving a wider range of bodies of water</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b="1" dirty="0" smtClean="0"/>
              <a:t>Low Cost &amp; Accessibility:</a:t>
            </a:r>
            <a:r>
              <a:rPr lang="en-US" dirty="0" smtClean="0"/>
              <a:t> </a:t>
            </a:r>
          </a:p>
          <a:p>
            <a:pPr fontAlgn="ctr"/>
            <a:r>
              <a:rPr lang="en-US" dirty="0" smtClean="0"/>
              <a:t>These systems use inexpensive materials and require no grid electricity, making them ideal for rural and off-grid areas. </a:t>
            </a:r>
          </a:p>
          <a:p>
            <a:r>
              <a:rPr lang="en-US" b="1" dirty="0" smtClean="0"/>
              <a:t>Sustainability:</a:t>
            </a:r>
            <a:r>
              <a:rPr lang="en-US" dirty="0" smtClean="0"/>
              <a:t> </a:t>
            </a:r>
          </a:p>
          <a:p>
            <a:pPr fontAlgn="ctr"/>
            <a:r>
              <a:rPr lang="en-US" dirty="0" smtClean="0"/>
              <a:t>They utilize abundant solar energy, providing a renewable and environmentally friendly source of fresh water. </a:t>
            </a:r>
          </a:p>
          <a:p>
            <a:r>
              <a:rPr lang="en-US" b="1" dirty="0" smtClean="0"/>
              <a:t>Reliability:</a:t>
            </a:r>
            <a:r>
              <a:rPr lang="en-US" dirty="0" smtClean="0"/>
              <a:t> </a:t>
            </a:r>
          </a:p>
          <a:p>
            <a:r>
              <a:rPr lang="en-US" dirty="0" smtClean="0"/>
              <a:t>Passive systems are inherently reliable due to the absence of complex, power-dependent components. </a:t>
            </a:r>
          </a:p>
          <a:p>
            <a:endParaRPr lang="en-US" dirty="0"/>
          </a:p>
        </p:txBody>
      </p:sp>
      <p:sp>
        <p:nvSpPr>
          <p:cNvPr id="2" name="Title 1"/>
          <p:cNvSpPr>
            <a:spLocks noGrp="1"/>
          </p:cNvSpPr>
          <p:nvPr>
            <p:ph type="title"/>
          </p:nvPr>
        </p:nvSpPr>
        <p:spPr/>
        <p:txBody>
          <a:bodyPr>
            <a:normAutofit fontScale="90000"/>
          </a:bodyPr>
          <a:lstStyle/>
          <a:p>
            <a:r>
              <a:rPr lang="en-US" dirty="0" smtClean="0"/>
              <a:t>Benefits</a:t>
            </a:r>
            <a:br>
              <a:rPr lang="en-US" dirty="0" smtClean="0"/>
            </a:b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7239000" cy="4846320"/>
          </a:xfrm>
        </p:spPr>
        <p:txBody>
          <a:bodyPr>
            <a:normAutofit fontScale="77500" lnSpcReduction="20000"/>
          </a:bodyPr>
          <a:lstStyle/>
          <a:p>
            <a:r>
              <a:rPr lang="en-US" b="1" dirty="0" smtClean="0">
                <a:latin typeface="Times New Roman" pitchFamily="18" charset="0"/>
                <a:cs typeface="Times New Roman" pitchFamily="18" charset="0"/>
              </a:rPr>
              <a:t>Low Water Output:</a:t>
            </a:r>
            <a:r>
              <a:rPr lang="en-US" dirty="0" smtClean="0">
                <a:latin typeface="Times New Roman" pitchFamily="18" charset="0"/>
                <a:cs typeface="Times New Roman" pitchFamily="18" charset="0"/>
              </a:rPr>
              <a:t> </a:t>
            </a:r>
          </a:p>
          <a:p>
            <a:pPr fontAlgn="ctr"/>
            <a:r>
              <a:rPr lang="en-US" dirty="0" smtClean="0">
                <a:latin typeface="Times New Roman" pitchFamily="18" charset="0"/>
                <a:cs typeface="Times New Roman" pitchFamily="18" charset="0"/>
              </a:rPr>
              <a:t>Historically, passive solar desalination has been limited by its low water production rates compared to active systems. </a:t>
            </a:r>
          </a:p>
          <a:p>
            <a:r>
              <a:rPr lang="en-US" b="1" dirty="0" smtClean="0">
                <a:latin typeface="Times New Roman" pitchFamily="18" charset="0"/>
                <a:cs typeface="Times New Roman" pitchFamily="18" charset="0"/>
              </a:rPr>
              <a:t>Efficiency Improvements:</a:t>
            </a:r>
            <a:r>
              <a:rPr lang="en-US" dirty="0" smtClean="0">
                <a:latin typeface="Times New Roman" pitchFamily="18" charset="0"/>
                <a:cs typeface="Times New Roman" pitchFamily="18" charset="0"/>
              </a:rPr>
              <a:t> </a:t>
            </a:r>
          </a:p>
          <a:p>
            <a:pPr fontAlgn="ctr"/>
            <a:r>
              <a:rPr lang="en-US" dirty="0" smtClean="0">
                <a:latin typeface="Times New Roman" pitchFamily="18" charset="0"/>
                <a:cs typeface="Times New Roman" pitchFamily="18" charset="0"/>
              </a:rPr>
              <a:t>Research is focused on improving the solar-to-water efficiency through optimized thermal design and enhanced heat and mass transfer within the device. </a:t>
            </a:r>
          </a:p>
          <a:p>
            <a:r>
              <a:rPr lang="en-US" b="1" dirty="0" smtClean="0">
                <a:latin typeface="Times New Roman" pitchFamily="18" charset="0"/>
                <a:cs typeface="Times New Roman" pitchFamily="18" charset="0"/>
              </a:rPr>
              <a:t>Scaling Up:</a:t>
            </a:r>
            <a:r>
              <a:rPr lang="en-US" dirty="0" smtClean="0">
                <a:latin typeface="Times New Roman" pitchFamily="18" charset="0"/>
                <a:cs typeface="Times New Roman" pitchFamily="18" charset="0"/>
              </a:rPr>
              <a:t> </a:t>
            </a:r>
          </a:p>
          <a:p>
            <a:pPr fontAlgn="ctr"/>
            <a:r>
              <a:rPr lang="en-US" dirty="0" smtClean="0">
                <a:latin typeface="Times New Roman" pitchFamily="18" charset="0"/>
                <a:cs typeface="Times New Roman" pitchFamily="18" charset="0"/>
              </a:rPr>
              <a:t>Bridging the gap between laboratory innovations and large-scale commercial deployment is a significant challenge for widespread adoption. </a:t>
            </a:r>
          </a:p>
          <a:p>
            <a:r>
              <a:rPr lang="en-US" b="1" dirty="0" smtClean="0">
                <a:latin typeface="Times New Roman" pitchFamily="18" charset="0"/>
                <a:cs typeface="Times New Roman" pitchFamily="18" charset="0"/>
              </a:rPr>
              <a:t>Reliability &amp; Anti-Fouling:</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Developing robust, anti-fouling systems capable of continuous operation under real-world conditions is crucial for long-term success. </a:t>
            </a:r>
          </a:p>
          <a:p>
            <a:endParaRPr lang="en-US" dirty="0"/>
          </a:p>
        </p:txBody>
      </p:sp>
      <p:sp>
        <p:nvSpPr>
          <p:cNvPr id="2" name="Title 1"/>
          <p:cNvSpPr>
            <a:spLocks noGrp="1"/>
          </p:cNvSpPr>
          <p:nvPr>
            <p:ph type="title"/>
          </p:nvPr>
        </p:nvSpPr>
        <p:spPr/>
        <p:txBody>
          <a:bodyPr>
            <a:normAutofit fontScale="90000"/>
          </a:bodyPr>
          <a:lstStyle/>
          <a:p>
            <a:r>
              <a:rPr lang="en-US" dirty="0" smtClean="0"/>
              <a:t>Challenges &amp; Future Outlook</a:t>
            </a:r>
            <a:br>
              <a:rPr lang="en-US" dirty="0" smtClean="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7" name="Rectangle 3"/>
          <p:cNvSpPr>
            <a:spLocks noGrp="1" noRot="1" noChangeArrowheads="1"/>
          </p:cNvSpPr>
          <p:nvPr>
            <p:ph idx="1"/>
          </p:nvPr>
        </p:nvSpPr>
        <p:spPr/>
        <p:txBody>
          <a:bodyPr/>
          <a:lstStyle/>
          <a:p>
            <a:pPr>
              <a:buFont typeface="Wingdings" pitchFamily="2" charset="2"/>
              <a:buNone/>
            </a:pPr>
            <a:endParaRPr lang="en-US" sz="2800" dirty="0"/>
          </a:p>
          <a:p>
            <a:endParaRPr lang="en-US" sz="2800" dirty="0"/>
          </a:p>
          <a:p>
            <a:endParaRPr lang="en-US" sz="2800" dirty="0"/>
          </a:p>
          <a:p>
            <a:endParaRPr lang="en-US" sz="2800" dirty="0"/>
          </a:p>
          <a:p>
            <a:endParaRPr lang="en-US" sz="2800" dirty="0" smtClean="0"/>
          </a:p>
          <a:p>
            <a:endParaRPr lang="en-US" sz="2800" dirty="0"/>
          </a:p>
          <a:p>
            <a:r>
              <a:rPr lang="en-US" sz="2000" dirty="0">
                <a:latin typeface="Times New Roman" pitchFamily="18" charset="0"/>
                <a:cs typeface="Times New Roman" pitchFamily="18" charset="0"/>
              </a:rPr>
              <a:t>Have you ever felt warm water trickle out of a garden hose that’s been sitting in the sun? If so, then you’ve witnessed solar water heating in action.</a:t>
            </a:r>
          </a:p>
        </p:txBody>
      </p:sp>
      <p:sp>
        <p:nvSpPr>
          <p:cNvPr id="21506" name="Rectangle 2"/>
          <p:cNvSpPr>
            <a:spLocks noGrp="1" noRot="1" noChangeArrowheads="1"/>
          </p:cNvSpPr>
          <p:nvPr>
            <p:ph type="title"/>
          </p:nvPr>
        </p:nvSpPr>
        <p:spPr>
          <a:xfrm>
            <a:off x="457200" y="320040"/>
            <a:ext cx="7239000" cy="594360"/>
          </a:xfrm>
        </p:spPr>
        <p:txBody>
          <a:bodyPr>
            <a:normAutofit/>
          </a:bodyPr>
          <a:lstStyle/>
          <a:p>
            <a:r>
              <a:rPr lang="en-US" sz="3200" dirty="0"/>
              <a:t>How does solar thermal work?</a:t>
            </a:r>
          </a:p>
        </p:txBody>
      </p:sp>
      <p:pic>
        <p:nvPicPr>
          <p:cNvPr id="21509" name="Picture 5" descr="Southface-Solar-Thermal-2"/>
          <p:cNvPicPr>
            <a:picLocks noChangeAspect="1" noChangeArrowheads="1"/>
          </p:cNvPicPr>
          <p:nvPr/>
        </p:nvPicPr>
        <p:blipFill>
          <a:blip r:embed="rId3" cstate="print"/>
          <a:srcRect/>
          <a:stretch>
            <a:fillRect/>
          </a:stretch>
        </p:blipFill>
        <p:spPr bwMode="auto">
          <a:xfrm>
            <a:off x="2286000" y="1447800"/>
            <a:ext cx="4419600" cy="2743200"/>
          </a:xfrm>
          <a:prstGeom prst="rect">
            <a:avLst/>
          </a:prstGeom>
          <a:noFill/>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Rot="1" noChangeArrowheads="1"/>
          </p:cNvSpPr>
          <p:nvPr>
            <p:ph idx="1"/>
          </p:nvPr>
        </p:nvSpPr>
        <p:spPr/>
        <p:txBody>
          <a:bodyPr/>
          <a:lstStyle/>
          <a:p>
            <a:pPr algn="just"/>
            <a:r>
              <a:rPr lang="en-US" sz="2000" dirty="0">
                <a:latin typeface="Times New Roman" pitchFamily="18" charset="0"/>
                <a:cs typeface="Times New Roman" pitchFamily="18" charset="0"/>
              </a:rPr>
              <a:t>There are a number of different solar thermal designs, but all are based on the same principle as the garden hose.  Each has its pros and cons and each is suitable for a specific application.</a:t>
            </a:r>
          </a:p>
          <a:p>
            <a:pPr algn="just">
              <a:buFont typeface="Wingdings" pitchFamily="2" charset="2"/>
              <a:buNone/>
            </a:pPr>
            <a:endParaRPr lang="en-US" sz="2000" dirty="0">
              <a:latin typeface="Times New Roman" pitchFamily="18" charset="0"/>
              <a:cs typeface="Times New Roman" pitchFamily="18" charset="0"/>
            </a:endParaRPr>
          </a:p>
          <a:p>
            <a:endParaRPr lang="en-US" dirty="0"/>
          </a:p>
        </p:txBody>
      </p:sp>
      <p:sp>
        <p:nvSpPr>
          <p:cNvPr id="19458" name="Rectangle 2"/>
          <p:cNvSpPr>
            <a:spLocks noGrp="1" noRot="1" noChangeArrowheads="1"/>
          </p:cNvSpPr>
          <p:nvPr>
            <p:ph type="title"/>
          </p:nvPr>
        </p:nvSpPr>
        <p:spPr/>
        <p:txBody>
          <a:bodyPr/>
          <a:lstStyle/>
          <a:p>
            <a:r>
              <a:rPr lang="en-US"/>
              <a:t>Solar thermal designs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Rot="1" noChangeArrowheads="1"/>
          </p:cNvSpPr>
          <p:nvPr>
            <p:ph idx="1"/>
          </p:nvPr>
        </p:nvSpPr>
        <p:spPr/>
        <p:txBody>
          <a:bodyPr/>
          <a:lstStyle/>
          <a:p>
            <a:r>
              <a:rPr lang="en-US"/>
              <a:t>Passive and active</a:t>
            </a:r>
          </a:p>
          <a:p>
            <a:r>
              <a:rPr lang="en-US"/>
              <a:t>The terms passive and active in solar thermal systems refer to whether the systems rely on pumps or only thermodynamics to circulate water through the systems.</a:t>
            </a:r>
          </a:p>
        </p:txBody>
      </p:sp>
      <p:sp>
        <p:nvSpPr>
          <p:cNvPr id="23554" name="Rectangle 2"/>
          <p:cNvSpPr>
            <a:spLocks noGrp="1" noRot="1" noChangeArrowheads="1"/>
          </p:cNvSpPr>
          <p:nvPr>
            <p:ph type="title"/>
          </p:nvPr>
        </p:nvSpPr>
        <p:spPr/>
        <p:txBody>
          <a:bodyPr/>
          <a:lstStyle/>
          <a:p>
            <a:r>
              <a:rPr lang="en-US"/>
              <a:t>Different types of systems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Rot="1" noChangeArrowheads="1"/>
          </p:cNvSpPr>
          <p:nvPr>
            <p:ph idx="1"/>
          </p:nvPr>
        </p:nvSpPr>
        <p:spPr/>
        <p:txBody>
          <a:bodyPr/>
          <a:lstStyle/>
          <a:p>
            <a:endParaRPr lang="en-US"/>
          </a:p>
        </p:txBody>
      </p:sp>
      <p:sp>
        <p:nvSpPr>
          <p:cNvPr id="25602" name="Rectangle 2"/>
          <p:cNvSpPr>
            <a:spLocks noGrp="1" noRot="1" noChangeArrowheads="1"/>
          </p:cNvSpPr>
          <p:nvPr>
            <p:ph type="title"/>
          </p:nvPr>
        </p:nvSpPr>
        <p:spPr/>
        <p:txBody>
          <a:bodyPr/>
          <a:lstStyle/>
          <a:p>
            <a:r>
              <a:rPr lang="en-US"/>
              <a:t>Passive</a:t>
            </a:r>
          </a:p>
        </p:txBody>
      </p:sp>
      <p:pic>
        <p:nvPicPr>
          <p:cNvPr id="25605" name="Picture 5" descr="batch-collector"/>
          <p:cNvPicPr>
            <a:picLocks noChangeAspect="1" noChangeArrowheads="1"/>
          </p:cNvPicPr>
          <p:nvPr/>
        </p:nvPicPr>
        <p:blipFill>
          <a:blip r:embed="rId3" cstate="print"/>
          <a:srcRect/>
          <a:stretch>
            <a:fillRect/>
          </a:stretch>
        </p:blipFill>
        <p:spPr bwMode="auto">
          <a:xfrm>
            <a:off x="228600" y="1447800"/>
            <a:ext cx="8610600" cy="54102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Rot="1" noChangeArrowheads="1"/>
          </p:cNvSpPr>
          <p:nvPr>
            <p:ph idx="1"/>
          </p:nvPr>
        </p:nvSpPr>
        <p:spPr/>
        <p:txBody>
          <a:bodyPr/>
          <a:lstStyle/>
          <a:p>
            <a:pPr>
              <a:lnSpc>
                <a:spcPct val="90000"/>
              </a:lnSpc>
            </a:pPr>
            <a:r>
              <a:rPr lang="en-US"/>
              <a:t>Conservatory or ‘sunspace’</a:t>
            </a:r>
          </a:p>
          <a:p>
            <a:pPr>
              <a:lnSpc>
                <a:spcPct val="90000"/>
              </a:lnSpc>
            </a:pPr>
            <a:r>
              <a:rPr lang="en-US"/>
              <a:t>A conservatory or greenhouse on the south side of a building can be thought of as a kind of habitable solar collector.  Air is the heat transfer fluid, carrying energy into the building behind.  The energy store is the building itself, especially the wall at the back of the conservatory.</a:t>
            </a:r>
          </a:p>
          <a:p>
            <a:pPr>
              <a:lnSpc>
                <a:spcPct val="90000"/>
              </a:lnSpc>
            </a:pPr>
            <a:r>
              <a:rPr lang="en-US"/>
              <a:t>Trombe Wall</a:t>
            </a:r>
          </a:p>
        </p:txBody>
      </p:sp>
      <p:sp>
        <p:nvSpPr>
          <p:cNvPr id="37890" name="Rectangle 2"/>
          <p:cNvSpPr>
            <a:spLocks noGrp="1" noRot="1" noChangeArrowheads="1"/>
          </p:cNvSpPr>
          <p:nvPr>
            <p:ph type="title"/>
          </p:nvPr>
        </p:nvSpPr>
        <p:spPr/>
        <p:txBody>
          <a:bodyPr/>
          <a:lstStyle/>
          <a:p>
            <a:r>
              <a:rPr lang="en-US"/>
              <a:t>Types of Passive systems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Rot="1" noChangeArrowheads="1"/>
          </p:cNvSpPr>
          <p:nvPr>
            <p:ph idx="1"/>
          </p:nvPr>
        </p:nvSpPr>
        <p:spPr/>
        <p:txBody>
          <a:bodyPr/>
          <a:lstStyle/>
          <a:p>
            <a:r>
              <a:rPr lang="en-US"/>
              <a:t>The simplest and most common of all passive solar heating systems.  The sun’s rays penetrate the windows and are absorbed into the interior.</a:t>
            </a:r>
          </a:p>
        </p:txBody>
      </p:sp>
      <p:sp>
        <p:nvSpPr>
          <p:cNvPr id="41986" name="Rectangle 2"/>
          <p:cNvSpPr>
            <a:spLocks noGrp="1" noRot="1" noChangeArrowheads="1"/>
          </p:cNvSpPr>
          <p:nvPr>
            <p:ph type="title"/>
          </p:nvPr>
        </p:nvSpPr>
        <p:spPr/>
        <p:txBody>
          <a:bodyPr/>
          <a:lstStyle/>
          <a:p>
            <a:r>
              <a:rPr lang="en-US"/>
              <a:t>Direct Gain</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Rot="1" noChangeArrowheads="1"/>
          </p:cNvSpPr>
          <p:nvPr>
            <p:ph idx="1"/>
          </p:nvPr>
        </p:nvSpPr>
        <p:spPr/>
        <p:txBody>
          <a:bodyPr/>
          <a:lstStyle/>
          <a:p>
            <a:endParaRPr lang="en-US"/>
          </a:p>
        </p:txBody>
      </p:sp>
      <p:sp>
        <p:nvSpPr>
          <p:cNvPr id="27650" name="Rectangle 2"/>
          <p:cNvSpPr>
            <a:spLocks noGrp="1" noRot="1" noChangeArrowheads="1"/>
          </p:cNvSpPr>
          <p:nvPr>
            <p:ph type="title"/>
          </p:nvPr>
        </p:nvSpPr>
        <p:spPr>
          <a:xfrm>
            <a:off x="457200" y="320040"/>
            <a:ext cx="7239000" cy="670560"/>
          </a:xfrm>
        </p:spPr>
        <p:txBody>
          <a:bodyPr>
            <a:normAutofit fontScale="90000"/>
          </a:bodyPr>
          <a:lstStyle/>
          <a:p>
            <a:r>
              <a:rPr lang="en-US" dirty="0"/>
              <a:t>Active</a:t>
            </a:r>
          </a:p>
        </p:txBody>
      </p:sp>
      <p:pic>
        <p:nvPicPr>
          <p:cNvPr id="27653" name="Picture 5" descr="active%20indirect%20system"/>
          <p:cNvPicPr>
            <a:picLocks noChangeAspect="1" noChangeArrowheads="1"/>
          </p:cNvPicPr>
          <p:nvPr/>
        </p:nvPicPr>
        <p:blipFill>
          <a:blip r:embed="rId3" cstate="print"/>
          <a:srcRect/>
          <a:stretch>
            <a:fillRect/>
          </a:stretch>
        </p:blipFill>
        <p:spPr bwMode="auto">
          <a:xfrm>
            <a:off x="304800" y="1295400"/>
            <a:ext cx="7391400" cy="4561974"/>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Rot="1" noChangeArrowheads="1"/>
          </p:cNvSpPr>
          <p:nvPr>
            <p:ph idx="1"/>
          </p:nvPr>
        </p:nvSpPr>
        <p:spPr/>
        <p:txBody>
          <a:bodyPr/>
          <a:lstStyle/>
          <a:p>
            <a:endParaRPr lang="en-US"/>
          </a:p>
        </p:txBody>
      </p:sp>
      <p:sp>
        <p:nvSpPr>
          <p:cNvPr id="29698" name="Rectangle 2"/>
          <p:cNvSpPr>
            <a:spLocks noGrp="1" noRot="1" noChangeArrowheads="1"/>
          </p:cNvSpPr>
          <p:nvPr>
            <p:ph type="title"/>
          </p:nvPr>
        </p:nvSpPr>
        <p:spPr/>
        <p:txBody>
          <a:bodyPr/>
          <a:lstStyle/>
          <a:p>
            <a:r>
              <a:rPr lang="en-US"/>
              <a:t>Indirect System</a:t>
            </a:r>
          </a:p>
        </p:txBody>
      </p:sp>
      <p:pic>
        <p:nvPicPr>
          <p:cNvPr id="29701" name="Picture 5" descr="closed-loop-freeze-protection-system"/>
          <p:cNvPicPr>
            <a:picLocks noChangeAspect="1" noChangeArrowheads="1"/>
          </p:cNvPicPr>
          <p:nvPr/>
        </p:nvPicPr>
        <p:blipFill>
          <a:blip r:embed="rId3" cstate="print"/>
          <a:srcRect/>
          <a:stretch>
            <a:fillRect/>
          </a:stretch>
        </p:blipFill>
        <p:spPr bwMode="auto">
          <a:xfrm>
            <a:off x="304800" y="1600200"/>
            <a:ext cx="8168640" cy="51054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Rot="1" noChangeArrowheads="1"/>
          </p:cNvSpPr>
          <p:nvPr>
            <p:ph idx="1"/>
          </p:nvPr>
        </p:nvSpPr>
        <p:spPr/>
        <p:txBody>
          <a:bodyPr/>
          <a:lstStyle/>
          <a:p>
            <a:endParaRPr lang="en-US"/>
          </a:p>
        </p:txBody>
      </p:sp>
      <p:sp>
        <p:nvSpPr>
          <p:cNvPr id="31746" name="Rectangle 2"/>
          <p:cNvSpPr>
            <a:spLocks noGrp="1" noRot="1" noChangeArrowheads="1"/>
          </p:cNvSpPr>
          <p:nvPr>
            <p:ph type="title"/>
          </p:nvPr>
        </p:nvSpPr>
        <p:spPr/>
        <p:txBody>
          <a:bodyPr/>
          <a:lstStyle/>
          <a:p>
            <a:r>
              <a:rPr lang="en-US"/>
              <a:t>Direct System</a:t>
            </a:r>
          </a:p>
        </p:txBody>
      </p:sp>
      <p:pic>
        <p:nvPicPr>
          <p:cNvPr id="31749" name="Picture 5" descr="active-open-loop-system"/>
          <p:cNvPicPr>
            <a:picLocks noChangeAspect="1" noChangeArrowheads="1"/>
          </p:cNvPicPr>
          <p:nvPr/>
        </p:nvPicPr>
        <p:blipFill>
          <a:blip r:embed="rId3" cstate="print"/>
          <a:srcRect/>
          <a:stretch>
            <a:fillRect/>
          </a:stretch>
        </p:blipFill>
        <p:spPr bwMode="auto">
          <a:xfrm>
            <a:off x="304800" y="1219200"/>
            <a:ext cx="8534400" cy="54102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Rot="1" noChangeArrowheads="1"/>
          </p:cNvSpPr>
          <p:nvPr>
            <p:ph idx="1"/>
          </p:nvPr>
        </p:nvSpPr>
        <p:spPr>
          <a:xfrm>
            <a:off x="301625" y="1676400"/>
            <a:ext cx="8540750" cy="4800600"/>
          </a:xfrm>
        </p:spPr>
        <p:txBody>
          <a:bodyPr/>
          <a:lstStyle/>
          <a:p>
            <a:pPr>
              <a:lnSpc>
                <a:spcPct val="80000"/>
              </a:lnSpc>
            </a:pPr>
            <a:endParaRPr lang="en-US" sz="2800"/>
          </a:p>
          <a:p>
            <a:pPr>
              <a:lnSpc>
                <a:spcPct val="80000"/>
              </a:lnSpc>
            </a:pPr>
            <a:endParaRPr lang="en-US" sz="2800"/>
          </a:p>
          <a:p>
            <a:pPr>
              <a:lnSpc>
                <a:spcPct val="80000"/>
              </a:lnSpc>
            </a:pPr>
            <a:endParaRPr lang="en-US" sz="2800"/>
          </a:p>
          <a:p>
            <a:pPr>
              <a:lnSpc>
                <a:spcPct val="80000"/>
              </a:lnSpc>
            </a:pPr>
            <a:endParaRPr lang="en-US" sz="2800"/>
          </a:p>
          <a:p>
            <a:pPr>
              <a:lnSpc>
                <a:spcPct val="80000"/>
              </a:lnSpc>
            </a:pPr>
            <a:endParaRPr lang="en-US" sz="2800"/>
          </a:p>
          <a:p>
            <a:pPr>
              <a:lnSpc>
                <a:spcPct val="80000"/>
              </a:lnSpc>
            </a:pPr>
            <a:endParaRPr lang="en-US" sz="2800"/>
          </a:p>
          <a:p>
            <a:pPr>
              <a:lnSpc>
                <a:spcPct val="80000"/>
              </a:lnSpc>
              <a:buFont typeface="Wingdings" pitchFamily="2" charset="2"/>
              <a:buNone/>
            </a:pPr>
            <a:endParaRPr lang="en-US" sz="2800"/>
          </a:p>
          <a:p>
            <a:pPr>
              <a:lnSpc>
                <a:spcPct val="80000"/>
              </a:lnSpc>
              <a:buFont typeface="Wingdings" pitchFamily="2" charset="2"/>
              <a:buNone/>
            </a:pPr>
            <a:endParaRPr lang="en-US" sz="2800"/>
          </a:p>
          <a:p>
            <a:pPr>
              <a:lnSpc>
                <a:spcPct val="80000"/>
              </a:lnSpc>
              <a:buFont typeface="Wingdings" pitchFamily="2" charset="2"/>
              <a:buNone/>
            </a:pPr>
            <a:r>
              <a:rPr lang="en-US" sz="2800"/>
              <a:t>Solar thermal systems also differ by the type of collector used to gather and store the sun’s energy.</a:t>
            </a:r>
          </a:p>
        </p:txBody>
      </p:sp>
      <p:sp>
        <p:nvSpPr>
          <p:cNvPr id="33794" name="Rectangle 2"/>
          <p:cNvSpPr>
            <a:spLocks noGrp="1" noRot="1" noChangeArrowheads="1"/>
          </p:cNvSpPr>
          <p:nvPr>
            <p:ph type="title"/>
          </p:nvPr>
        </p:nvSpPr>
        <p:spPr/>
        <p:txBody>
          <a:bodyPr/>
          <a:lstStyle/>
          <a:p>
            <a:r>
              <a:rPr lang="en-US"/>
              <a:t>Collecting the sun</a:t>
            </a:r>
          </a:p>
        </p:txBody>
      </p:sp>
      <p:pic>
        <p:nvPicPr>
          <p:cNvPr id="33796" name="Picture 4" descr="flat-plate-collector500"/>
          <p:cNvPicPr>
            <a:picLocks noChangeAspect="1" noChangeArrowheads="1"/>
          </p:cNvPicPr>
          <p:nvPr/>
        </p:nvPicPr>
        <p:blipFill>
          <a:blip r:embed="rId3" cstate="print"/>
          <a:srcRect/>
          <a:stretch>
            <a:fillRect/>
          </a:stretch>
        </p:blipFill>
        <p:spPr bwMode="auto">
          <a:xfrm>
            <a:off x="304800" y="1371600"/>
            <a:ext cx="8534400" cy="34290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Rot="1" noChangeArrowheads="1"/>
          </p:cNvSpPr>
          <p:nvPr>
            <p:ph idx="1"/>
          </p:nvPr>
        </p:nvSpPr>
        <p:spPr>
          <a:xfrm>
            <a:off x="301625" y="1295400"/>
            <a:ext cx="8540750" cy="4803775"/>
          </a:xfrm>
        </p:spPr>
        <p:txBody>
          <a:bodyPr/>
          <a:lstStyle/>
          <a:p>
            <a:pPr>
              <a:lnSpc>
                <a:spcPct val="90000"/>
              </a:lnSpc>
              <a:buFont typeface="Wingdings" pitchFamily="2" charset="2"/>
              <a:buNone/>
            </a:pPr>
            <a:r>
              <a:rPr lang="en-US"/>
              <a:t>This technology has been given a lot of attention in recent years in developing countries.  The basic design is that of a box with a glass cover.  The box is lined with insulation and a reflective surface is applied to concentrate the heat onto the pots.  The pots can be painted black to help with heat absorption.  The solar radiation raises the temperature sufficiently to boil the contents in the pots.</a:t>
            </a:r>
          </a:p>
        </p:txBody>
      </p:sp>
      <p:sp>
        <p:nvSpPr>
          <p:cNvPr id="35842" name="Rectangle 2"/>
          <p:cNvSpPr>
            <a:spLocks noGrp="1" noRot="1" noChangeArrowheads="1"/>
          </p:cNvSpPr>
          <p:nvPr>
            <p:ph type="title"/>
          </p:nvPr>
        </p:nvSpPr>
        <p:spPr/>
        <p:txBody>
          <a:bodyPr/>
          <a:lstStyle/>
          <a:p>
            <a:r>
              <a:rPr lang="en-US"/>
              <a:t>Solar cooking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Rot="1" noChangeArrowheads="1"/>
          </p:cNvSpPr>
          <p:nvPr>
            <p:ph idx="1"/>
          </p:nvPr>
        </p:nvSpPr>
        <p:spPr/>
        <p:txBody>
          <a:bodyPr>
            <a:normAutofit lnSpcReduction="10000"/>
          </a:bodyPr>
          <a:lstStyle/>
          <a:p>
            <a:r>
              <a:rPr lang="en-US" sz="2800"/>
              <a:t>Certain guidelines that should be followed:</a:t>
            </a:r>
          </a:p>
          <a:p>
            <a:r>
              <a:rPr lang="en-US" sz="2800"/>
              <a:t>A building should have large areas of glazing facing the sun to maximize solar gain.</a:t>
            </a:r>
          </a:p>
          <a:p>
            <a:r>
              <a:rPr lang="en-US" sz="2800"/>
              <a:t>Features should be included to regulate heat intake to prevent overheating.</a:t>
            </a:r>
          </a:p>
          <a:p>
            <a:r>
              <a:rPr lang="en-US" sz="2800"/>
              <a:t>A building should be of sufficient mass to allow heat storage for the required period.</a:t>
            </a:r>
          </a:p>
          <a:p>
            <a:r>
              <a:rPr lang="en-US" sz="2800"/>
              <a:t>Contain features which promote the even distribution of heat throughout the building.</a:t>
            </a:r>
          </a:p>
        </p:txBody>
      </p:sp>
      <p:sp>
        <p:nvSpPr>
          <p:cNvPr id="44034" name="Rectangle 2"/>
          <p:cNvSpPr>
            <a:spLocks noGrp="1" noRot="1" noChangeArrowheads="1"/>
          </p:cNvSpPr>
          <p:nvPr>
            <p:ph type="title"/>
          </p:nvPr>
        </p:nvSpPr>
        <p:spPr/>
        <p:txBody>
          <a:bodyPr/>
          <a:lstStyle/>
          <a:p>
            <a:r>
              <a:rPr lang="en-US"/>
              <a:t>Space heating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Rot="1" noChangeArrowheads="1"/>
          </p:cNvSpPr>
          <p:nvPr>
            <p:ph idx="1"/>
          </p:nvPr>
        </p:nvSpPr>
        <p:spPr/>
        <p:txBody>
          <a:bodyPr/>
          <a:lstStyle/>
          <a:p>
            <a:pPr>
              <a:buFont typeface="Wingdings" pitchFamily="2" charset="2"/>
              <a:buNone/>
            </a:pPr>
            <a:r>
              <a:rPr lang="en-US"/>
              <a:t>A massive black painted wall that has a double glazed skin to prevent captured heat from escaping.  The wall is vented to allow the warm air to enter the room at high level and cool air to enter the cavity between the wall and the glazing.  Heat stored during the day is radiated into the room during the night.</a:t>
            </a:r>
          </a:p>
        </p:txBody>
      </p:sp>
      <p:sp>
        <p:nvSpPr>
          <p:cNvPr id="46082" name="Rectangle 2"/>
          <p:cNvSpPr>
            <a:spLocks noGrp="1" noRot="1" noChangeArrowheads="1"/>
          </p:cNvSpPr>
          <p:nvPr>
            <p:ph type="title"/>
          </p:nvPr>
        </p:nvSpPr>
        <p:spPr/>
        <p:txBody>
          <a:bodyPr/>
          <a:lstStyle/>
          <a:p>
            <a:r>
              <a:rPr lang="en-US"/>
              <a:t>Trombe wall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Rot="1" noChangeArrowheads="1"/>
          </p:cNvSpPr>
          <p:nvPr>
            <p:ph idx="1"/>
          </p:nvPr>
        </p:nvSpPr>
        <p:spPr/>
        <p:txBody>
          <a:bodyPr/>
          <a:lstStyle/>
          <a:p>
            <a:pPr>
              <a:lnSpc>
                <a:spcPct val="90000"/>
              </a:lnSpc>
              <a:buFont typeface="Wingdings" pitchFamily="2" charset="2"/>
              <a:buNone/>
            </a:pPr>
            <a:r>
              <a:rPr lang="en-US"/>
              <a:t>A simple and obvious use for solar energy is to provide light for use in buildings.  Many modern buildings, office blocks and commercial premises are designed in such a way that electric light has to be provided during the daytime to provide sufficient light.  An obvious improvement would be to design building in such a way that the light of the sun can be used for this purpose.</a:t>
            </a:r>
          </a:p>
        </p:txBody>
      </p:sp>
      <p:sp>
        <p:nvSpPr>
          <p:cNvPr id="48130" name="Rectangle 2"/>
          <p:cNvSpPr>
            <a:spLocks noGrp="1" noRot="1" noChangeArrowheads="1"/>
          </p:cNvSpPr>
          <p:nvPr>
            <p:ph type="title"/>
          </p:nvPr>
        </p:nvSpPr>
        <p:spPr/>
        <p:txBody>
          <a:bodyPr/>
          <a:lstStyle/>
          <a:p>
            <a:r>
              <a:rPr lang="en-US"/>
              <a:t>Daylighting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algn="just"/>
            <a:r>
              <a:rPr lang="en-US" dirty="0" smtClean="0">
                <a:latin typeface="Times New Roman" pitchFamily="18" charset="0"/>
                <a:cs typeface="Times New Roman" pitchFamily="18" charset="0"/>
              </a:rPr>
              <a:t>Several researchers have experimented with various design parameters on solar stills to optimize the distillate. </a:t>
            </a:r>
          </a:p>
          <a:p>
            <a:pPr algn="just"/>
            <a:r>
              <a:rPr lang="en-US" dirty="0" smtClean="0">
                <a:latin typeface="Times New Roman" pitchFamily="18" charset="0"/>
                <a:cs typeface="Times New Roman" pitchFamily="18" charset="0"/>
              </a:rPr>
              <a:t>It has been observed that various design/operating parameters affect productivity and efficiency such as angle of solar radiation, angle of inclination, cover plate </a:t>
            </a:r>
            <a:r>
              <a:rPr lang="en-US" dirty="0" err="1" smtClean="0">
                <a:latin typeface="Times New Roman" pitchFamily="18" charset="0"/>
                <a:cs typeface="Times New Roman" pitchFamily="18" charset="0"/>
              </a:rPr>
              <a:t>transmissivity</a:t>
            </a:r>
            <a:r>
              <a:rPr lang="en-US" dirty="0" smtClean="0">
                <a:latin typeface="Times New Roman" pitchFamily="18" charset="0"/>
                <a:cs typeface="Times New Roman" pitchFamily="18" charset="0"/>
              </a:rPr>
              <a:t>, depth of water, wind velocity, basin surface </a:t>
            </a:r>
            <a:r>
              <a:rPr lang="en-US" dirty="0" err="1" smtClean="0">
                <a:latin typeface="Times New Roman" pitchFamily="18" charset="0"/>
                <a:cs typeface="Times New Roman" pitchFamily="18" charset="0"/>
              </a:rPr>
              <a:t>absorptivity</a:t>
            </a:r>
            <a:r>
              <a:rPr lang="en-US" dirty="0" smtClean="0">
                <a:latin typeface="Times New Roman" pitchFamily="18" charset="0"/>
                <a:cs typeface="Times New Roman" pitchFamily="18" charset="0"/>
              </a:rPr>
              <a:t>, flow rate, convective heat transfer coefficient, insulation of wall of basin, and so on. </a:t>
            </a:r>
          </a:p>
          <a:p>
            <a:pPr algn="just"/>
            <a:r>
              <a:rPr lang="en-US" dirty="0" smtClean="0">
                <a:latin typeface="Times New Roman" pitchFamily="18" charset="0"/>
                <a:cs typeface="Times New Roman" pitchFamily="18" charset="0"/>
              </a:rPr>
              <a:t>These parameters help to modify and design solar desalination to be more productive. The present study refers to the evaluation of various design parameters for simple solar stills impacting yielding rate and heat transmission characteristics. </a:t>
            </a:r>
          </a:p>
          <a:p>
            <a:pPr algn="just"/>
            <a:r>
              <a:rPr lang="en-US" dirty="0" smtClean="0">
                <a:latin typeface="Times New Roman" pitchFamily="18" charset="0"/>
                <a:cs typeface="Times New Roman" pitchFamily="18" charset="0"/>
              </a:rPr>
              <a:t>The observations for the utility indicators and performance comparisons of several solar stills have been mentioned along with the significant interpretations, and finally, recommendations for future improvement of the novel concepts were also made in the proposed work.</a:t>
            </a:r>
            <a:endParaRPr lang="en-US" dirty="0">
              <a:latin typeface="Times New Roman" pitchFamily="18" charset="0"/>
              <a:cs typeface="Times New Roman" pitchFamily="18" charset="0"/>
            </a:endParaRPr>
          </a:p>
        </p:txBody>
      </p:sp>
      <p:sp>
        <p:nvSpPr>
          <p:cNvPr id="2" name="Title 1"/>
          <p:cNvSpPr>
            <a:spLocks noGrp="1"/>
          </p:cNvSpPr>
          <p:nvPr>
            <p:ph type="title"/>
          </p:nvPr>
        </p:nvSpPr>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685800" y="1219200"/>
            <a:ext cx="7614485" cy="46482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914400"/>
            <a:ext cx="8229600" cy="5791200"/>
          </a:xfrm>
        </p:spPr>
        <p:txBody>
          <a:bodyPr>
            <a:normAutofit fontScale="40000" lnSpcReduction="20000"/>
          </a:bodyPr>
          <a:lstStyle/>
          <a:p>
            <a:r>
              <a:rPr lang="en-US" sz="5000" b="1" dirty="0" smtClean="0"/>
              <a:t>Low Operating Costs</a:t>
            </a:r>
            <a:r>
              <a:rPr lang="en-US" sz="5000" dirty="0" smtClean="0"/>
              <a:t>: </a:t>
            </a:r>
          </a:p>
          <a:p>
            <a:pPr fontAlgn="ctr"/>
            <a:r>
              <a:rPr lang="en-US" sz="5000" dirty="0" smtClean="0"/>
              <a:t>After the initial setup, solar energy is free, resulting in significantly lower operational costs compared to conventional systems that rely on paid energy sources. </a:t>
            </a:r>
          </a:p>
          <a:p>
            <a:r>
              <a:rPr lang="en-US" sz="5000" b="1" dirty="0" smtClean="0"/>
              <a:t>Renewable Energy Source</a:t>
            </a:r>
            <a:r>
              <a:rPr lang="en-US" sz="5000" dirty="0" smtClean="0"/>
              <a:t>: </a:t>
            </a:r>
          </a:p>
          <a:p>
            <a:pPr fontAlgn="ctr"/>
            <a:r>
              <a:rPr lang="en-US" sz="5000" dirty="0" smtClean="0"/>
              <a:t>Solar energy is a clean, renewable resource, which minimizes the reliance on fossil fuels and reduces the system's carbon footprint and environmental impact. </a:t>
            </a:r>
          </a:p>
          <a:p>
            <a:r>
              <a:rPr lang="en-US" sz="5000" b="1" dirty="0" smtClean="0"/>
              <a:t>Environmental Benefits</a:t>
            </a:r>
            <a:r>
              <a:rPr lang="en-US" sz="5000" dirty="0" smtClean="0"/>
              <a:t>: </a:t>
            </a:r>
          </a:p>
          <a:p>
            <a:pPr fontAlgn="ctr"/>
            <a:r>
              <a:rPr lang="en-US" sz="5000" dirty="0" smtClean="0"/>
              <a:t>By using solar power, these systems reduce air pollution and greenhouse gas emissions associated with other energy-intensive desalination methods. </a:t>
            </a:r>
          </a:p>
          <a:p>
            <a:r>
              <a:rPr lang="en-US" sz="5000" b="1" dirty="0" smtClean="0"/>
              <a:t>Independent and Reliable Water Supply</a:t>
            </a:r>
            <a:r>
              <a:rPr lang="en-US" sz="5000" dirty="0" smtClean="0"/>
              <a:t>: </a:t>
            </a:r>
          </a:p>
          <a:p>
            <a:pPr fontAlgn="ctr"/>
            <a:r>
              <a:rPr lang="en-US" sz="5000" dirty="0" smtClean="0"/>
              <a:t>Solar desalination is particularly beneficial for remote areas and small islands, providing an independent and reliable source of freshwater where grid-based power may be unavailable or unreliable. </a:t>
            </a:r>
          </a:p>
          <a:p>
            <a:r>
              <a:rPr lang="en-US" sz="5000" b="1" dirty="0" smtClean="0"/>
              <a:t>Simple Design and Maintenance</a:t>
            </a:r>
            <a:r>
              <a:rPr lang="en-US" sz="5000" dirty="0" smtClean="0"/>
              <a:t>: </a:t>
            </a:r>
          </a:p>
          <a:p>
            <a:r>
              <a:rPr lang="en-US" sz="5000" dirty="0" smtClean="0"/>
              <a:t>Simple solar distillers can be easy to design, install, and operate, and their passive nature often requires less complex infrastructure and lower maintenance. </a:t>
            </a:r>
          </a:p>
          <a:p>
            <a:endParaRPr lang="en-US" sz="5000" dirty="0" smtClean="0"/>
          </a:p>
          <a:p>
            <a:endParaRPr lang="en-US" sz="5000" dirty="0" smtClean="0"/>
          </a:p>
          <a:p>
            <a:endParaRPr lang="en-US" sz="5000" dirty="0" smtClean="0"/>
          </a:p>
          <a:p>
            <a:endParaRPr lang="en-US" dirty="0"/>
          </a:p>
        </p:txBody>
      </p:sp>
      <p:sp>
        <p:nvSpPr>
          <p:cNvPr id="3" name="Title 2"/>
          <p:cNvSpPr>
            <a:spLocks noGrp="1"/>
          </p:cNvSpPr>
          <p:nvPr>
            <p:ph type="title"/>
          </p:nvPr>
        </p:nvSpPr>
        <p:spPr>
          <a:xfrm>
            <a:off x="457200" y="274638"/>
            <a:ext cx="8229600" cy="792162"/>
          </a:xfrm>
        </p:spPr>
        <p:txBody>
          <a:bodyPr>
            <a:noAutofit/>
          </a:bodyPr>
          <a:lstStyle/>
          <a:p>
            <a:r>
              <a:rPr lang="en-US" sz="2800" dirty="0" smtClean="0">
                <a:solidFill>
                  <a:srgbClr val="00B0F0"/>
                </a:solidFill>
              </a:rPr>
              <a:t>ADVANTAGES OF SOLAR DESALINATION</a:t>
            </a:r>
            <a:br>
              <a:rPr lang="en-US" sz="2800" dirty="0" smtClean="0">
                <a:solidFill>
                  <a:srgbClr val="00B0F0"/>
                </a:solidFill>
              </a:rPr>
            </a:br>
            <a:endParaRPr lang="en-US" sz="2800" dirty="0">
              <a:solidFill>
                <a:srgbClr val="00B0F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r>
              <a:rPr lang="en-US" b="1" dirty="0" smtClean="0"/>
              <a:t>High Upfront Costs</a:t>
            </a:r>
            <a:r>
              <a:rPr lang="en-US" dirty="0" smtClean="0"/>
              <a:t>: </a:t>
            </a:r>
          </a:p>
          <a:p>
            <a:pPr fontAlgn="ctr"/>
            <a:r>
              <a:rPr lang="en-US" dirty="0" smtClean="0"/>
              <a:t>The initial capital investment for purchasing and setting up solar desalination equipment can be high. </a:t>
            </a:r>
          </a:p>
          <a:p>
            <a:r>
              <a:rPr lang="en-US" b="1" dirty="0" smtClean="0"/>
              <a:t>Low Water Production Volume</a:t>
            </a:r>
            <a:r>
              <a:rPr lang="en-US" dirty="0" smtClean="0"/>
              <a:t>: </a:t>
            </a:r>
          </a:p>
          <a:p>
            <a:pPr fontAlgn="ctr"/>
            <a:r>
              <a:rPr lang="en-US" dirty="0" smtClean="0"/>
              <a:t>Simple solar distillation systems, while low-cost to operate, typically have a limited water production capacity per unit area. </a:t>
            </a:r>
          </a:p>
          <a:p>
            <a:r>
              <a:rPr lang="en-US" b="1" dirty="0" smtClean="0"/>
              <a:t>Large Land Occupancy</a:t>
            </a:r>
            <a:r>
              <a:rPr lang="en-US" dirty="0" smtClean="0"/>
              <a:t>: </a:t>
            </a:r>
          </a:p>
          <a:p>
            <a:pPr fontAlgn="ctr"/>
            <a:r>
              <a:rPr lang="en-US" dirty="0" smtClean="0"/>
              <a:t>For passive solar distillers, a significant amount of space is required to achieve a substantial daily output of freshwater. </a:t>
            </a:r>
          </a:p>
          <a:p>
            <a:r>
              <a:rPr lang="en-US" b="1" dirty="0" smtClean="0"/>
              <a:t>Dependence on Solar Radiation</a:t>
            </a:r>
            <a:r>
              <a:rPr lang="en-US" dirty="0" smtClean="0"/>
              <a:t>: </a:t>
            </a:r>
          </a:p>
          <a:p>
            <a:pPr fontAlgn="ctr"/>
            <a:r>
              <a:rPr lang="en-US" dirty="0" smtClean="0"/>
              <a:t>The system's efficiency and water output are directly dependent on the availability and intensity of solar radiation, meaning performance can vary significantly with different climates and weather conditions. </a:t>
            </a:r>
          </a:p>
          <a:p>
            <a:r>
              <a:rPr lang="en-US" b="1" dirty="0" smtClean="0"/>
              <a:t>Intermittent Nature</a:t>
            </a:r>
            <a:r>
              <a:rPr lang="en-US" dirty="0" smtClean="0"/>
              <a:t>: </a:t>
            </a:r>
          </a:p>
          <a:p>
            <a:r>
              <a:rPr lang="en-US" dirty="0" smtClean="0"/>
              <a:t>Solar energy is intermittent, which means that the system may not operate continuously, especially in areas with short daylight hours or cloudy weather. </a:t>
            </a:r>
          </a:p>
          <a:p>
            <a:endParaRPr lang="en-US" dirty="0"/>
          </a:p>
        </p:txBody>
      </p:sp>
      <p:sp>
        <p:nvSpPr>
          <p:cNvPr id="3" name="Title 2"/>
          <p:cNvSpPr>
            <a:spLocks noGrp="1"/>
          </p:cNvSpPr>
          <p:nvPr>
            <p:ph type="title"/>
          </p:nvPr>
        </p:nvSpPr>
        <p:spPr/>
        <p:txBody>
          <a:bodyPr>
            <a:normAutofit fontScale="90000"/>
          </a:bodyPr>
          <a:lstStyle/>
          <a:p>
            <a:r>
              <a:rPr lang="en-US" sz="3100" dirty="0" smtClean="0">
                <a:solidFill>
                  <a:srgbClr val="00B0F0"/>
                </a:solidFill>
              </a:rPr>
              <a:t>DISADVANTAGES OF SOLAR DESALINATION</a:t>
            </a:r>
            <a:r>
              <a:rPr lang="en-US" dirty="0" smtClean="0"/>
              <a:t/>
            </a:r>
            <a:br>
              <a:rPr lang="en-US" dirty="0" smtClean="0"/>
            </a:b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715000"/>
          </a:xfrm>
        </p:spPr>
        <p:txBody>
          <a:bodyPr>
            <a:noAutofit/>
          </a:bodyPr>
          <a:lstStyle/>
          <a:p>
            <a:r>
              <a:rPr lang="en-US" sz="2000" b="1" cap="all" dirty="0" smtClean="0">
                <a:latin typeface="Times New Roman" pitchFamily="18" charset="0"/>
                <a:cs typeface="Times New Roman" pitchFamily="18" charset="0"/>
              </a:rPr>
              <a:t>Advantages of using solar power for water treatment systems</a:t>
            </a:r>
          </a:p>
          <a:p>
            <a:r>
              <a:rPr lang="en-US" sz="2000" dirty="0" smtClean="0">
                <a:latin typeface="Times New Roman" pitchFamily="18" charset="0"/>
                <a:cs typeface="Times New Roman" pitchFamily="18" charset="0"/>
              </a:rPr>
              <a:t>Off-grid capabilities allow for remote installation</a:t>
            </a:r>
          </a:p>
          <a:p>
            <a:r>
              <a:rPr lang="en-US" sz="2000" dirty="0" smtClean="0">
                <a:latin typeface="Times New Roman" pitchFamily="18" charset="0"/>
                <a:cs typeface="Times New Roman" pitchFamily="18" charset="0"/>
              </a:rPr>
              <a:t>Lower operating costs compared with fossil fuel powered systems</a:t>
            </a:r>
          </a:p>
          <a:p>
            <a:r>
              <a:rPr lang="en-US" sz="2000" dirty="0" smtClean="0">
                <a:latin typeface="Times New Roman" pitchFamily="18" charset="0"/>
                <a:cs typeface="Times New Roman" pitchFamily="18" charset="0"/>
              </a:rPr>
              <a:t>Reduced maintenance costs</a:t>
            </a:r>
          </a:p>
          <a:p>
            <a:r>
              <a:rPr lang="en-US" sz="2000" dirty="0" err="1" smtClean="0">
                <a:latin typeface="Times New Roman" pitchFamily="18" charset="0"/>
                <a:cs typeface="Times New Roman" pitchFamily="18" charset="0"/>
              </a:rPr>
              <a:t>Localised</a:t>
            </a:r>
            <a:r>
              <a:rPr lang="en-US" sz="2000" dirty="0" smtClean="0">
                <a:latin typeface="Times New Roman" pitchFamily="18" charset="0"/>
                <a:cs typeface="Times New Roman" pitchFamily="18" charset="0"/>
              </a:rPr>
              <a:t> power generation (reduced transmission lines)</a:t>
            </a:r>
          </a:p>
          <a:p>
            <a:r>
              <a:rPr lang="en-US" sz="2000" dirty="0" smtClean="0">
                <a:latin typeface="Times New Roman" pitchFamily="18" charset="0"/>
                <a:cs typeface="Times New Roman" pitchFamily="18" charset="0"/>
              </a:rPr>
              <a:t>High solar irradiation near equator reduces solar array footprint</a:t>
            </a:r>
          </a:p>
          <a:p>
            <a:r>
              <a:rPr lang="en-US" sz="2000" b="1" cap="all" dirty="0" smtClean="0">
                <a:latin typeface="Times New Roman" pitchFamily="18" charset="0"/>
                <a:cs typeface="Times New Roman" pitchFamily="18" charset="0"/>
              </a:rPr>
              <a:t>Disadvantages of using solar power for water treatment systems</a:t>
            </a:r>
          </a:p>
          <a:p>
            <a:r>
              <a:rPr lang="en-US" sz="2000" dirty="0" smtClean="0">
                <a:latin typeface="Times New Roman" pitchFamily="18" charset="0"/>
                <a:cs typeface="Times New Roman" pitchFamily="18" charset="0"/>
              </a:rPr>
              <a:t>Reduced output during cloudy days</a:t>
            </a:r>
          </a:p>
          <a:p>
            <a:r>
              <a:rPr lang="en-US" sz="2000" dirty="0" smtClean="0">
                <a:latin typeface="Times New Roman" pitchFamily="18" charset="0"/>
                <a:cs typeface="Times New Roman" pitchFamily="18" charset="0"/>
              </a:rPr>
              <a:t>Higher capital costs compared with fossil fuel powered systems</a:t>
            </a:r>
          </a:p>
          <a:p>
            <a:r>
              <a:rPr lang="en-US" sz="2000" dirty="0" smtClean="0">
                <a:latin typeface="Times New Roman" pitchFamily="18" charset="0"/>
                <a:cs typeface="Times New Roman" pitchFamily="18" charset="0"/>
              </a:rPr>
              <a:t>Fewer operating hours per day than fossil fuel powered systems</a:t>
            </a:r>
          </a:p>
          <a:p>
            <a:r>
              <a:rPr lang="en-US" sz="2000" dirty="0" smtClean="0">
                <a:latin typeface="Times New Roman" pitchFamily="18" charset="0"/>
                <a:cs typeface="Times New Roman" pitchFamily="18" charset="0"/>
              </a:rPr>
              <a:t>Water treatment system will have larger hourly capacity to achieve required daily production</a:t>
            </a:r>
          </a:p>
          <a:p>
            <a:r>
              <a:rPr lang="en-US" sz="2000" dirty="0" smtClean="0">
                <a:latin typeface="Times New Roman" pitchFamily="18" charset="0"/>
                <a:cs typeface="Times New Roman" pitchFamily="18" charset="0"/>
              </a:rPr>
              <a:t>Low solar irradiation further from equator increases solar array footprint</a:t>
            </a:r>
          </a:p>
          <a:p>
            <a:endParaRPr lang="en-US" sz="20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p:txBody>
          <a:bodyPr>
            <a:normAutofit fontScale="97500"/>
          </a:bodyPr>
          <a:lstStyle/>
          <a:p>
            <a:pPr algn="just"/>
            <a:r>
              <a:rPr lang="en-US" sz="2400" u="sng" dirty="0" err="1" smtClean="0"/>
              <a:t>Murugavel</a:t>
            </a:r>
            <a:r>
              <a:rPr lang="en-US" sz="2400" u="sng" dirty="0" smtClean="0"/>
              <a:t> </a:t>
            </a:r>
            <a:r>
              <a:rPr lang="en-US" sz="2400" i="1" u="sng" dirty="0" smtClean="0"/>
              <a:t>et al.</a:t>
            </a:r>
            <a:r>
              <a:rPr lang="en-US" sz="2400" u="sng" dirty="0" smtClean="0"/>
              <a:t> (2010)</a:t>
            </a:r>
            <a:r>
              <a:rPr lang="en-US" sz="2400" dirty="0" smtClean="0"/>
              <a:t>,</a:t>
            </a:r>
            <a:r>
              <a:rPr lang="en-US" sz="2100" dirty="0" smtClean="0">
                <a:latin typeface="Times New Roman" pitchFamily="18" charset="0"/>
                <a:cs typeface="Times New Roman" pitchFamily="18" charset="0"/>
              </a:rPr>
              <a:t>Although it operates similarly to single-slope solar stills (SSSS), a double-slope solar still (DSSS) has two glasses to cover the top that increase the condensation surface area for condensation of the rising vapor inside the still. The DSCSS has a more productive rate of fresh water with effective condensation, as shown in </a:t>
            </a:r>
            <a:r>
              <a:rPr lang="en-US" sz="2100" u="sng" dirty="0" smtClean="0">
                <a:latin typeface="Times New Roman" pitchFamily="18" charset="0"/>
                <a:cs typeface="Times New Roman" pitchFamily="18" charset="0"/>
              </a:rPr>
              <a:t>Figure 2</a:t>
            </a:r>
          </a:p>
          <a:p>
            <a:pPr algn="just"/>
            <a:r>
              <a:rPr lang="en-US" sz="2100" dirty="0" smtClean="0">
                <a:latin typeface="Times New Roman" pitchFamily="18" charset="0"/>
                <a:cs typeface="Times New Roman" pitchFamily="18" charset="0"/>
              </a:rPr>
              <a:t>The double slope of the cover plate explores more surface area on a specific inclination to be more efficient. Condensation on the cover surface is enhanced with a large surface area.</a:t>
            </a:r>
            <a:endParaRPr lang="en-US" sz="2100" u="sng" dirty="0" smtClean="0">
              <a:latin typeface="Times New Roman" pitchFamily="18" charset="0"/>
              <a:cs typeface="Times New Roman" pitchFamily="18" charset="0"/>
            </a:endParaRPr>
          </a:p>
          <a:p>
            <a:pPr algn="just">
              <a:buNone/>
            </a:pPr>
            <a:r>
              <a:rPr lang="en-US" sz="2100" u="sng" dirty="0" smtClean="0">
                <a:latin typeface="Times New Roman" pitchFamily="18" charset="0"/>
                <a:cs typeface="Times New Roman" pitchFamily="18" charset="0"/>
              </a:rPr>
              <a:t> </a:t>
            </a:r>
            <a:r>
              <a:rPr lang="en-US" dirty="0" smtClean="0"/>
              <a:t/>
            </a:r>
            <a:br>
              <a:rPr lang="en-US" dirty="0" smtClean="0"/>
            </a:br>
            <a:endParaRPr lang="en-US" dirty="0"/>
          </a:p>
        </p:txBody>
      </p:sp>
      <p:sp>
        <p:nvSpPr>
          <p:cNvPr id="2" name="Title 1"/>
          <p:cNvSpPr>
            <a:spLocks noGrp="1"/>
          </p:cNvSpPr>
          <p:nvPr>
            <p:ph type="title"/>
          </p:nvPr>
        </p:nvSpPr>
        <p:spPr/>
        <p:txBody>
          <a:bodyPr>
            <a:normAutofit fontScale="90000"/>
          </a:bodyPr>
          <a:lstStyle/>
          <a:p>
            <a:r>
              <a:rPr lang="en-US" dirty="0" smtClean="0"/>
              <a:t/>
            </a:r>
            <a:br>
              <a:rPr lang="en-US" dirty="0" smtClean="0"/>
            </a:br>
            <a:r>
              <a:rPr lang="en-US" sz="4400" dirty="0" smtClean="0"/>
              <a:t> </a:t>
            </a:r>
            <a:r>
              <a:rPr lang="en-US" sz="3100" dirty="0" smtClean="0"/>
              <a:t>OBSERVATION OF ENHANCED PARAMETERS    </a:t>
            </a:r>
            <a:br>
              <a:rPr lang="en-US" sz="3100" dirty="0" smtClean="0"/>
            </a:br>
            <a:r>
              <a:rPr lang="en-US" sz="3100" dirty="0" smtClean="0"/>
              <a:t>   FOR CONVENTIONAL SOLAR STILL </a:t>
            </a:r>
            <a:r>
              <a:rPr lang="en-US" dirty="0" smtClean="0"/>
              <a:t/>
            </a:r>
            <a:br>
              <a:rPr lang="en-US" dirty="0" smtClean="0"/>
            </a:br>
            <a:r>
              <a:rPr lang="en-US" dirty="0" smtClean="0"/>
              <a:t/>
            </a:r>
            <a:br>
              <a:rPr lang="en-US" dirty="0" smtClean="0"/>
            </a:br>
            <a:endParaRPr lang="en-US" sz="3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tretch>
            <a:fillRect/>
          </a:stretch>
        </p:blipFill>
        <p:spPr bwMode="auto">
          <a:xfrm>
            <a:off x="1299705" y="2091300"/>
            <a:ext cx="6544589" cy="3305637"/>
          </a:xfrm>
          <a:prstGeom prst="rect">
            <a:avLst/>
          </a:prstGeom>
          <a:noFill/>
          <a:ln w="9525">
            <a:noFill/>
            <a:miter lim="800000"/>
            <a:headEnd/>
            <a:tailEnd/>
          </a:ln>
          <a:effectLst/>
        </p:spPr>
      </p:pic>
      <p:sp>
        <p:nvSpPr>
          <p:cNvPr id="2" name="Title 1"/>
          <p:cNvSpPr>
            <a:spLocks noGrp="1"/>
          </p:cNvSpPr>
          <p:nvPr>
            <p:ph type="title"/>
          </p:nvPr>
        </p:nvSpPr>
        <p:spPr/>
        <p:txBody>
          <a:bodyPr>
            <a:normAutofit fontScale="90000"/>
          </a:bodyPr>
          <a:lstStyle/>
          <a:p>
            <a:r>
              <a:rPr lang="en-US" b="0" dirty="0" smtClean="0"/>
              <a:t>Double-slope collector solar still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Designed a double-slope solar still with an outer surface of mild steel and observed the performance of the system with a level of water and various heat-sensible storage materials, including quartzite rock, concrete cement pieces, red brick-washed stones, and iron scraps. They concluded that the basin material was quartzite rock that was still only an inch thick. Additionally, the temperature of the glass and water as well as the production rate was negatively impacted by the still's capacity and materials. In Ghaziabad, India (2840° N, 7725° E).</a:t>
            </a:r>
          </a:p>
          <a:p>
            <a:pPr algn="just"/>
            <a:endParaRPr lang="en-US" sz="2000" dirty="0" smtClean="0">
              <a:latin typeface="Times New Roman" pitchFamily="18" charset="0"/>
              <a:cs typeface="Times New Roman" pitchFamily="18" charset="0"/>
            </a:endParaRPr>
          </a:p>
          <a:p>
            <a:pPr algn="just"/>
            <a:r>
              <a:rPr lang="en-US" sz="2000" dirty="0" smtClean="0">
                <a:solidFill>
                  <a:schemeClr val="tx2"/>
                </a:solidFill>
                <a:latin typeface="Times New Roman" pitchFamily="18" charset="0"/>
                <a:cs typeface="Times New Roman" pitchFamily="18" charset="0"/>
                <a:hlinkClick r:id="rId2"/>
              </a:rPr>
              <a:t>https://iwaponline.com/aqua/article/73/2/239/100032/Impact-of-various-design-parameters-on-solar-still</a:t>
            </a:r>
            <a:endParaRPr lang="en-US" sz="2000" dirty="0" smtClean="0">
              <a:solidFill>
                <a:schemeClr val="tx2"/>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lgn="just"/>
            <a:r>
              <a:rPr lang="en-US" sz="2000" dirty="0" smtClean="0">
                <a:latin typeface="Times New Roman" pitchFamily="18" charset="0"/>
                <a:cs typeface="Times New Roman" pitchFamily="18" charset="0"/>
              </a:rPr>
              <a:t>A solar desalination system with a basin top cover in the shape of a pyramid is referred to as a pyramid collector solar water still. In comparison to classic type stills, it still has a larger evaporation surface for the same basin area, increasing the productivity of the particular still. </a:t>
            </a:r>
          </a:p>
          <a:p>
            <a:pPr algn="just"/>
            <a:r>
              <a:rPr lang="en-US" sz="2000" dirty="0" smtClean="0">
                <a:latin typeface="Times New Roman" pitchFamily="18" charset="0"/>
                <a:cs typeface="Times New Roman" pitchFamily="18" charset="0"/>
              </a:rPr>
              <a:t>The pyramid collector solar still (PCSS) may be improved by altering the height, orientation angle, and other particulars of the pyramid still's top cover. As seen in </a:t>
            </a:r>
            <a:r>
              <a:rPr lang="en-US" sz="2000" u="sng" dirty="0" smtClean="0">
                <a:latin typeface="Times New Roman" pitchFamily="18" charset="0"/>
                <a:cs typeface="Times New Roman" pitchFamily="18" charset="0"/>
              </a:rPr>
              <a:t>Figure 3</a:t>
            </a:r>
            <a:r>
              <a:rPr lang="en-US" sz="2000" dirty="0" smtClean="0">
                <a:latin typeface="Times New Roman" pitchFamily="18" charset="0"/>
                <a:cs typeface="Times New Roman" pitchFamily="18" charset="0"/>
              </a:rPr>
              <a:t>, </a:t>
            </a:r>
            <a:r>
              <a:rPr lang="en-US" sz="2000" u="sng" dirty="0" err="1" smtClean="0">
                <a:latin typeface="Times New Roman" pitchFamily="18" charset="0"/>
                <a:cs typeface="Times New Roman" pitchFamily="18" charset="0"/>
              </a:rPr>
              <a:t>Kabeel</a:t>
            </a:r>
            <a:r>
              <a:rPr lang="en-US" sz="2000" u="sng" dirty="0" smtClean="0">
                <a:latin typeface="Times New Roman" pitchFamily="18" charset="0"/>
                <a:cs typeface="Times New Roman" pitchFamily="18" charset="0"/>
              </a:rPr>
              <a:t> (2009)</a:t>
            </a:r>
            <a:r>
              <a:rPr lang="en-US" sz="2000" dirty="0" smtClean="0">
                <a:latin typeface="Times New Roman" pitchFamily="18" charset="0"/>
                <a:cs typeface="Times New Roman" pitchFamily="18" charset="0"/>
              </a:rPr>
              <a:t> carried out an experiment using a PCSS concave simply wick still. It can collect more solar thermal energy and produce more reflections since it has a larger surface area. </a:t>
            </a:r>
          </a:p>
          <a:p>
            <a:pPr algn="just"/>
            <a:r>
              <a:rPr lang="en-US" sz="2000" dirty="0" smtClean="0">
                <a:latin typeface="Times New Roman" pitchFamily="18" charset="0"/>
                <a:cs typeface="Times New Roman" pitchFamily="18" charset="0"/>
              </a:rPr>
              <a:t>The still basin had a basin area of 1.2 × 1.2 m</a:t>
            </a:r>
            <a:r>
              <a:rPr lang="en-US" sz="2000" baseline="30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rPr>
              <a:t>, a water depth of 10 cm, and a top glass cover that was angled at a 45° angle. Because it produces a thin layer of water for evaporation, which results in more evaporation and better yielding condensation, concave jute wick achieved better results than simple PCSS. </a:t>
            </a:r>
            <a:endParaRPr lang="en-US" sz="20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l="14346" r="4359"/>
          <a:stretch>
            <a:fillRect/>
          </a:stretch>
        </p:blipFill>
        <p:spPr bwMode="auto">
          <a:xfrm>
            <a:off x="228600" y="457200"/>
            <a:ext cx="4764690" cy="30480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cstate="print"/>
          <a:srcRect/>
          <a:stretch>
            <a:fillRect/>
          </a:stretch>
        </p:blipFill>
        <p:spPr bwMode="auto">
          <a:xfrm>
            <a:off x="3962400" y="4038600"/>
            <a:ext cx="4257881" cy="22098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cstate="print"/>
          <a:srcRect l="13862" r="5931"/>
          <a:stretch>
            <a:fillRect/>
          </a:stretch>
        </p:blipFill>
        <p:spPr bwMode="auto">
          <a:xfrm>
            <a:off x="4572000" y="762000"/>
            <a:ext cx="4265433" cy="2590800"/>
          </a:xfrm>
          <a:prstGeom prst="rect">
            <a:avLst/>
          </a:prstGeom>
          <a:noFill/>
          <a:ln w="9525">
            <a:noFill/>
            <a:miter lim="800000"/>
            <a:headEnd/>
            <a:tailEnd/>
          </a:ln>
          <a:effectLst/>
        </p:spPr>
      </p:pic>
      <p:sp>
        <p:nvSpPr>
          <p:cNvPr id="7" name="Rectangle 6"/>
          <p:cNvSpPr/>
          <p:nvPr/>
        </p:nvSpPr>
        <p:spPr>
          <a:xfrm>
            <a:off x="4953000" y="3505200"/>
            <a:ext cx="3813865" cy="369332"/>
          </a:xfrm>
          <a:prstGeom prst="rect">
            <a:avLst/>
          </a:prstGeom>
        </p:spPr>
        <p:txBody>
          <a:bodyPr wrap="none">
            <a:spAutoFit/>
          </a:bodyPr>
          <a:lstStyle/>
          <a:p>
            <a:r>
              <a:rPr lang="en-US" dirty="0" smtClean="0"/>
              <a:t>Modified still using porous absorber</a:t>
            </a:r>
            <a:endParaRPr lang="en-US" dirty="0"/>
          </a:p>
        </p:txBody>
      </p:sp>
      <p:sp>
        <p:nvSpPr>
          <p:cNvPr id="8" name="Rectangle 7"/>
          <p:cNvSpPr/>
          <p:nvPr/>
        </p:nvSpPr>
        <p:spPr>
          <a:xfrm>
            <a:off x="533400" y="3581400"/>
            <a:ext cx="3518912" cy="369332"/>
          </a:xfrm>
          <a:prstGeom prst="rect">
            <a:avLst/>
          </a:prstGeom>
        </p:spPr>
        <p:txBody>
          <a:bodyPr wrap="none">
            <a:spAutoFit/>
          </a:bodyPr>
          <a:lstStyle/>
          <a:p>
            <a:r>
              <a:rPr lang="en-US" dirty="0" smtClean="0"/>
              <a:t>Pyramid collector solar water still</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Rot="1" noChangeArrowheads="1"/>
          </p:cNvSpPr>
          <p:nvPr>
            <p:ph idx="1"/>
          </p:nvPr>
        </p:nvSpPr>
        <p:spPr/>
        <p:txBody>
          <a:bodyPr/>
          <a:lstStyle/>
          <a:p>
            <a:pPr>
              <a:lnSpc>
                <a:spcPct val="90000"/>
              </a:lnSpc>
            </a:pPr>
            <a:r>
              <a:rPr lang="en-US" sz="2400"/>
              <a:t>Two types:</a:t>
            </a:r>
          </a:p>
          <a:p>
            <a:pPr>
              <a:lnSpc>
                <a:spcPct val="90000"/>
              </a:lnSpc>
              <a:buFont typeface="Wingdings" pitchFamily="2" charset="2"/>
              <a:buNone/>
            </a:pPr>
            <a:r>
              <a:rPr lang="en-US" sz="2400"/>
              <a:t>	Power tower</a:t>
            </a:r>
          </a:p>
          <a:p>
            <a:pPr>
              <a:lnSpc>
                <a:spcPct val="90000"/>
              </a:lnSpc>
            </a:pPr>
            <a:endParaRPr lang="en-US" sz="2400"/>
          </a:p>
          <a:p>
            <a:pPr>
              <a:lnSpc>
                <a:spcPct val="90000"/>
              </a:lnSpc>
            </a:pPr>
            <a:endParaRPr lang="en-US" sz="2400"/>
          </a:p>
          <a:p>
            <a:pPr>
              <a:lnSpc>
                <a:spcPct val="90000"/>
              </a:lnSpc>
            </a:pPr>
            <a:endParaRPr lang="en-US" sz="2400"/>
          </a:p>
          <a:p>
            <a:pPr>
              <a:lnSpc>
                <a:spcPct val="90000"/>
              </a:lnSpc>
            </a:pPr>
            <a:endParaRPr lang="en-US" sz="2400"/>
          </a:p>
          <a:p>
            <a:pPr>
              <a:lnSpc>
                <a:spcPct val="90000"/>
              </a:lnSpc>
            </a:pPr>
            <a:endParaRPr lang="en-US" sz="2400"/>
          </a:p>
          <a:p>
            <a:pPr>
              <a:lnSpc>
                <a:spcPct val="90000"/>
              </a:lnSpc>
            </a:pPr>
            <a:endParaRPr lang="en-US" sz="2400"/>
          </a:p>
          <a:p>
            <a:pPr>
              <a:lnSpc>
                <a:spcPct val="90000"/>
              </a:lnSpc>
            </a:pPr>
            <a:endParaRPr lang="en-US" sz="1200"/>
          </a:p>
          <a:p>
            <a:pPr>
              <a:lnSpc>
                <a:spcPct val="90000"/>
              </a:lnSpc>
            </a:pPr>
            <a:endParaRPr lang="en-US" sz="1200"/>
          </a:p>
          <a:p>
            <a:pPr>
              <a:lnSpc>
                <a:spcPct val="90000"/>
              </a:lnSpc>
              <a:buFont typeface="Wingdings" pitchFamily="2" charset="2"/>
              <a:buNone/>
            </a:pPr>
            <a:r>
              <a:rPr lang="en-US" sz="1200"/>
              <a:t>Sources: Energy Information Administration, </a:t>
            </a:r>
            <a:r>
              <a:rPr lang="en-US" sz="1200" i="1"/>
              <a:t>Electric Power Annual, </a:t>
            </a:r>
            <a:r>
              <a:rPr lang="en-US" sz="1200"/>
              <a:t>Form EIA-860, Annual Electric Generator Report database, 2004.</a:t>
            </a:r>
          </a:p>
          <a:p>
            <a:pPr>
              <a:lnSpc>
                <a:spcPct val="90000"/>
              </a:lnSpc>
              <a:buFont typeface="Wingdings" pitchFamily="2" charset="2"/>
              <a:buNone/>
            </a:pPr>
            <a:r>
              <a:rPr lang="en-US" sz="1200"/>
              <a:t> </a:t>
            </a:r>
          </a:p>
        </p:txBody>
      </p:sp>
      <p:sp>
        <p:nvSpPr>
          <p:cNvPr id="50178" name="Rectangle 2"/>
          <p:cNvSpPr>
            <a:spLocks noGrp="1" noRot="1" noChangeArrowheads="1"/>
          </p:cNvSpPr>
          <p:nvPr>
            <p:ph type="title"/>
          </p:nvPr>
        </p:nvSpPr>
        <p:spPr/>
        <p:txBody>
          <a:bodyPr>
            <a:normAutofit/>
          </a:bodyPr>
          <a:lstStyle/>
          <a:p>
            <a:r>
              <a:rPr lang="en-US"/>
              <a:t>Solar thermal power stations</a:t>
            </a:r>
          </a:p>
        </p:txBody>
      </p:sp>
      <p:pic>
        <p:nvPicPr>
          <p:cNvPr id="50181" name="Picture 5" descr="Image of a solar power tower.&#10;&#10;Receiver tower has fluid inside that collects heat.&#10;&#10;Rotating mirrors focus sunlight onto receiver panel."/>
          <p:cNvPicPr>
            <a:picLocks noChangeAspect="1" noChangeArrowheads="1"/>
          </p:cNvPicPr>
          <p:nvPr/>
        </p:nvPicPr>
        <p:blipFill>
          <a:blip r:embed="rId3" cstate="print"/>
          <a:srcRect/>
          <a:stretch>
            <a:fillRect/>
          </a:stretch>
        </p:blipFill>
        <p:spPr bwMode="auto">
          <a:xfrm>
            <a:off x="3962400" y="1371600"/>
            <a:ext cx="3276600" cy="38100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Rot="1" noChangeArrowheads="1"/>
          </p:cNvSpPr>
          <p:nvPr>
            <p:ph idx="1"/>
          </p:nvPr>
        </p:nvSpPr>
        <p:spPr>
          <a:xfrm>
            <a:off x="301625" y="1676400"/>
            <a:ext cx="8540750" cy="5181600"/>
          </a:xfrm>
        </p:spPr>
        <p:txBody>
          <a:bodyPr/>
          <a:lstStyle/>
          <a:p>
            <a:endParaRPr lang="en-US"/>
          </a:p>
          <a:p>
            <a:endParaRPr lang="en-US"/>
          </a:p>
          <a:p>
            <a:endParaRPr lang="en-US"/>
          </a:p>
          <a:p>
            <a:endParaRPr lang="en-US"/>
          </a:p>
          <a:p>
            <a:endParaRPr lang="en-US"/>
          </a:p>
          <a:p>
            <a:endParaRPr lang="en-US"/>
          </a:p>
          <a:p>
            <a:endParaRPr lang="en-US"/>
          </a:p>
          <a:p>
            <a:pPr>
              <a:buFont typeface="Wingdings" pitchFamily="2" charset="2"/>
              <a:buNone/>
            </a:pPr>
            <a:r>
              <a:rPr lang="en-US" sz="1400"/>
              <a:t>Sources: Energy Information Administration, </a:t>
            </a:r>
            <a:r>
              <a:rPr lang="en-US" sz="1400" i="1"/>
              <a:t>Electric Power Annual, </a:t>
            </a:r>
            <a:r>
              <a:rPr lang="en-US" sz="1400"/>
              <a:t>Form EIA-860, Annual Electric Generator Report database, 2004.</a:t>
            </a:r>
          </a:p>
          <a:p>
            <a:pPr>
              <a:buFont typeface="Wingdings" pitchFamily="2" charset="2"/>
              <a:buNone/>
            </a:pPr>
            <a:r>
              <a:rPr lang="en-US"/>
              <a:t> </a:t>
            </a:r>
          </a:p>
        </p:txBody>
      </p:sp>
      <p:sp>
        <p:nvSpPr>
          <p:cNvPr id="52226" name="Rectangle 2"/>
          <p:cNvSpPr>
            <a:spLocks noGrp="1" noRot="1" noChangeArrowheads="1"/>
          </p:cNvSpPr>
          <p:nvPr>
            <p:ph type="title"/>
          </p:nvPr>
        </p:nvSpPr>
        <p:spPr/>
        <p:txBody>
          <a:bodyPr/>
          <a:lstStyle/>
          <a:p>
            <a:r>
              <a:rPr lang="en-US"/>
              <a:t>Parabolic trough</a:t>
            </a:r>
          </a:p>
        </p:txBody>
      </p:sp>
      <p:pic>
        <p:nvPicPr>
          <p:cNvPr id="52229" name="Picture 5" descr="Image of a parabolic trough collector."/>
          <p:cNvPicPr>
            <a:picLocks noChangeAspect="1" noChangeArrowheads="1"/>
          </p:cNvPicPr>
          <p:nvPr/>
        </p:nvPicPr>
        <p:blipFill>
          <a:blip r:embed="rId3" cstate="print"/>
          <a:srcRect/>
          <a:stretch>
            <a:fillRect/>
          </a:stretch>
        </p:blipFill>
        <p:spPr bwMode="auto">
          <a:xfrm>
            <a:off x="685800" y="1371600"/>
            <a:ext cx="4038600" cy="3505200"/>
          </a:xfrm>
          <a:prstGeom prst="rect">
            <a:avLst/>
          </a:prstGeom>
          <a:noFill/>
        </p:spPr>
      </p:pic>
      <p:pic>
        <p:nvPicPr>
          <p:cNvPr id="52230" name="Picture 6" descr="Sketch of a Parabolic Trough Collector">
            <a:hlinkClick r:id="rId4" tooltip="&quot;Sketch of a Parabolic Trough Collector&quot;"/>
          </p:cNvPr>
          <p:cNvPicPr>
            <a:picLocks noChangeAspect="1" noChangeArrowheads="1"/>
          </p:cNvPicPr>
          <p:nvPr/>
        </p:nvPicPr>
        <p:blipFill>
          <a:blip r:embed="rId5" cstate="print"/>
          <a:srcRect/>
          <a:stretch>
            <a:fillRect/>
          </a:stretch>
        </p:blipFill>
        <p:spPr bwMode="auto">
          <a:xfrm>
            <a:off x="4953000" y="1371600"/>
            <a:ext cx="3581400"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Rot="1" noChangeArrowheads="1"/>
          </p:cNvSpPr>
          <p:nvPr>
            <p:ph idx="1"/>
          </p:nvPr>
        </p:nvSpPr>
        <p:spPr/>
        <p:txBody>
          <a:bodyPr/>
          <a:lstStyle/>
          <a:p>
            <a:r>
              <a:rPr lang="en-US"/>
              <a:t>There are many other uses for solar thermal technology.  These include refrigeration, air conditioning, solar stills and desalination of salt water and more.</a:t>
            </a:r>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p:txBody>
      </p:sp>
      <p:sp>
        <p:nvSpPr>
          <p:cNvPr id="54274" name="Rectangle 2"/>
          <p:cNvSpPr>
            <a:spLocks noGrp="1" noRot="1" noChangeArrowheads="1"/>
          </p:cNvSpPr>
          <p:nvPr>
            <p:ph type="title"/>
          </p:nvPr>
        </p:nvSpPr>
        <p:spPr/>
        <p:txBody>
          <a:bodyPr/>
          <a:lstStyle/>
          <a:p>
            <a:r>
              <a:rPr lang="en-US"/>
              <a:t>Other Uses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229600" cy="4525963"/>
          </a:xfrm>
        </p:spPr>
        <p:txBody>
          <a:bodyPr>
            <a:normAutofit fontScale="92500" lnSpcReduction="20000"/>
          </a:bodyPr>
          <a:lstStyle/>
          <a:p>
            <a:pPr algn="just"/>
            <a:r>
              <a:rPr lang="en-US" b="1" dirty="0" smtClean="0">
                <a:latin typeface="Times New Roman" pitchFamily="18" charset="0"/>
                <a:cs typeface="Times New Roman" pitchFamily="18" charset="0"/>
              </a:rPr>
              <a:t>Concentrate </a:t>
            </a:r>
            <a:r>
              <a:rPr lang="en-US" b="1" dirty="0" smtClean="0">
                <a:latin typeface="Times New Roman" pitchFamily="18" charset="0"/>
                <a:cs typeface="Times New Roman" pitchFamily="18" charset="0"/>
              </a:rPr>
              <a:t>Sunlight:</a:t>
            </a:r>
            <a:r>
              <a:rPr lang="en-US" dirty="0" smtClean="0">
                <a:latin typeface="Times New Roman" pitchFamily="18" charset="0"/>
                <a:cs typeface="Times New Roman" pitchFamily="18" charset="0"/>
              </a:rPr>
              <a:t> </a:t>
            </a:r>
          </a:p>
          <a:p>
            <a:pPr algn="just" fontAlgn="ctr"/>
            <a:r>
              <a:rPr lang="en-US" dirty="0" smtClean="0">
                <a:latin typeface="Times New Roman" pitchFamily="18" charset="0"/>
                <a:cs typeface="Times New Roman" pitchFamily="18" charset="0"/>
              </a:rPr>
              <a:t>Reflectors are used to gather and direct additional solar radiation onto the solar still's </a:t>
            </a:r>
            <a:r>
              <a:rPr lang="en-US" dirty="0" smtClean="0">
                <a:latin typeface="Times New Roman" pitchFamily="18" charset="0"/>
                <a:cs typeface="Times New Roman" pitchFamily="18" charset="0"/>
                <a:hlinkClick r:id="rId2"/>
              </a:rPr>
              <a:t>absorber plate</a:t>
            </a:r>
            <a:r>
              <a:rPr lang="en-US" dirty="0" smtClean="0">
                <a:latin typeface="Times New Roman" pitchFamily="18" charset="0"/>
                <a:cs typeface="Times New Roman" pitchFamily="18" charset="0"/>
              </a:rPr>
              <a:t>, which heats the saltwater. </a:t>
            </a:r>
          </a:p>
          <a:p>
            <a:pPr algn="just"/>
            <a:r>
              <a:rPr lang="en-US" b="1" dirty="0" smtClean="0">
                <a:latin typeface="Times New Roman" pitchFamily="18" charset="0"/>
                <a:cs typeface="Times New Roman" pitchFamily="18" charset="0"/>
              </a:rPr>
              <a:t>Increase Efficiency:</a:t>
            </a:r>
            <a:r>
              <a:rPr lang="en-US" dirty="0" smtClean="0">
                <a:latin typeface="Times New Roman" pitchFamily="18" charset="0"/>
                <a:cs typeface="Times New Roman" pitchFamily="18" charset="0"/>
              </a:rPr>
              <a:t> </a:t>
            </a:r>
          </a:p>
          <a:p>
            <a:pPr algn="just" fontAlgn="ctr"/>
            <a:r>
              <a:rPr lang="en-US" dirty="0" smtClean="0">
                <a:latin typeface="Times New Roman" pitchFamily="18" charset="0"/>
                <a:cs typeface="Times New Roman" pitchFamily="18" charset="0"/>
              </a:rPr>
              <a:t>By enhancing the amount of solar energy reaching the absorption area, reflectors significantly improve the </a:t>
            </a:r>
            <a:r>
              <a:rPr lang="en-US" dirty="0" smtClean="0">
                <a:latin typeface="Times New Roman" pitchFamily="18" charset="0"/>
                <a:cs typeface="Times New Roman" pitchFamily="18" charset="0"/>
                <a:hlinkClick r:id="rId3"/>
              </a:rPr>
              <a:t>thermal efficiency</a:t>
            </a:r>
            <a:r>
              <a:rPr lang="en-US" dirty="0" smtClean="0">
                <a:latin typeface="Times New Roman" pitchFamily="18" charset="0"/>
                <a:cs typeface="Times New Roman" pitchFamily="18" charset="0"/>
              </a:rPr>
              <a:t> and freshwater production of the desalination unit. </a:t>
            </a:r>
          </a:p>
          <a:p>
            <a:pPr algn="just"/>
            <a:r>
              <a:rPr lang="en-US" b="1" dirty="0" smtClean="0">
                <a:latin typeface="Times New Roman" pitchFamily="18" charset="0"/>
                <a:cs typeface="Times New Roman" pitchFamily="18" charset="0"/>
              </a:rPr>
              <a:t>Boost Distillate Output:</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Experiments have shown that the integration of reflectors can lead to substantial increases in the daily amount of fresh water produced compared to systems without them. </a:t>
            </a:r>
          </a:p>
          <a:p>
            <a:endParaRPr lang="en-US" dirty="0"/>
          </a:p>
        </p:txBody>
      </p:sp>
      <p:sp>
        <p:nvSpPr>
          <p:cNvPr id="3" name="Title 2"/>
          <p:cNvSpPr>
            <a:spLocks noGrp="1"/>
          </p:cNvSpPr>
          <p:nvPr>
            <p:ph type="title"/>
          </p:nvPr>
        </p:nvSpPr>
        <p:spPr>
          <a:xfrm>
            <a:off x="457200" y="274638"/>
            <a:ext cx="7315200" cy="639762"/>
          </a:xfrm>
        </p:spPr>
        <p:txBody>
          <a:bodyPr>
            <a:normAutofit fontScale="90000"/>
          </a:bodyPr>
          <a:lstStyle/>
          <a:p>
            <a:pPr algn="ctr"/>
            <a:r>
              <a:rPr lang="en-US" sz="3600" dirty="0" smtClean="0"/>
              <a:t/>
            </a:r>
            <a:br>
              <a:rPr lang="en-US" sz="3600" dirty="0" smtClean="0"/>
            </a:br>
            <a:r>
              <a:rPr lang="en-US" sz="3600" dirty="0" smtClean="0">
                <a:latin typeface="Times New Roman" pitchFamily="18" charset="0"/>
                <a:cs typeface="Times New Roman" pitchFamily="18" charset="0"/>
              </a:rPr>
              <a:t>PURPOSE OF SOLAR REFLECTORS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229600" cy="4525963"/>
          </a:xfrm>
        </p:spPr>
        <p:txBody>
          <a:bodyPr>
            <a:normAutofit/>
          </a:bodyPr>
          <a:lstStyle/>
          <a:p>
            <a:pPr algn="just"/>
            <a:r>
              <a:rPr lang="en-US" sz="2200" b="1" dirty="0" smtClean="0">
                <a:latin typeface="Times New Roman" pitchFamily="18" charset="0"/>
                <a:cs typeface="Times New Roman" pitchFamily="18" charset="0"/>
              </a:rPr>
              <a:t>Internal </a:t>
            </a:r>
            <a:r>
              <a:rPr lang="en-US" sz="2200" b="1" dirty="0" smtClean="0">
                <a:latin typeface="Times New Roman" pitchFamily="18" charset="0"/>
                <a:cs typeface="Times New Roman" pitchFamily="18" charset="0"/>
              </a:rPr>
              <a:t>Reflectors:</a:t>
            </a:r>
            <a:r>
              <a:rPr lang="en-US" sz="2200" dirty="0" smtClean="0">
                <a:latin typeface="Times New Roman" pitchFamily="18" charset="0"/>
                <a:cs typeface="Times New Roman" pitchFamily="18" charset="0"/>
              </a:rPr>
              <a:t> </a:t>
            </a:r>
          </a:p>
          <a:p>
            <a:pPr algn="just" fontAlgn="ctr"/>
            <a:r>
              <a:rPr lang="en-US" sz="2200" dirty="0" smtClean="0">
                <a:latin typeface="Times New Roman" pitchFamily="18" charset="0"/>
                <a:cs typeface="Times New Roman" pitchFamily="18" charset="0"/>
              </a:rPr>
              <a:t>These are integrated within the </a:t>
            </a:r>
            <a:r>
              <a:rPr lang="en-US" sz="2200" dirty="0" smtClean="0">
                <a:latin typeface="Times New Roman" pitchFamily="18" charset="0"/>
                <a:cs typeface="Times New Roman" pitchFamily="18" charset="0"/>
                <a:hlinkClick r:id="rId2"/>
              </a:rPr>
              <a:t>solar still</a:t>
            </a:r>
            <a:r>
              <a:rPr lang="en-US" sz="2200" dirty="0" smtClean="0">
                <a:latin typeface="Times New Roman" pitchFamily="18" charset="0"/>
                <a:cs typeface="Times New Roman" pitchFamily="18" charset="0"/>
              </a:rPr>
              <a:t> itself and are particularly useful for concentrating weak sunlight or in areas with low ambient temperatures. </a:t>
            </a:r>
          </a:p>
          <a:p>
            <a:pPr algn="just"/>
            <a:r>
              <a:rPr lang="en-US" sz="2200" b="1" dirty="0" smtClean="0">
                <a:latin typeface="Times New Roman" pitchFamily="18" charset="0"/>
                <a:cs typeface="Times New Roman" pitchFamily="18" charset="0"/>
              </a:rPr>
              <a:t>External Reflectors:</a:t>
            </a:r>
            <a:r>
              <a:rPr lang="en-US" sz="2200" dirty="0" smtClean="0">
                <a:latin typeface="Times New Roman" pitchFamily="18" charset="0"/>
                <a:cs typeface="Times New Roman" pitchFamily="18" charset="0"/>
              </a:rPr>
              <a:t> </a:t>
            </a:r>
          </a:p>
          <a:p>
            <a:pPr algn="just" fontAlgn="ctr"/>
            <a:r>
              <a:rPr lang="en-US" sz="2200" dirty="0" smtClean="0">
                <a:latin typeface="Times New Roman" pitchFamily="18" charset="0"/>
                <a:cs typeface="Times New Roman" pitchFamily="18" charset="0"/>
              </a:rPr>
              <a:t>Mounted outside the solar still, these reflectors redirect solar beams and can improve the design flexibility of the absorber plate configuration. </a:t>
            </a:r>
          </a:p>
          <a:p>
            <a:pPr algn="just"/>
            <a:r>
              <a:rPr lang="en-US" sz="2200" b="1" dirty="0" smtClean="0">
                <a:latin typeface="Times New Roman" pitchFamily="18" charset="0"/>
                <a:cs typeface="Times New Roman" pitchFamily="18" charset="0"/>
              </a:rPr>
              <a:t>Reflector Shapes:</a:t>
            </a:r>
            <a:r>
              <a:rPr lang="en-US" sz="2200" dirty="0" smtClean="0">
                <a:latin typeface="Times New Roman" pitchFamily="18" charset="0"/>
                <a:cs typeface="Times New Roman" pitchFamily="18" charset="0"/>
              </a:rPr>
              <a:t> </a:t>
            </a:r>
          </a:p>
          <a:p>
            <a:pPr algn="just"/>
            <a:r>
              <a:rPr lang="en-US" sz="2200" dirty="0" smtClean="0">
                <a:latin typeface="Times New Roman" pitchFamily="18" charset="0"/>
                <a:cs typeface="Times New Roman" pitchFamily="18" charset="0"/>
              </a:rPr>
              <a:t>Different shapes, such as vertical flat plates and parabolic mirrors, are used to concentrate sunlight effectively. </a:t>
            </a:r>
          </a:p>
          <a:p>
            <a:endParaRPr lang="en-US" dirty="0"/>
          </a:p>
        </p:txBody>
      </p:sp>
      <p:sp>
        <p:nvSpPr>
          <p:cNvPr id="3" name="Title 2"/>
          <p:cNvSpPr>
            <a:spLocks noGrp="1"/>
          </p:cNvSpPr>
          <p:nvPr>
            <p:ph type="title"/>
          </p:nvPr>
        </p:nvSpPr>
        <p:spPr>
          <a:xfrm>
            <a:off x="457200" y="274638"/>
            <a:ext cx="8229600" cy="639762"/>
          </a:xfrm>
        </p:spPr>
        <p:txBody>
          <a:bodyPr>
            <a:normAutofit fontScale="90000"/>
          </a:bodyPr>
          <a:lstStyle/>
          <a:p>
            <a:pPr algn="ctr"/>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TYPES AND CONFIGURATIONS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029200"/>
          </a:xfrm>
        </p:spPr>
        <p:txBody>
          <a:bodyPr>
            <a:normAutofit fontScale="70000" lnSpcReduction="20000"/>
          </a:bodyPr>
          <a:lstStyle/>
          <a:p>
            <a:pPr algn="just"/>
            <a:r>
              <a:rPr lang="en-US" sz="2900" b="1" dirty="0" smtClean="0">
                <a:latin typeface="Times New Roman" pitchFamily="18" charset="0"/>
                <a:cs typeface="Times New Roman" pitchFamily="18" charset="0"/>
              </a:rPr>
              <a:t>Mirrored </a:t>
            </a:r>
            <a:r>
              <a:rPr lang="en-US" sz="2900" b="1" dirty="0" smtClean="0">
                <a:latin typeface="Times New Roman" pitchFamily="18" charset="0"/>
                <a:cs typeface="Times New Roman" pitchFamily="18" charset="0"/>
              </a:rPr>
              <a:t>Surfaces:</a:t>
            </a:r>
            <a:r>
              <a:rPr lang="en-US" sz="2900" dirty="0" smtClean="0">
                <a:latin typeface="Times New Roman" pitchFamily="18" charset="0"/>
                <a:cs typeface="Times New Roman" pitchFamily="18" charset="0"/>
              </a:rPr>
              <a:t> </a:t>
            </a:r>
          </a:p>
          <a:p>
            <a:pPr algn="just" fontAlgn="ctr"/>
            <a:r>
              <a:rPr lang="en-US" sz="2900" dirty="0" smtClean="0">
                <a:latin typeface="Times New Roman" pitchFamily="18" charset="0"/>
                <a:cs typeface="Times New Roman" pitchFamily="18" charset="0"/>
              </a:rPr>
              <a:t>High-</a:t>
            </a:r>
            <a:r>
              <a:rPr lang="en-US" sz="2900" dirty="0" err="1" smtClean="0">
                <a:latin typeface="Times New Roman" pitchFamily="18" charset="0"/>
                <a:cs typeface="Times New Roman" pitchFamily="18" charset="0"/>
              </a:rPr>
              <a:t>specular</a:t>
            </a:r>
            <a:r>
              <a:rPr lang="en-US" sz="2900" dirty="0" smtClean="0">
                <a:latin typeface="Times New Roman" pitchFamily="18" charset="0"/>
                <a:cs typeface="Times New Roman" pitchFamily="18" charset="0"/>
              </a:rPr>
              <a:t>-reflection surfaces like glass mirrors or anodized aluminum sheets are commonly used due to their ability to reflect light efficiently. </a:t>
            </a:r>
          </a:p>
          <a:p>
            <a:pPr algn="just"/>
            <a:r>
              <a:rPr lang="en-US" sz="2900" b="1" dirty="0" smtClean="0">
                <a:latin typeface="Times New Roman" pitchFamily="18" charset="0"/>
                <a:cs typeface="Times New Roman" pitchFamily="18" charset="0"/>
              </a:rPr>
              <a:t>Layered Reflectors:</a:t>
            </a:r>
            <a:r>
              <a:rPr lang="en-US" sz="2900" dirty="0" smtClean="0">
                <a:latin typeface="Times New Roman" pitchFamily="18" charset="0"/>
                <a:cs typeface="Times New Roman" pitchFamily="18" charset="0"/>
              </a:rPr>
              <a:t> </a:t>
            </a:r>
          </a:p>
          <a:p>
            <a:pPr algn="just"/>
            <a:r>
              <a:rPr lang="en-US" sz="2900" dirty="0" smtClean="0">
                <a:latin typeface="Times New Roman" pitchFamily="18" charset="0"/>
                <a:cs typeface="Times New Roman" pitchFamily="18" charset="0"/>
              </a:rPr>
              <a:t>These are typically made of a highly reflective metal (like aluminum) deposited on a substrate and protected by coatings, with configurations classified as first-surface or second-surface reflectors. </a:t>
            </a:r>
            <a:endParaRPr lang="en-US" sz="2900" dirty="0" smtClean="0">
              <a:latin typeface="Times New Roman" pitchFamily="18" charset="0"/>
              <a:cs typeface="Times New Roman" pitchFamily="18" charset="0"/>
            </a:endParaRPr>
          </a:p>
          <a:p>
            <a:pPr algn="just"/>
            <a:r>
              <a:rPr lang="en-US" sz="2900" dirty="0" smtClean="0">
                <a:latin typeface="Times New Roman" pitchFamily="18" charset="0"/>
                <a:cs typeface="Times New Roman" pitchFamily="18" charset="0"/>
              </a:rPr>
              <a:t>Benefits</a:t>
            </a:r>
          </a:p>
          <a:p>
            <a:pPr algn="just"/>
            <a:r>
              <a:rPr lang="en-US" sz="2900" b="1" dirty="0" smtClean="0">
                <a:latin typeface="Times New Roman" pitchFamily="18" charset="0"/>
                <a:cs typeface="Times New Roman" pitchFamily="18" charset="0"/>
              </a:rPr>
              <a:t>Higher </a:t>
            </a:r>
            <a:r>
              <a:rPr lang="en-US" sz="2900" b="1" dirty="0" smtClean="0">
                <a:latin typeface="Times New Roman" pitchFamily="18" charset="0"/>
                <a:cs typeface="Times New Roman" pitchFamily="18" charset="0"/>
              </a:rPr>
              <a:t>Freshwater Productivity:</a:t>
            </a:r>
            <a:r>
              <a:rPr lang="en-US" sz="2900" dirty="0" smtClean="0">
                <a:latin typeface="Times New Roman" pitchFamily="18" charset="0"/>
                <a:cs typeface="Times New Roman" pitchFamily="18" charset="0"/>
              </a:rPr>
              <a:t> </a:t>
            </a:r>
          </a:p>
          <a:p>
            <a:pPr algn="just" fontAlgn="ctr"/>
            <a:r>
              <a:rPr lang="en-US" sz="2900" dirty="0" smtClean="0">
                <a:latin typeface="Times New Roman" pitchFamily="18" charset="0"/>
                <a:cs typeface="Times New Roman" pitchFamily="18" charset="0"/>
              </a:rPr>
              <a:t>Reflectors contribute to higher output, making solar desalination a more viable option in water-scarce regions. </a:t>
            </a:r>
          </a:p>
          <a:p>
            <a:pPr algn="just"/>
            <a:r>
              <a:rPr lang="en-US" sz="2900" b="1" dirty="0" smtClean="0">
                <a:latin typeface="Times New Roman" pitchFamily="18" charset="0"/>
                <a:cs typeface="Times New Roman" pitchFamily="18" charset="0"/>
              </a:rPr>
              <a:t>Improved Efficiency:</a:t>
            </a:r>
            <a:r>
              <a:rPr lang="en-US" sz="2900" dirty="0" smtClean="0">
                <a:latin typeface="Times New Roman" pitchFamily="18" charset="0"/>
                <a:cs typeface="Times New Roman" pitchFamily="18" charset="0"/>
              </a:rPr>
              <a:t> </a:t>
            </a:r>
          </a:p>
          <a:p>
            <a:pPr algn="just" fontAlgn="ctr"/>
            <a:r>
              <a:rPr lang="en-US" sz="2900" dirty="0" smtClean="0">
                <a:latin typeface="Times New Roman" pitchFamily="18" charset="0"/>
                <a:cs typeface="Times New Roman" pitchFamily="18" charset="0"/>
              </a:rPr>
              <a:t>The enhanced absorption of solar radiation leads to better overall system efficiency and a higher recovery ratio. </a:t>
            </a:r>
          </a:p>
          <a:p>
            <a:pPr algn="just"/>
            <a:r>
              <a:rPr lang="en-US" sz="2900" b="1" dirty="0" smtClean="0">
                <a:latin typeface="Times New Roman" pitchFamily="18" charset="0"/>
                <a:cs typeface="Times New Roman" pitchFamily="18" charset="0"/>
              </a:rPr>
              <a:t>Economic Viability:</a:t>
            </a:r>
            <a:r>
              <a:rPr lang="en-US" sz="2900" dirty="0" smtClean="0">
                <a:latin typeface="Times New Roman" pitchFamily="18" charset="0"/>
                <a:cs typeface="Times New Roman" pitchFamily="18" charset="0"/>
              </a:rPr>
              <a:t> </a:t>
            </a:r>
          </a:p>
          <a:p>
            <a:pPr algn="just"/>
            <a:r>
              <a:rPr lang="en-US" sz="2900" dirty="0" smtClean="0">
                <a:latin typeface="Times New Roman" pitchFamily="18" charset="0"/>
                <a:cs typeface="Times New Roman" pitchFamily="18" charset="0"/>
              </a:rPr>
              <a:t>Increased productivity can reduce the cost per liter of distilled water, making the technology more economically feasible. </a:t>
            </a:r>
          </a:p>
          <a:p>
            <a:pPr algn="just"/>
            <a:endParaRPr lang="en-US" sz="2900" dirty="0" smtClean="0">
              <a:latin typeface="Times New Roman" pitchFamily="18" charset="0"/>
              <a:cs typeface="Times New Roman" pitchFamily="18" charset="0"/>
            </a:endParaRPr>
          </a:p>
          <a:p>
            <a:endParaRPr lang="en-US" dirty="0"/>
          </a:p>
        </p:txBody>
      </p:sp>
      <p:sp>
        <p:nvSpPr>
          <p:cNvPr id="3" name="Title 2"/>
          <p:cNvSpPr>
            <a:spLocks noGrp="1"/>
          </p:cNvSpPr>
          <p:nvPr>
            <p:ph type="title"/>
          </p:nvPr>
        </p:nvSpPr>
        <p:spPr>
          <a:xfrm>
            <a:off x="457200" y="274638"/>
            <a:ext cx="3352800" cy="639762"/>
          </a:xfrm>
        </p:spPr>
        <p:txBody>
          <a:bodyPr>
            <a:normAutofit fontScale="90000"/>
          </a:bodyPr>
          <a:lstStyle/>
          <a:p>
            <a:r>
              <a:rPr lang="en-US" sz="3600" dirty="0" smtClean="0"/>
              <a:t/>
            </a:r>
            <a:br>
              <a:rPr lang="en-US" sz="3600" dirty="0" smtClean="0"/>
            </a:br>
            <a:r>
              <a:rPr lang="en-US" sz="3600" dirty="0" smtClean="0">
                <a:latin typeface="Times New Roman" pitchFamily="18" charset="0"/>
                <a:cs typeface="Times New Roman" pitchFamily="18" charset="0"/>
              </a:rPr>
              <a:t>MATERIALS</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The evacuated tube collector (ETC) consists of a number of sealed glass tubes which have a thermally conductive copper rod or pipe inside allowing for much high thermal efficiency and working temperature compared to the flat plate </a:t>
            </a:r>
            <a:r>
              <a:rPr lang="en-US" sz="2000" dirty="0" smtClean="0">
                <a:latin typeface="Times New Roman" pitchFamily="18" charset="0"/>
                <a:cs typeface="Times New Roman" pitchFamily="18" charset="0"/>
              </a:rPr>
              <a:t>solar </a:t>
            </a:r>
            <a:r>
              <a:rPr lang="en-US" sz="2000" dirty="0" smtClean="0">
                <a:latin typeface="Times New Roman" pitchFamily="18" charset="0"/>
                <a:cs typeface="Times New Roman" pitchFamily="18" charset="0"/>
              </a:rPr>
              <a:t>collectors even during a freezing cold day</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While this type of solar hot water systems is cheap and easy to install, the problem with flat plate collectors is that they are “flat”.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This </a:t>
            </a:r>
            <a:r>
              <a:rPr lang="en-US" sz="2000" dirty="0" smtClean="0">
                <a:latin typeface="Times New Roman" pitchFamily="18" charset="0"/>
                <a:cs typeface="Times New Roman" pitchFamily="18" charset="0"/>
              </a:rPr>
              <a:t>produces one limitation to their efficiency as they can only operate at maximum efficiency when the sun is directly overhead at midday. At other times, the sun’s rays are striking the collector at varying angles bouncing off the glazing material thereby reducing their efficiency</a:t>
            </a:r>
            <a:endParaRPr lang="en-US" sz="20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6629400" cy="868362"/>
          </a:xfrm>
        </p:spPr>
        <p:txBody>
          <a:bodyPr>
            <a:normAutofit fontScale="90000"/>
          </a:bodyPr>
          <a:lstStyle/>
          <a:p>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EVACUATED TUBE COLLECTOR</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525963"/>
          </a:xfrm>
        </p:spPr>
        <p:txBody>
          <a:bodyPr>
            <a:normAutofit/>
          </a:bodyPr>
          <a:lstStyle/>
          <a:p>
            <a:pPr algn="just"/>
            <a:r>
              <a:rPr lang="en-US" sz="2000" dirty="0" smtClean="0">
                <a:latin typeface="Times New Roman" pitchFamily="18" charset="0"/>
                <a:cs typeface="Times New Roman" pitchFamily="18" charset="0"/>
              </a:rPr>
              <a:t>In solar desalination, Evacuated Tube Collectors (ETCs) are used to efficiently capture and transfer solar energy to the water, increasing its temperature and accelerating the evaporation process to produce freshwater.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ETCs </a:t>
            </a:r>
            <a:r>
              <a:rPr lang="en-US" sz="2000" dirty="0" smtClean="0">
                <a:latin typeface="Times New Roman" pitchFamily="18" charset="0"/>
                <a:cs typeface="Times New Roman" pitchFamily="18" charset="0"/>
              </a:rPr>
              <a:t>work by creating a vacuum within dual glass tubes to act as an insulator, minimizing heat loss and improving efficiency, especially in cold or cloudy weather</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This </a:t>
            </a:r>
            <a:r>
              <a:rPr lang="en-US" sz="2000" dirty="0" smtClean="0">
                <a:latin typeface="Times New Roman" pitchFamily="18" charset="0"/>
                <a:cs typeface="Times New Roman" pitchFamily="18" charset="0"/>
              </a:rPr>
              <a:t>collected thermal energy then heats the water for distillation or directly generates steam for multi-stage evaporation systems, ultimately boosting the overall freshwater yield of the solar desalination plant.</a:t>
            </a:r>
            <a:endParaRPr lang="en-US" sz="20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6934200" cy="868362"/>
          </a:xfrm>
        </p:spPr>
        <p:txBody>
          <a:bodyPr>
            <a:normAutofit/>
          </a:bodyPr>
          <a:lstStyle/>
          <a:p>
            <a:r>
              <a:rPr lang="en-US" sz="3200" dirty="0" smtClean="0">
                <a:latin typeface="Times New Roman" pitchFamily="18" charset="0"/>
                <a:cs typeface="Times New Roman" pitchFamily="18" charset="0"/>
              </a:rPr>
              <a:t>EVACUATED TUBE COLLECTORS</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dirty="0" smtClean="0">
                <a:latin typeface="Times New Roman" pitchFamily="18" charset="0"/>
                <a:cs typeface="Times New Roman" pitchFamily="18" charset="0"/>
              </a:rPr>
              <a:t>Solar </a:t>
            </a:r>
            <a:r>
              <a:rPr lang="en-US" b="1" dirty="0" smtClean="0">
                <a:latin typeface="Times New Roman" pitchFamily="18" charset="0"/>
                <a:cs typeface="Times New Roman" pitchFamily="18" charset="0"/>
              </a:rPr>
              <a:t>Energy Absorption:</a:t>
            </a:r>
            <a:r>
              <a:rPr lang="en-US" dirty="0" smtClean="0">
                <a:latin typeface="Times New Roman" pitchFamily="18" charset="0"/>
                <a:cs typeface="Times New Roman" pitchFamily="18" charset="0"/>
              </a:rPr>
              <a:t> </a:t>
            </a:r>
          </a:p>
          <a:p>
            <a:pPr fontAlgn="ctr"/>
            <a:r>
              <a:rPr lang="en-US" dirty="0" smtClean="0">
                <a:latin typeface="Times New Roman" pitchFamily="18" charset="0"/>
                <a:cs typeface="Times New Roman" pitchFamily="18" charset="0"/>
              </a:rPr>
              <a:t>The outer glass tubes of the ETCs absorb solar radiation. </a:t>
            </a:r>
          </a:p>
          <a:p>
            <a:r>
              <a:rPr lang="en-US" b="1" dirty="0" smtClean="0">
                <a:latin typeface="Times New Roman" pitchFamily="18" charset="0"/>
                <a:cs typeface="Times New Roman" pitchFamily="18" charset="0"/>
              </a:rPr>
              <a:t>Heat Transfer:</a:t>
            </a:r>
            <a:r>
              <a:rPr lang="en-US" dirty="0" smtClean="0">
                <a:latin typeface="Times New Roman" pitchFamily="18" charset="0"/>
                <a:cs typeface="Times New Roman" pitchFamily="18" charset="0"/>
              </a:rPr>
              <a:t> </a:t>
            </a:r>
          </a:p>
          <a:p>
            <a:pPr fontAlgn="ctr"/>
            <a:r>
              <a:rPr lang="en-US" dirty="0" smtClean="0">
                <a:latin typeface="Times New Roman" pitchFamily="18" charset="0"/>
                <a:cs typeface="Times New Roman" pitchFamily="18" charset="0"/>
              </a:rPr>
              <a:t>Inside the tubes, aluminum fins and a heat pipe transfer the absorbed solar energy into thermal energy. </a:t>
            </a:r>
          </a:p>
          <a:p>
            <a:r>
              <a:rPr lang="en-US" b="1" dirty="0" smtClean="0">
                <a:latin typeface="Times New Roman" pitchFamily="18" charset="0"/>
                <a:cs typeface="Times New Roman" pitchFamily="18" charset="0"/>
              </a:rPr>
              <a:t>Vacuum Insulation:</a:t>
            </a:r>
            <a:r>
              <a:rPr lang="en-US" dirty="0" smtClean="0">
                <a:latin typeface="Times New Roman" pitchFamily="18" charset="0"/>
                <a:cs typeface="Times New Roman" pitchFamily="18" charset="0"/>
              </a:rPr>
              <a:t> </a:t>
            </a:r>
          </a:p>
          <a:p>
            <a:pPr fontAlgn="ctr"/>
            <a:r>
              <a:rPr lang="en-US" dirty="0" smtClean="0">
                <a:latin typeface="Times New Roman" pitchFamily="18" charset="0"/>
                <a:cs typeface="Times New Roman" pitchFamily="18" charset="0"/>
              </a:rPr>
              <a:t>A vacuum created within the glass tubes acts as a highly effective insulator, reducing heat loss to the surroundings. </a:t>
            </a:r>
          </a:p>
          <a:p>
            <a:r>
              <a:rPr lang="en-US" b="1" dirty="0" smtClean="0">
                <a:latin typeface="Times New Roman" pitchFamily="18" charset="0"/>
                <a:cs typeface="Times New Roman" pitchFamily="18" charset="0"/>
              </a:rPr>
              <a:t>Heat Application:</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The heat is then transferred to a working fluid, which can be water for direct heating or to create steam for the desalination process. </a:t>
            </a:r>
          </a:p>
          <a:p>
            <a:endParaRPr lang="en-US" dirty="0"/>
          </a:p>
        </p:txBody>
      </p:sp>
      <p:sp>
        <p:nvSpPr>
          <p:cNvPr id="3" name="Title 2"/>
          <p:cNvSpPr>
            <a:spLocks noGrp="1"/>
          </p:cNvSpPr>
          <p:nvPr>
            <p:ph type="title"/>
          </p:nvPr>
        </p:nvSpPr>
        <p:spPr/>
        <p:txBody>
          <a:bodyPr>
            <a:normAutofit fontScale="90000"/>
          </a:bodyPr>
          <a:lstStyle/>
          <a:p>
            <a:r>
              <a:rPr lang="en-US" sz="3600" dirty="0" smtClean="0"/>
              <a:t/>
            </a:r>
            <a:br>
              <a:rPr lang="en-US" sz="3600" dirty="0" smtClean="0"/>
            </a:br>
            <a:r>
              <a:rPr lang="en-US" sz="3600" dirty="0" smtClean="0"/>
              <a:t>How </a:t>
            </a:r>
            <a:r>
              <a:rPr lang="en-US" sz="3600" dirty="0" smtClean="0"/>
              <a:t>Evacuated Tube Collectors Work in Desalination</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066800"/>
            <a:ext cx="8229600" cy="5257800"/>
          </a:xfrm>
        </p:spPr>
        <p:txBody>
          <a:bodyPr>
            <a:normAutofit fontScale="85000" lnSpcReduction="20000"/>
          </a:bodyPr>
          <a:lstStyle/>
          <a:p>
            <a:pPr algn="just"/>
            <a:r>
              <a:rPr lang="en-US" b="1" dirty="0" smtClean="0">
                <a:latin typeface="Times New Roman" pitchFamily="18" charset="0"/>
                <a:cs typeface="Times New Roman" pitchFamily="18" charset="0"/>
              </a:rPr>
              <a:t>High </a:t>
            </a:r>
            <a:r>
              <a:rPr lang="en-US" b="1" dirty="0" smtClean="0">
                <a:latin typeface="Times New Roman" pitchFamily="18" charset="0"/>
                <a:cs typeface="Times New Roman" pitchFamily="18" charset="0"/>
              </a:rPr>
              <a:t>Efficiency:</a:t>
            </a:r>
            <a:r>
              <a:rPr lang="en-US" dirty="0" smtClean="0">
                <a:latin typeface="Times New Roman" pitchFamily="18" charset="0"/>
                <a:cs typeface="Times New Roman" pitchFamily="18" charset="0"/>
              </a:rPr>
              <a:t> </a:t>
            </a:r>
          </a:p>
          <a:p>
            <a:pPr algn="just" fontAlgn="ctr"/>
            <a:r>
              <a:rPr lang="en-US" dirty="0" smtClean="0">
                <a:latin typeface="Times New Roman" pitchFamily="18" charset="0"/>
                <a:cs typeface="Times New Roman" pitchFamily="18" charset="0"/>
              </a:rPr>
              <a:t>The vacuum-sealed design minimizes heat loss, resulting in higher efficiency compared to other solar collectors. </a:t>
            </a:r>
          </a:p>
          <a:p>
            <a:pPr algn="just"/>
            <a:r>
              <a:rPr lang="en-US" b="1" dirty="0" smtClean="0">
                <a:latin typeface="Times New Roman" pitchFamily="18" charset="0"/>
                <a:cs typeface="Times New Roman" pitchFamily="18" charset="0"/>
              </a:rPr>
              <a:t>Improved Performance in Diverse Weather:</a:t>
            </a:r>
            <a:r>
              <a:rPr lang="en-US" dirty="0" smtClean="0">
                <a:latin typeface="Times New Roman" pitchFamily="18" charset="0"/>
                <a:cs typeface="Times New Roman" pitchFamily="18" charset="0"/>
              </a:rPr>
              <a:t> </a:t>
            </a:r>
          </a:p>
          <a:p>
            <a:pPr algn="just" fontAlgn="ctr"/>
            <a:r>
              <a:rPr lang="en-US" dirty="0" smtClean="0">
                <a:latin typeface="Times New Roman" pitchFamily="18" charset="0"/>
                <a:cs typeface="Times New Roman" pitchFamily="18" charset="0"/>
              </a:rPr>
              <a:t>ETCs perform well even in cold or cloudy conditions because the vacuum allows for better heat retention. </a:t>
            </a:r>
          </a:p>
          <a:p>
            <a:pPr algn="just"/>
            <a:r>
              <a:rPr lang="en-US" b="1" dirty="0" smtClean="0">
                <a:latin typeface="Times New Roman" pitchFamily="18" charset="0"/>
                <a:cs typeface="Times New Roman" pitchFamily="18" charset="0"/>
              </a:rPr>
              <a:t>Enhanced Evaporation:</a:t>
            </a:r>
            <a:r>
              <a:rPr lang="en-US" dirty="0" smtClean="0">
                <a:latin typeface="Times New Roman" pitchFamily="18" charset="0"/>
                <a:cs typeface="Times New Roman" pitchFamily="18" charset="0"/>
              </a:rPr>
              <a:t> </a:t>
            </a:r>
          </a:p>
          <a:p>
            <a:pPr algn="just" fontAlgn="ctr"/>
            <a:r>
              <a:rPr lang="en-US" dirty="0" smtClean="0">
                <a:latin typeface="Times New Roman" pitchFamily="18" charset="0"/>
                <a:cs typeface="Times New Roman" pitchFamily="18" charset="0"/>
              </a:rPr>
              <a:t>The increased thermal energy generated by ETCs accelerates the evaporation process in the solar still. </a:t>
            </a:r>
          </a:p>
          <a:p>
            <a:pPr algn="just"/>
            <a:r>
              <a:rPr lang="en-US" b="1" dirty="0" smtClean="0">
                <a:latin typeface="Times New Roman" pitchFamily="18" charset="0"/>
                <a:cs typeface="Times New Roman" pitchFamily="18" charset="0"/>
              </a:rPr>
              <a:t>Increased Freshwater Yield:</a:t>
            </a:r>
            <a:r>
              <a:rPr lang="en-US" dirty="0" smtClean="0">
                <a:latin typeface="Times New Roman" pitchFamily="18" charset="0"/>
                <a:cs typeface="Times New Roman" pitchFamily="18" charset="0"/>
              </a:rPr>
              <a:t> </a:t>
            </a:r>
          </a:p>
          <a:p>
            <a:pPr algn="just" fontAlgn="ctr"/>
            <a:r>
              <a:rPr lang="en-US" dirty="0" smtClean="0">
                <a:latin typeface="Times New Roman" pitchFamily="18" charset="0"/>
                <a:cs typeface="Times New Roman" pitchFamily="18" charset="0"/>
              </a:rPr>
              <a:t>By effectively harvesting solar energy, ETCs lead to a higher rate of vaporization and thus increased freshwater production. </a:t>
            </a:r>
          </a:p>
          <a:p>
            <a:pPr algn="just"/>
            <a:r>
              <a:rPr lang="en-US" b="1" dirty="0" smtClean="0">
                <a:latin typeface="Times New Roman" pitchFamily="18" charset="0"/>
                <a:cs typeface="Times New Roman" pitchFamily="18" charset="0"/>
              </a:rPr>
              <a:t>Cost Savings:</a:t>
            </a:r>
            <a:r>
              <a:rPr lang="en-US" dirty="0" smtClean="0">
                <a:latin typeface="Times New Roman" pitchFamily="18" charset="0"/>
                <a:cs typeface="Times New Roman" pitchFamily="18" charset="0"/>
              </a:rPr>
              <a:t> </a:t>
            </a:r>
          </a:p>
          <a:p>
            <a:pPr algn="just"/>
            <a:r>
              <a:rPr lang="en-US" dirty="0" smtClean="0">
                <a:latin typeface="Times New Roman" pitchFamily="18" charset="0"/>
                <a:cs typeface="Times New Roman" pitchFamily="18" charset="0"/>
              </a:rPr>
              <a:t>Some ETC designs are low-cost and do not require additional solar concentrators, making the desalination system more economical. </a:t>
            </a:r>
          </a:p>
          <a:p>
            <a:endParaRPr lang="en-US" dirty="0"/>
          </a:p>
        </p:txBody>
      </p:sp>
      <p:sp>
        <p:nvSpPr>
          <p:cNvPr id="3" name="Title 2"/>
          <p:cNvSpPr>
            <a:spLocks noGrp="1"/>
          </p:cNvSpPr>
          <p:nvPr>
            <p:ph type="title"/>
          </p:nvPr>
        </p:nvSpPr>
        <p:spPr>
          <a:xfrm>
            <a:off x="457200" y="274638"/>
            <a:ext cx="8229600" cy="715962"/>
          </a:xfrm>
        </p:spPr>
        <p:txBody>
          <a:bodyPr>
            <a:normAutofit fontScale="90000"/>
          </a:bodyPr>
          <a:lstStyle/>
          <a:p>
            <a:r>
              <a:rPr lang="en-US" sz="3100" dirty="0" smtClean="0">
                <a:latin typeface="Times New Roman" pitchFamily="18" charset="0"/>
                <a:cs typeface="Times New Roman" pitchFamily="18" charset="0"/>
              </a:rPr>
              <a:t/>
            </a:r>
            <a:br>
              <a:rPr lang="en-US" sz="3100" dirty="0" smtClean="0">
                <a:latin typeface="Times New Roman" pitchFamily="18" charset="0"/>
                <a:cs typeface="Times New Roman" pitchFamily="18" charset="0"/>
              </a:rPr>
            </a:br>
            <a:r>
              <a:rPr lang="en-US" sz="3100" dirty="0" smtClean="0">
                <a:latin typeface="Times New Roman" pitchFamily="18" charset="0"/>
                <a:cs typeface="Times New Roman" pitchFamily="18" charset="0"/>
              </a:rPr>
              <a:t>BENEFITS OF ETCS IN SOLAR DESALINATION</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486400"/>
          </a:xfrm>
        </p:spPr>
        <p:txBody>
          <a:bodyPr>
            <a:normAutofit fontScale="92500" lnSpcReduction="20000"/>
          </a:bodyPr>
          <a:lstStyle/>
          <a:p>
            <a:pPr algn="just"/>
            <a:r>
              <a:rPr lang="en-US" sz="2200" dirty="0" smtClean="0">
                <a:latin typeface="Times New Roman" pitchFamily="18" charset="0"/>
                <a:cs typeface="Times New Roman" pitchFamily="18" charset="0"/>
              </a:rPr>
              <a:t>Solar hot water systems that use </a:t>
            </a:r>
            <a:r>
              <a:rPr lang="en-US" sz="2200" b="1" dirty="0" smtClean="0">
                <a:latin typeface="Times New Roman" pitchFamily="18" charset="0"/>
                <a:cs typeface="Times New Roman" pitchFamily="18" charset="0"/>
              </a:rPr>
              <a:t>Evacuated Tube Collectors</a:t>
            </a:r>
            <a:r>
              <a:rPr lang="en-US" sz="2200" dirty="0" smtClean="0">
                <a:latin typeface="Times New Roman" pitchFamily="18" charset="0"/>
                <a:cs typeface="Times New Roman" pitchFamily="18" charset="0"/>
              </a:rPr>
              <a:t> as their heat source overcome this problem because the solar collector uses individual rounded tubes which are always perpendicular to the sun’s rays for most of the day. This allows a solar hot water system using an </a:t>
            </a:r>
            <a:r>
              <a:rPr lang="en-US" sz="2200" i="1" dirty="0" smtClean="0">
                <a:latin typeface="Times New Roman" pitchFamily="18" charset="0"/>
                <a:cs typeface="Times New Roman" pitchFamily="18" charset="0"/>
              </a:rPr>
              <a:t>evacuated tube collector</a:t>
            </a:r>
            <a:r>
              <a:rPr lang="en-US" sz="2200" dirty="0" smtClean="0">
                <a:latin typeface="Times New Roman" pitchFamily="18" charset="0"/>
                <a:cs typeface="Times New Roman" pitchFamily="18" charset="0"/>
              </a:rPr>
              <a:t> to operate at a much high efficiency and temperature for a much longer period than a conventional single flat plate collector installed system</a:t>
            </a:r>
            <a:r>
              <a:rPr lang="en-US" sz="2200" dirty="0" smtClean="0">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Also, another advantage of solar evacuated tube technology is that the weight and roof structural problems caused by standard flat plate systems are eliminated as the solar tubes are not filled with large amounts of heavy water</a:t>
            </a:r>
            <a:r>
              <a:rPr lang="en-US" sz="2200" dirty="0" smtClean="0">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The </a:t>
            </a:r>
            <a:r>
              <a:rPr lang="en-US" sz="2200" b="1" dirty="0" smtClean="0">
                <a:latin typeface="Times New Roman" pitchFamily="18" charset="0"/>
                <a:cs typeface="Times New Roman" pitchFamily="18" charset="0"/>
              </a:rPr>
              <a:t>Evacuated tube collector</a:t>
            </a:r>
            <a:r>
              <a:rPr lang="en-US" sz="2200" dirty="0" smtClean="0">
                <a:latin typeface="Times New Roman" pitchFamily="18" charset="0"/>
                <a:cs typeface="Times New Roman" pitchFamily="18" charset="0"/>
              </a:rPr>
              <a:t> consists of a number of rows of parallel transparent glass tubes connected to a header pipe and which are used in place of the blackened heat absorbing plate we saw in the previous </a:t>
            </a:r>
            <a:r>
              <a:rPr lang="en-US" sz="2200" dirty="0" smtClean="0">
                <a:latin typeface="Times New Roman" pitchFamily="18" charset="0"/>
                <a:cs typeface="Times New Roman" pitchFamily="18" charset="0"/>
                <a:hlinkClick r:id="rId2"/>
              </a:rPr>
              <a:t>flat plate collector</a:t>
            </a:r>
            <a:r>
              <a:rPr lang="en-US" sz="2200" dirty="0" smtClean="0">
                <a:latin typeface="Times New Roman" pitchFamily="18" charset="0"/>
                <a:cs typeface="Times New Roman" pitchFamily="18" charset="0"/>
              </a:rPr>
              <a:t>.</a:t>
            </a:r>
          </a:p>
          <a:p>
            <a:pPr algn="just"/>
            <a:r>
              <a:rPr lang="en-US" sz="2200" dirty="0" smtClean="0">
                <a:latin typeface="Times New Roman" pitchFamily="18" charset="0"/>
                <a:cs typeface="Times New Roman" pitchFamily="18" charset="0"/>
              </a:rPr>
              <a:t>These glass tubes are cylindrical in shape. Therefore, the angle of the sunlight is always perpendicular to the heat absorbing tubes which enables these collectors to perform well even when sunlight is low such as when it is early in the morning or late in the afternoon, or when shaded by clouds. Evacuated tube collectors are particularly useful in areas with cold, cloudy wintry weathers</a:t>
            </a:r>
          </a:p>
          <a:p>
            <a:pPr algn="just"/>
            <a:endParaRPr lang="en-US" sz="2000" dirty="0">
              <a:latin typeface="Times New Roman" pitchFamily="18" charset="0"/>
              <a:cs typeface="Times New Roman" pitchFamily="18" charset="0"/>
            </a:endParaRPr>
          </a:p>
        </p:txBody>
      </p:sp>
      <p:sp>
        <p:nvSpPr>
          <p:cNvPr id="3" name="Title 2"/>
          <p:cNvSpPr>
            <a:spLocks noGrp="1"/>
          </p:cNvSpPr>
          <p:nvPr>
            <p:ph type="title"/>
          </p:nvPr>
        </p:nvSpPr>
        <p:spPr>
          <a:xfrm>
            <a:off x="457200" y="274638"/>
            <a:ext cx="8153400" cy="639762"/>
          </a:xfrm>
        </p:spPr>
        <p:txBody>
          <a:bodyPr>
            <a:normAutofit/>
          </a:bodyPr>
          <a:lstStyle/>
          <a:p>
            <a:r>
              <a:rPr lang="en-US" sz="3200" dirty="0" smtClean="0">
                <a:latin typeface="Times New Roman" pitchFamily="18" charset="0"/>
                <a:cs typeface="Times New Roman" pitchFamily="18" charset="0"/>
              </a:rPr>
              <a:t>EVACUATED TUBE COLLECTORS</a:t>
            </a:r>
            <a:endParaRPr lang="en-US" sz="32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gn="just"/>
            <a:r>
              <a:rPr lang="en-US" sz="2000" dirty="0" smtClean="0">
                <a:latin typeface="Times New Roman" pitchFamily="18" charset="0"/>
                <a:cs typeface="Times New Roman" pitchFamily="18" charset="0"/>
              </a:rPr>
              <a:t>So how do solar evacuated tube collectors work?. Evacuated tube collectors are made up of a single or multiple rows of parallel, transparent glass tubes supported on a frame. Each individual tube varies in diameter from between 1" (25mm) to 3" (75mm) and between 5′ (1500mm) to 8′ (2400mm) in length depending upon the manufacturer</a:t>
            </a:r>
            <a:r>
              <a:rPr lang="en-US" dirty="0" smtClean="0"/>
              <a:t>.</a:t>
            </a:r>
          </a:p>
          <a:p>
            <a:pPr algn="just"/>
            <a:r>
              <a:rPr lang="en-US" sz="2400" dirty="0" smtClean="0">
                <a:latin typeface="Times New Roman" pitchFamily="18" charset="0"/>
                <a:cs typeface="Times New Roman" pitchFamily="18" charset="0"/>
              </a:rPr>
              <a:t>Each tube consists of a thick glass outer tube and a thinner glass inner tube, (called a “twin-glass tube”) or a “thermos-flask tube” which is covered with a special coating that absorbs solar energy but inhibits heat loss. The tubes are made of borosilicate or soda lime glass, which is strong, resistant to high temperatures and has a high transmittance for solar irradiation.</a:t>
            </a:r>
          </a:p>
          <a:p>
            <a:pPr algn="just"/>
            <a:r>
              <a:rPr lang="en-US" sz="2400" dirty="0" smtClean="0">
                <a:latin typeface="Times New Roman" pitchFamily="18" charset="0"/>
                <a:cs typeface="Times New Roman" pitchFamily="18" charset="0"/>
              </a:rPr>
              <a:t>Unlike flat panel collectors, evacuated tube collectors do not heat the water directly within the tubes. Instead, air is removed or evacuated from the space between the two tubes, forming a vacuum (hence the name </a:t>
            </a:r>
            <a:r>
              <a:rPr lang="en-US" sz="2400" b="1" dirty="0" smtClean="0">
                <a:latin typeface="Times New Roman" pitchFamily="18" charset="0"/>
                <a:cs typeface="Times New Roman" pitchFamily="18" charset="0"/>
              </a:rPr>
              <a:t>evacuated tubes</a:t>
            </a:r>
            <a:r>
              <a:rPr lang="en-US" sz="2400" dirty="0" smtClean="0">
                <a:latin typeface="Times New Roman" pitchFamily="18" charset="0"/>
                <a:cs typeface="Times New Roman" pitchFamily="18" charset="0"/>
              </a:rPr>
              <a:t>).</a:t>
            </a:r>
          </a:p>
          <a:p>
            <a:pPr algn="just"/>
            <a:endParaRPr lang="en-US" dirty="0"/>
          </a:p>
        </p:txBody>
      </p:sp>
      <p:sp>
        <p:nvSpPr>
          <p:cNvPr id="3" name="Title 2"/>
          <p:cNvSpPr>
            <a:spLocks noGrp="1"/>
          </p:cNvSpPr>
          <p:nvPr>
            <p:ph type="title"/>
          </p:nvPr>
        </p:nvSpPr>
        <p:spPr>
          <a:xfrm>
            <a:off x="304800" y="274638"/>
            <a:ext cx="8534400" cy="1143000"/>
          </a:xfrm>
        </p:spPr>
        <p:txBody>
          <a:bodyPr>
            <a:normAutofit/>
          </a:bodyPr>
          <a:lstStyle/>
          <a:p>
            <a:pPr algn="ctr"/>
            <a:r>
              <a:rPr lang="en-US" sz="3200" dirty="0" smtClean="0">
                <a:latin typeface="Times New Roman" pitchFamily="18" charset="0"/>
                <a:cs typeface="Times New Roman" pitchFamily="18" charset="0"/>
              </a:rPr>
              <a:t>WORKING OF EVACUATED TUBE COLLECTORS </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This vacuum acts as an insulator reducing any heat loss significantly to the surrounding atmosphere either through convection or radiation making the collector much more efficient than the internal insulating that flat plate collectors have to offer. With the assistance of this vacuum, evacuated tube collectors generally produce higher fluid temperatures than they’re flat plate counterparts so may become very hot in summer</a:t>
            </a:r>
            <a:endParaRPr lang="en-US" sz="20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7239000" cy="792162"/>
          </a:xfrm>
        </p:spPr>
        <p:txBody>
          <a:bodyPr>
            <a:normAutofit fontScale="90000"/>
          </a:bodyPr>
          <a:lstStyle/>
          <a:p>
            <a:r>
              <a:rPr lang="en-US" b="0" dirty="0" smtClean="0"/>
              <a:t/>
            </a:r>
            <a:br>
              <a:rPr lang="en-US" b="0" dirty="0" smtClean="0"/>
            </a:br>
            <a:r>
              <a:rPr lang="en-US" b="0" dirty="0" smtClean="0"/>
              <a:t/>
            </a:r>
            <a:br>
              <a:rPr lang="en-US" b="0" dirty="0" smtClean="0"/>
            </a:br>
            <a:r>
              <a:rPr lang="en-US" sz="3600" dirty="0" smtClean="0">
                <a:latin typeface="Times New Roman" pitchFamily="18" charset="0"/>
                <a:cs typeface="Times New Roman" pitchFamily="18" charset="0"/>
              </a:rPr>
              <a:t>EVACUATED TUBE COLLECTOR</a:t>
            </a:r>
            <a:r>
              <a:rPr lang="en-US" b="0" dirty="0" smtClean="0">
                <a:latin typeface="Times New Roman" pitchFamily="18" charset="0"/>
                <a:cs typeface="Times New Roman" pitchFamily="18" charset="0"/>
              </a:rPr>
              <a:t/>
            </a:r>
            <a:br>
              <a:rPr lang="en-US" b="0" dirty="0" smtClean="0">
                <a:latin typeface="Times New Roman" pitchFamily="18" charset="0"/>
                <a:cs typeface="Times New Roman" pitchFamily="18" charset="0"/>
              </a:rPr>
            </a:br>
            <a:r>
              <a:rPr lang="en-US" dirty="0" smtClean="0"/>
              <a:t/>
            </a:r>
            <a:br>
              <a:rPr lang="en-US" dirty="0" smtClean="0"/>
            </a:br>
            <a:endParaRPr lang="en-US" dirty="0"/>
          </a:p>
        </p:txBody>
      </p:sp>
      <p:pic>
        <p:nvPicPr>
          <p:cNvPr id="4" name="Picture 2"/>
          <p:cNvPicPr>
            <a:picLocks noGrp="1" noChangeAspect="1" noChangeArrowheads="1"/>
          </p:cNvPicPr>
          <p:nvPr>
            <p:ph idx="1"/>
          </p:nvPr>
        </p:nvPicPr>
        <p:blipFill>
          <a:blip r:embed="rId2" cstate="print"/>
          <a:srcRect/>
          <a:stretch>
            <a:fillRect/>
          </a:stretch>
        </p:blipFill>
        <p:spPr bwMode="auto">
          <a:xfrm>
            <a:off x="1295400" y="1905000"/>
            <a:ext cx="6705600" cy="37687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85800"/>
            <a:ext cx="8229600" cy="5867400"/>
          </a:xfrm>
        </p:spPr>
        <p:txBody>
          <a:bodyPr>
            <a:normAutofit/>
          </a:bodyPr>
          <a:lstStyle/>
          <a:p>
            <a:pPr algn="just"/>
            <a:r>
              <a:rPr lang="en-US" sz="2000" dirty="0" smtClean="0">
                <a:latin typeface="Times New Roman" pitchFamily="18" charset="0"/>
                <a:cs typeface="Times New Roman" pitchFamily="18" charset="0"/>
              </a:rPr>
              <a:t>Inside the each glass tube, a flat or curved </a:t>
            </a:r>
            <a:r>
              <a:rPr lang="en-US" sz="2000" dirty="0" err="1" smtClean="0">
                <a:latin typeface="Times New Roman" pitchFamily="18" charset="0"/>
                <a:cs typeface="Times New Roman" pitchFamily="18" charset="0"/>
              </a:rPr>
              <a:t>aluminium</a:t>
            </a:r>
            <a:r>
              <a:rPr lang="en-US" sz="2000" dirty="0" smtClean="0">
                <a:latin typeface="Times New Roman" pitchFamily="18" charset="0"/>
                <a:cs typeface="Times New Roman" pitchFamily="18" charset="0"/>
              </a:rPr>
              <a:t> or copper fin is attached to a metal heat pipe running through the inner tube. The fin is covered with a selective coating that transfers heat to the fluid that is circulating through the pipe. This sealed copper heat pipe transfers the solar heat via convection of its internal heat transfer fluid to a “hot bulb” that indirectly heats a copper manifold within the header tank</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These copper pipes are all connected to a common manifold which is then connected to a storage tank, thus heating the hot water during the day. The hot water can then be used at night or the next day due to the insulating properties of the tank.</a:t>
            </a:r>
          </a:p>
          <a:p>
            <a:pPr algn="just"/>
            <a:r>
              <a:rPr lang="en-US" sz="2000" dirty="0" smtClean="0">
                <a:latin typeface="Times New Roman" pitchFamily="18" charset="0"/>
                <a:cs typeface="Times New Roman" pitchFamily="18" charset="0"/>
              </a:rPr>
              <a:t>The insulation properties of the vacuum are so good that while the inner tube may be as high as 150</a:t>
            </a:r>
            <a:r>
              <a:rPr lang="en-US" sz="2000" baseline="30000" dirty="0" smtClean="0">
                <a:latin typeface="Times New Roman" pitchFamily="18" charset="0"/>
                <a:cs typeface="Times New Roman" pitchFamily="18" charset="0"/>
              </a:rPr>
              <a:t>o</a:t>
            </a:r>
            <a:r>
              <a:rPr lang="en-US" sz="2000" dirty="0" smtClean="0">
                <a:latin typeface="Times New Roman" pitchFamily="18" charset="0"/>
                <a:cs typeface="Times New Roman" pitchFamily="18" charset="0"/>
              </a:rPr>
              <a:t>C, the outer tube is cooler to touch. This means that evacuated tube water heaters can perform well and can heat water to fairly high temperatures even in cold weather when flat plate collectors perform poorly due to heat loss</a:t>
            </a:r>
          </a:p>
          <a:p>
            <a:pPr algn="just"/>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533400"/>
            <a:ext cx="8382000" cy="5943600"/>
          </a:xfrm>
        </p:spPr>
        <p:txBody>
          <a:bodyPr>
            <a:normAutofit/>
          </a:bodyPr>
          <a:lstStyle/>
          <a:p>
            <a:pPr algn="just"/>
            <a:r>
              <a:rPr lang="en-US" sz="2000" dirty="0" smtClean="0">
                <a:latin typeface="Times New Roman" pitchFamily="18" charset="0"/>
                <a:cs typeface="Times New Roman" pitchFamily="18" charset="0"/>
              </a:rPr>
              <a:t>However, the downside of using evacuated tubes is that the panel can be a lot more expensive compared to standard flat plate collectors or solar batch collectors. Evacuated tube solar collectors are well suited to commercial and industrial hot water heating applications and can be an effective alternative to flat plate collectors for domestic space heating, especially in areas where it is often cloudy</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Evacuated tube collectors are overall more modern and more efficient compared to the standard flat plate collectors as they can extract the heat out of the air on a humid, dull overcast days and do not need direct sunlight to operate. Due to the vacuum inside the glass tube, the total efficiency in all areas is higher and there is a better performance even when the sun is not at an optimum angle.</a:t>
            </a:r>
          </a:p>
          <a:p>
            <a:pPr algn="just"/>
            <a:r>
              <a:rPr lang="en-US" sz="2000" dirty="0" smtClean="0">
                <a:latin typeface="Times New Roman" pitchFamily="18" charset="0"/>
                <a:cs typeface="Times New Roman" pitchFamily="18" charset="0"/>
              </a:rPr>
              <a:t>For these types of solar hot water panels, the configuration of the vacuum tube is what’s really important. There are a few different vacuum tube configurations, single wall tube, double wall tube, direct flow or heat pipe, and these differences can determine how the fluid is circulated around the solar hot water panel.</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Rot="1" noChangeArrowheads="1"/>
          </p:cNvSpPr>
          <p:nvPr>
            <p:ph idx="1"/>
          </p:nvPr>
        </p:nvSpPr>
        <p:spPr/>
        <p:txBody>
          <a:bodyPr/>
          <a:lstStyle/>
          <a:p>
            <a:r>
              <a:rPr lang="en-US">
                <a:hlinkClick r:id="rId3"/>
              </a:rPr>
              <a:t>http://southface.org/solar/solar-roadmap/solar_how-to/solar-how_solar_works.htm</a:t>
            </a:r>
            <a:endParaRPr lang="en-US"/>
          </a:p>
          <a:p>
            <a:r>
              <a:rPr lang="en-US"/>
              <a:t>Boyle, Jeoffery, </a:t>
            </a:r>
            <a:r>
              <a:rPr lang="en-US" u="sng"/>
              <a:t>Renewable Energy</a:t>
            </a:r>
          </a:p>
          <a:p>
            <a:r>
              <a:rPr lang="en-US"/>
              <a:t>Practical Action, The Schumacher Center for Technology and Development</a:t>
            </a:r>
          </a:p>
          <a:p>
            <a:endParaRPr lang="en-US"/>
          </a:p>
          <a:p>
            <a:endParaRPr lang="en-US"/>
          </a:p>
        </p:txBody>
      </p:sp>
      <p:sp>
        <p:nvSpPr>
          <p:cNvPr id="58370" name="Rectangle 2"/>
          <p:cNvSpPr>
            <a:spLocks noGrp="1" noRot="1" noChangeArrowheads="1"/>
          </p:cNvSpPr>
          <p:nvPr>
            <p:ph type="title"/>
          </p:nvPr>
        </p:nvSpPr>
        <p:spPr/>
        <p:txBody>
          <a:bodyPr/>
          <a:lstStyle/>
          <a:p>
            <a:r>
              <a:rPr lang="en-US"/>
              <a:t>References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Rot="1" noChangeArrowheads="1"/>
          </p:cNvSpPr>
          <p:nvPr>
            <p:ph idx="1"/>
          </p:nvPr>
        </p:nvSpPr>
        <p:spPr/>
        <p:txBody>
          <a:bodyPr/>
          <a:lstStyle/>
          <a:p>
            <a:pPr algn="ctr">
              <a:buFont typeface="Wingdings" pitchFamily="2" charset="2"/>
              <a:buNone/>
            </a:pPr>
            <a:r>
              <a:rPr lang="en-US" sz="8000"/>
              <a:t>Thank you!!!!</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Solar reflectors in a solar desalination system focus and redirect sunlight to the evaporation unit, thereby increasing solar radiation absorption and boosting freshwater production.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These </a:t>
            </a:r>
            <a:r>
              <a:rPr lang="en-US" sz="2000" dirty="0" smtClean="0">
                <a:latin typeface="Times New Roman" pitchFamily="18" charset="0"/>
                <a:cs typeface="Times New Roman" pitchFamily="18" charset="0"/>
              </a:rPr>
              <a:t>reflectors can be internal, located within the solar still to concentrate sunlight on the absorber plate, or external, mounted around the unit to capture and direct more solar energy onto the evaporation area</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Common materials for reflectors include glass, </a:t>
            </a:r>
            <a:r>
              <a:rPr lang="en-US" sz="2000" dirty="0" smtClean="0">
                <a:latin typeface="Times New Roman" pitchFamily="18" charset="0"/>
                <a:cs typeface="Times New Roman" pitchFamily="18" charset="0"/>
                <a:hlinkClick r:id="rId2"/>
              </a:rPr>
              <a:t>anodized aluminum</a:t>
            </a:r>
            <a:r>
              <a:rPr lang="en-US" sz="2000" dirty="0" smtClean="0">
                <a:latin typeface="Times New Roman" pitchFamily="18" charset="0"/>
                <a:cs typeface="Times New Roman" pitchFamily="18" charset="0"/>
              </a:rPr>
              <a:t>, and mirrors, with designs ranging from simple flat plates to parabolic shapes, all aimed at enhancing system efficiency and daily distillate output</a:t>
            </a:r>
            <a:endParaRPr lang="en-US" sz="20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200" dirty="0" smtClean="0">
                <a:latin typeface="Times New Roman" pitchFamily="18" charset="0"/>
                <a:cs typeface="Times New Roman" pitchFamily="18" charset="0"/>
              </a:rPr>
              <a:t>Energy efficiency of </a:t>
            </a:r>
            <a:r>
              <a:rPr lang="en-US" sz="2200" dirty="0" err="1" smtClean="0">
                <a:latin typeface="Times New Roman" pitchFamily="18" charset="0"/>
                <a:cs typeface="Times New Roman" pitchFamily="18" charset="0"/>
              </a:rPr>
              <a:t>Nano</a:t>
            </a:r>
            <a:r>
              <a:rPr lang="en-US" sz="2200" dirty="0" smtClean="0">
                <a:latin typeface="Times New Roman" pitchFamily="18" charset="0"/>
                <a:cs typeface="Times New Roman" pitchFamily="18" charset="0"/>
              </a:rPr>
              <a:t> filtration</a:t>
            </a:r>
            <a:r>
              <a:rPr lang="en-US" sz="2200" dirty="0" smtClean="0">
                <a:latin typeface="Times New Roman" pitchFamily="18" charset="0"/>
                <a:cs typeface="Times New Roman" pitchFamily="18" charset="0"/>
              </a:rPr>
              <a:t>, emerging technologies for desalination will be considered. </a:t>
            </a:r>
          </a:p>
          <a:p>
            <a:pPr algn="just"/>
            <a:r>
              <a:rPr lang="en-US" sz="2200" dirty="0" err="1" smtClean="0">
                <a:latin typeface="Times New Roman" pitchFamily="18" charset="0"/>
                <a:cs typeface="Times New Roman" pitchFamily="18" charset="0"/>
              </a:rPr>
              <a:t>Nano</a:t>
            </a:r>
            <a:r>
              <a:rPr lang="en-US" sz="2200" dirty="0" smtClean="0">
                <a:latin typeface="Times New Roman" pitchFamily="18" charset="0"/>
                <a:cs typeface="Times New Roman" pitchFamily="18" charset="0"/>
              </a:rPr>
              <a:t> filtration </a:t>
            </a:r>
            <a:r>
              <a:rPr lang="en-US" sz="2200" dirty="0" smtClean="0">
                <a:latin typeface="Times New Roman" pitchFamily="18" charset="0"/>
                <a:cs typeface="Times New Roman" pitchFamily="18" charset="0"/>
              </a:rPr>
              <a:t>is more energy-efficient than reverse osmosis (RO) in desalination because its lower operating pressures require less energy, leading to significant energy savings and lower costs. Emerging desalination technologies focus on further improving energy efficiency through renewable energy integration and advanced membrane designs, while novel processes like </a:t>
            </a:r>
            <a:r>
              <a:rPr lang="en-US" sz="2200" dirty="0" err="1" smtClean="0">
                <a:latin typeface="Times New Roman" pitchFamily="18" charset="0"/>
                <a:cs typeface="Times New Roman" pitchFamily="18" charset="0"/>
                <a:hlinkClick r:id="rId2"/>
              </a:rPr>
              <a:t>electrodialysis</a:t>
            </a:r>
            <a:r>
              <a:rPr lang="en-US" sz="2200" dirty="0" smtClean="0">
                <a:latin typeface="Times New Roman" pitchFamily="18" charset="0"/>
                <a:cs typeface="Times New Roman" pitchFamily="18" charset="0"/>
              </a:rPr>
              <a:t> (ED) and </a:t>
            </a:r>
            <a:r>
              <a:rPr lang="en-US" sz="2200" dirty="0" smtClean="0">
                <a:latin typeface="Times New Roman" pitchFamily="18" charset="0"/>
                <a:cs typeface="Times New Roman" pitchFamily="18" charset="0"/>
                <a:hlinkClick r:id="rId3"/>
              </a:rPr>
              <a:t>forward osmosis</a:t>
            </a:r>
            <a:r>
              <a:rPr lang="en-US" sz="2200" dirty="0" smtClean="0">
                <a:latin typeface="Times New Roman" pitchFamily="18" charset="0"/>
                <a:cs typeface="Times New Roman" pitchFamily="18" charset="0"/>
              </a:rPr>
              <a:t> (FO) also offer potential energy benefits, particularly for brackish water and in hybrid systems.</a:t>
            </a:r>
            <a:r>
              <a:rPr lang="en-US" dirty="0" smtClean="0"/>
              <a:t> </a:t>
            </a:r>
            <a:endParaRPr lang="en-US" dirty="0"/>
          </a:p>
        </p:txBody>
      </p:sp>
      <p:sp>
        <p:nvSpPr>
          <p:cNvPr id="3" name="Title 2"/>
          <p:cNvSpPr>
            <a:spLocks noGrp="1"/>
          </p:cNvSpPr>
          <p:nvPr>
            <p:ph type="title"/>
          </p:nvPr>
        </p:nvSpPr>
        <p:spPr/>
        <p:txBody>
          <a:bodyPr>
            <a:normAutofit/>
          </a:bodyPr>
          <a:lstStyle/>
          <a:p>
            <a:pPr algn="ctr"/>
            <a:r>
              <a:rPr lang="en-US" sz="3200" dirty="0" smtClean="0">
                <a:latin typeface="Times New Roman" pitchFamily="18" charset="0"/>
                <a:cs typeface="Times New Roman" pitchFamily="18" charset="0"/>
              </a:rPr>
              <a:t>ENERGY EFFICIENCY OF NANO FILTRATION</a:t>
            </a:r>
            <a:endParaRPr lang="en-US" sz="3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b="1" dirty="0" smtClean="0"/>
              <a:t>Lower </a:t>
            </a:r>
            <a:r>
              <a:rPr lang="en-US" b="1" dirty="0" smtClean="0"/>
              <a:t>Operating Pressures:</a:t>
            </a:r>
            <a:r>
              <a:rPr lang="en-US" dirty="0" smtClean="0"/>
              <a:t> </a:t>
            </a:r>
          </a:p>
          <a:p>
            <a:pPr fontAlgn="ctr"/>
            <a:r>
              <a:rPr lang="en-US" dirty="0" smtClean="0"/>
              <a:t>NF membranes operate at lower pressures compared to RO, which directly translates to reduced energy consumption. </a:t>
            </a:r>
          </a:p>
          <a:p>
            <a:r>
              <a:rPr lang="en-US" b="1" dirty="0" smtClean="0"/>
              <a:t>Selective Ion Separation:</a:t>
            </a:r>
            <a:r>
              <a:rPr lang="en-US" dirty="0" smtClean="0"/>
              <a:t> </a:t>
            </a:r>
          </a:p>
          <a:p>
            <a:pPr fontAlgn="ctr"/>
            <a:r>
              <a:rPr lang="en-US" dirty="0" smtClean="0"/>
              <a:t>By allowing </a:t>
            </a:r>
            <a:r>
              <a:rPr lang="en-US" dirty="0" err="1" smtClean="0"/>
              <a:t>monovalent</a:t>
            </a:r>
            <a:r>
              <a:rPr lang="en-US" dirty="0" smtClean="0"/>
              <a:t> ions to pass while rejecting multivalent ions, NF processes are inherently more energy-efficient than systems that must remove all ions, like RO. </a:t>
            </a:r>
          </a:p>
          <a:p>
            <a:r>
              <a:rPr lang="en-US" b="1" dirty="0" smtClean="0"/>
              <a:t>Reduced Costs:</a:t>
            </a:r>
            <a:r>
              <a:rPr lang="en-US" dirty="0" smtClean="0"/>
              <a:t> </a:t>
            </a:r>
          </a:p>
          <a:p>
            <a:pPr fontAlgn="ctr"/>
            <a:r>
              <a:rPr lang="en-US" dirty="0" smtClean="0"/>
              <a:t>Lower energy needs result in a more cost-effective desalinated water production, making NF a financially attractive option, especially in areas with high energy costs. </a:t>
            </a:r>
          </a:p>
          <a:p>
            <a:r>
              <a:rPr lang="en-US" dirty="0" smtClean="0"/>
              <a:t/>
            </a:r>
            <a:br>
              <a:rPr lang="en-US" dirty="0" smtClean="0"/>
            </a:br>
            <a:endParaRPr lang="en-US" dirty="0"/>
          </a:p>
        </p:txBody>
      </p:sp>
      <p:sp>
        <p:nvSpPr>
          <p:cNvPr id="3" name="Title 2"/>
          <p:cNvSpPr>
            <a:spLocks noGrp="1"/>
          </p:cNvSpPr>
          <p:nvPr>
            <p:ph type="title"/>
          </p:nvPr>
        </p:nvSpPr>
        <p:spPr>
          <a:xfrm>
            <a:off x="457200" y="274638"/>
            <a:ext cx="8686800" cy="1143000"/>
          </a:xfrm>
        </p:spPr>
        <p:txBody>
          <a:bodyPr>
            <a:normAutofit fontScale="90000"/>
          </a:bodyPr>
          <a:lstStyle/>
          <a:p>
            <a:pPr algn="ctr"/>
            <a:r>
              <a:rPr lang="en-US" dirty="0" smtClean="0"/>
              <a:t/>
            </a:r>
            <a:br>
              <a:rPr lang="en-US" dirty="0" smtClean="0"/>
            </a:br>
            <a:r>
              <a:rPr lang="en-US" sz="3600" dirty="0" smtClean="0"/>
              <a:t>ENERGY EFFICIENCY OF NANOFILTRATION (NF)</a:t>
            </a:r>
            <a:r>
              <a:rPr lang="en-US" dirty="0" smtClean="0"/>
              <a:t/>
            </a:r>
            <a:br>
              <a:rPr lang="en-US" dirty="0" smtClean="0"/>
            </a:b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55000" lnSpcReduction="20000"/>
          </a:bodyPr>
          <a:lstStyle/>
          <a:p>
            <a:r>
              <a:rPr lang="en-US" b="1" dirty="0" smtClean="0"/>
              <a:t>Renewable </a:t>
            </a:r>
            <a:r>
              <a:rPr lang="en-US" b="1" dirty="0" smtClean="0"/>
              <a:t>Energy Integration:</a:t>
            </a:r>
            <a:r>
              <a:rPr lang="en-US" dirty="0" smtClean="0"/>
              <a:t> </a:t>
            </a:r>
          </a:p>
          <a:p>
            <a:pPr fontAlgn="ctr"/>
            <a:r>
              <a:rPr lang="en-US" dirty="0" smtClean="0"/>
              <a:t>Integrating renewable sources such as solar thermal, solar PV, wind, and geothermal power with thermal desalination plants helps reduce greenhouse gas emissions and overall energy consumption. </a:t>
            </a:r>
          </a:p>
          <a:p>
            <a:r>
              <a:rPr lang="en-US" b="1" dirty="0" smtClean="0"/>
              <a:t>Hybrid Systems:</a:t>
            </a:r>
            <a:r>
              <a:rPr lang="en-US" dirty="0" smtClean="0"/>
              <a:t> </a:t>
            </a:r>
          </a:p>
          <a:p>
            <a:pPr fontAlgn="ctr"/>
            <a:r>
              <a:rPr lang="en-US" dirty="0" smtClean="0"/>
              <a:t>Combining different technologies, such as </a:t>
            </a:r>
            <a:r>
              <a:rPr lang="en-US" dirty="0" smtClean="0">
                <a:hlinkClick r:id="rId2"/>
              </a:rPr>
              <a:t>membranes with renewable energy sources</a:t>
            </a:r>
            <a:r>
              <a:rPr lang="en-US" dirty="0" smtClean="0"/>
              <a:t>, can create more energy-efficient desalination processes for various water types. </a:t>
            </a:r>
          </a:p>
          <a:p>
            <a:r>
              <a:rPr lang="en-US" b="1" dirty="0" smtClean="0"/>
              <a:t>Advanced Membranes:</a:t>
            </a:r>
            <a:r>
              <a:rPr lang="en-US" dirty="0" smtClean="0"/>
              <a:t> </a:t>
            </a:r>
          </a:p>
          <a:p>
            <a:pPr fontAlgn="ctr"/>
            <a:r>
              <a:rPr lang="en-US" dirty="0" smtClean="0"/>
              <a:t>Research and development of innovative NF membranes are focused on improving flux, selectivity, and fouling resistance, further reducing energy consumption by operating under more efficient conditions. </a:t>
            </a:r>
          </a:p>
          <a:p>
            <a:r>
              <a:rPr lang="en-US" b="1" dirty="0" smtClean="0">
                <a:hlinkClick r:id="rId3"/>
              </a:rPr>
              <a:t>Green Hydrogen Production</a:t>
            </a:r>
            <a:r>
              <a:rPr lang="en-US" b="1" dirty="0" smtClean="0"/>
              <a:t>:</a:t>
            </a:r>
            <a:r>
              <a:rPr lang="en-US" dirty="0" smtClean="0"/>
              <a:t> </a:t>
            </a:r>
          </a:p>
          <a:p>
            <a:pPr fontAlgn="ctr"/>
            <a:r>
              <a:rPr lang="en-US" dirty="0" smtClean="0"/>
              <a:t>The use of green hydrogen, produced via water electrolysis powered by renewable energy, highlights the need for efficient desalination to supply ultrapure water for </a:t>
            </a:r>
            <a:r>
              <a:rPr lang="en-US" dirty="0" err="1" smtClean="0"/>
              <a:t>electrolyzers</a:t>
            </a:r>
            <a:r>
              <a:rPr lang="en-US" dirty="0" smtClean="0"/>
              <a:t>, driving further innovation in this area. </a:t>
            </a:r>
          </a:p>
          <a:p>
            <a:r>
              <a:rPr lang="en-US" b="1" dirty="0" smtClean="0"/>
              <a:t>Other Emerging Technologies:</a:t>
            </a:r>
            <a:r>
              <a:rPr lang="en-US" dirty="0" smtClean="0"/>
              <a:t> </a:t>
            </a:r>
          </a:p>
          <a:p>
            <a:r>
              <a:rPr lang="en-US" dirty="0" smtClean="0"/>
              <a:t>Technologies like </a:t>
            </a:r>
            <a:r>
              <a:rPr lang="en-US" dirty="0" err="1" smtClean="0"/>
              <a:t>electrodialysis</a:t>
            </a:r>
            <a:r>
              <a:rPr lang="en-US" dirty="0" smtClean="0"/>
              <a:t> (ED) and forward osmosis (FO) are also being developed for their energy-saving potential, particularly for brackish water desalination and in conjunction with other processes</a:t>
            </a:r>
          </a:p>
          <a:p>
            <a:endParaRPr lang="en-US" dirty="0"/>
          </a:p>
        </p:txBody>
      </p:sp>
      <p:sp>
        <p:nvSpPr>
          <p:cNvPr id="3" name="Title 2"/>
          <p:cNvSpPr>
            <a:spLocks noGrp="1"/>
          </p:cNvSpPr>
          <p:nvPr>
            <p:ph type="title"/>
          </p:nvPr>
        </p:nvSpPr>
        <p:spPr/>
        <p:txBody>
          <a:bodyPr>
            <a:normAutofit fontScale="90000"/>
          </a:bodyPr>
          <a:lstStyle/>
          <a:p>
            <a:pPr algn="ctr"/>
            <a:r>
              <a:rPr lang="en-US" dirty="0" smtClean="0"/>
              <a:t/>
            </a:r>
            <a:br>
              <a:rPr lang="en-US" dirty="0" smtClean="0"/>
            </a:br>
            <a:r>
              <a:rPr lang="en-US" sz="3600" dirty="0" smtClean="0"/>
              <a:t>EMERGING TECHNOLOGIES AND ENERGY EFFICIENCY</a:t>
            </a:r>
            <a:r>
              <a:rPr lang="en-US" dirty="0" smtClean="0"/>
              <a:t/>
            </a:r>
            <a:br>
              <a:rPr lang="en-US" dirty="0" smtClean="0"/>
            </a:b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312</TotalTime>
  <Words>2150</Words>
  <Application>Microsoft Office PowerPoint</Application>
  <PresentationFormat>On-screen Show (4:3)</PresentationFormat>
  <Paragraphs>297</Paragraphs>
  <Slides>57</Slides>
  <Notes>24</Notes>
  <HiddenSlides>1</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Concourse</vt:lpstr>
      <vt:lpstr>Solar Thermal Energy</vt:lpstr>
      <vt:lpstr>Introduction</vt:lpstr>
      <vt:lpstr>Introduction</vt:lpstr>
      <vt:lpstr>Solar Thermal Energy</vt:lpstr>
      <vt:lpstr>The nature and availability of solar radiation</vt:lpstr>
      <vt:lpstr>Slide 6</vt:lpstr>
      <vt:lpstr>Slide 7</vt:lpstr>
      <vt:lpstr>Key Features &amp; Innovations </vt:lpstr>
      <vt:lpstr>Slide 9</vt:lpstr>
      <vt:lpstr>Benefits </vt:lpstr>
      <vt:lpstr>Challenges &amp; Future Outlook </vt:lpstr>
      <vt:lpstr>How does solar thermal work?</vt:lpstr>
      <vt:lpstr>Solar thermal designs</vt:lpstr>
      <vt:lpstr>Different types of systems</vt:lpstr>
      <vt:lpstr>Passive</vt:lpstr>
      <vt:lpstr>Types of Passive systems</vt:lpstr>
      <vt:lpstr>Direct Gain</vt:lpstr>
      <vt:lpstr>Active</vt:lpstr>
      <vt:lpstr>Indirect System</vt:lpstr>
      <vt:lpstr>Direct System</vt:lpstr>
      <vt:lpstr>Collecting the sun</vt:lpstr>
      <vt:lpstr>Solar cooking</vt:lpstr>
      <vt:lpstr>Space heating</vt:lpstr>
      <vt:lpstr>Trombe wall</vt:lpstr>
      <vt:lpstr>Daylighting</vt:lpstr>
      <vt:lpstr>Slide 26</vt:lpstr>
      <vt:lpstr>Slide 27</vt:lpstr>
      <vt:lpstr>ADVANTAGES OF SOLAR DESALINATION </vt:lpstr>
      <vt:lpstr>DISADVANTAGES OF SOLAR DESALINATION </vt:lpstr>
      <vt:lpstr>Slide 30</vt:lpstr>
      <vt:lpstr>  OBSERVATION OF ENHANCED PARAMETERS        FOR CONVENTIONAL SOLAR STILL   </vt:lpstr>
      <vt:lpstr>Double-slope collector solar still </vt:lpstr>
      <vt:lpstr>Slide 33</vt:lpstr>
      <vt:lpstr>Slide 34</vt:lpstr>
      <vt:lpstr>Slide 35</vt:lpstr>
      <vt:lpstr>Solar thermal power stations</vt:lpstr>
      <vt:lpstr>Parabolic trough</vt:lpstr>
      <vt:lpstr>Other Uses</vt:lpstr>
      <vt:lpstr> PURPOSE OF SOLAR REFLECTORS </vt:lpstr>
      <vt:lpstr> TYPES AND CONFIGURATIONS </vt:lpstr>
      <vt:lpstr> MATERIALS </vt:lpstr>
      <vt:lpstr> EVACUATED TUBE COLLECTOR </vt:lpstr>
      <vt:lpstr>EVACUATED TUBE COLLECTORS</vt:lpstr>
      <vt:lpstr> How Evacuated Tube Collectors Work in Desalination </vt:lpstr>
      <vt:lpstr> BENEFITS OF ETCS IN SOLAR DESALINATION </vt:lpstr>
      <vt:lpstr>EVACUATED TUBE COLLECTORS</vt:lpstr>
      <vt:lpstr>WORKING OF EVACUATED TUBE COLLECTORS </vt:lpstr>
      <vt:lpstr>Slide 48</vt:lpstr>
      <vt:lpstr>  EVACUATED TUBE COLLECTOR  </vt:lpstr>
      <vt:lpstr>Slide 50</vt:lpstr>
      <vt:lpstr>Slide 51</vt:lpstr>
      <vt:lpstr>References</vt:lpstr>
      <vt:lpstr>Slide 53</vt:lpstr>
      <vt:lpstr>Slide 54</vt:lpstr>
      <vt:lpstr>ENERGY EFFICIENCY OF NANO FILTRATION</vt:lpstr>
      <vt:lpstr> ENERGY EFFICIENCY OF NANOFILTRATION (NF) </vt:lpstr>
      <vt:lpstr> EMERGING TECHNOLOGIES AND ENERGY EFFICIENCY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Alex</dc:creator>
  <cp:lastModifiedBy>subas.dash</cp:lastModifiedBy>
  <cp:revision>33</cp:revision>
  <dcterms:created xsi:type="dcterms:W3CDTF">2007-02-21T02:25:16Z</dcterms:created>
  <dcterms:modified xsi:type="dcterms:W3CDTF">2025-09-24T07:02:19Z</dcterms:modified>
</cp:coreProperties>
</file>