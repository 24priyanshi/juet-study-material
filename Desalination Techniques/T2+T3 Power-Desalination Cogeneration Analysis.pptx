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Reverse+Osmosis+%28RO%29&amp;rlz=1C1GCEU_enIN1119IN1119&amp;oq=Power-Desalination+Cogeneration+Analysis&amp;gs_lcrp=EgZjaHJvbWUyBggAEEUYOTIHCAEQIRigATIHCAIQIRigATIHCAMQIRigAdIBCTE3MTVqMGoxNagCCLACAfEFbzyKhNwkIBQ&amp;sourceid=chrome&amp;ie=UTF-8&amp;mstk=AUtExfB3g5iLOYGXfdw-ZJxkCl7jymwcOH1JN9Lfj-9-XuZipmQexuKY7eVL3ySaatuiKTqGFnGuc1qtXIB9nM8qmfBJcQr2HNyAAzq_xpYC8p5wliuH1ACTQfP6jOkNwxZRc0D10302awWQhp131bq3bVfjhYczA1_hZiVpqyoItH7gdCejToVP9uEppX_C_K7zYSjKFIJ486slnPJlDlt5R310_A&amp;csui=3&amp;ved=2ahUKEwikn8jOsdqQAxXKIDQIHTl9KFsQgK4QegQIARAF" TargetMode="External"/><Relationship Id="rId2" Type="http://schemas.openxmlformats.org/officeDocument/2006/relationships/hyperlink" Target="https://www.google.com/search?q=Multi-Stage+Flash+%28MSF%29&amp;rlz=1C1GCEU_enIN1119IN1119&amp;oq=Power-Desalination+Cogeneration+Analysis&amp;gs_lcrp=EgZjaHJvbWUyBggAEEUYOTIHCAEQIRigATIHCAIQIRigATIHCAMQIRigAdIBCTE3MTVqMGoxNagCCLACAfEFbzyKhNwkIBQ&amp;sourceid=chrome&amp;ie=UTF-8&amp;mstk=AUtExfB3g5iLOYGXfdw-ZJxkCl7jymwcOH1JN9Lfj-9-XuZipmQexuKY7eVL3ySaatuiKTqGFnGuc1qtXIB9nM8qmfBJcQr2HNyAAzq_xpYC8p5wliuH1ACTQfP6jOkNwxZRc0D10302awWQhp131bq3bVfjhYczA1_hZiVpqyoItH7gdCejToVP9uEppX_C_K7zYSjKFIJ486slnPJlDlt5R310_A&amp;csui=3&amp;ved=2ahUKEwikn8jOsdqQAxXKIDQIHTl9KFsQgK4QegQIARA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135943111630264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Minimal+Liquid+Discharge+%28MLD%29+systems&amp;rlz=1C1GCEU_enIN1119IN1119&amp;oq=Brine+Management+and+Environmental+Impact+and++Areas+of+Enhancing+Desalination+Processes+Performance.++&amp;gs_lcrp=EgZjaHJvbWUyBggAEEUYOTIHCAEQIRiPAjIHCAIQIRiPAjIHCAMQIRiPAtIBCjIwNzUwajBqMTWoAgiwAgHxBUcRRQtiuGyy&amp;sourceid=chrome&amp;ie=UTF-8&amp;mstk=AUtExfBijrWpLTFuS9Tn2ZhGU573HUHamfCT9GRyCJFEb4p4b10hP2MFg-nu3iwEi3WJJikiE0qSDjEVirUO3sHvO8AfEblWfuXY6ZoMwy2CGeR56xWBZIUq53wgKIgi36wNiWebbOTFp08MnQfl4iVlBeD_6qm236GtNOe-RM1hXzmTg_7dhV7HmsLPftzU-PBXCRiQ-sgJ33yVgn6Oft5-VgGXpQ&amp;csui=3&amp;ved=2ahUKEwjb1rjlt9qQAxWBVPUHHULrG0wQgK4QegQIARAD" TargetMode="External"/><Relationship Id="rId2" Type="http://schemas.openxmlformats.org/officeDocument/2006/relationships/hyperlink" Target="https://www.google.com/search?q=Zero+Liquid+Discharge+%28ZLD%29&amp;rlz=1C1GCEU_enIN1119IN1119&amp;oq=Brine+Management+and+Environmental+Impact+and++Areas+of+Enhancing+Desalination+Processes+Performance.++&amp;gs_lcrp=EgZjaHJvbWUyBggAEEUYOTIHCAEQIRiPAjIHCAIQIRiPAjIHCAMQIRiPAtIBCjIwNzUwajBqMTWoAgiwAgHxBUcRRQtiuGyy&amp;sourceid=chrome&amp;ie=UTF-8&amp;mstk=AUtExfBijrWpLTFuS9Tn2ZhGU573HUHamfCT9GRyCJFEb4p4b10hP2MFg-nu3iwEi3WJJikiE0qSDjEVirUO3sHvO8AfEblWfuXY6ZoMwy2CGeR56xWBZIUq53wgKIgi36wNiWebbOTFp08MnQfl4iVlBeD_6qm236GtNOe-RM1hXzmTg_7dhV7HmsLPftzU-PBXCRiQ-sgJ33yVgn6Oft5-VgGXpQ&amp;csui=3&amp;ved=2ahUKEwjb1rjlt9qQAxWBVPUHHULrG0wQgK4QegQIARA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Adsorption&amp;rlz=1C1GCEU_enIN1119IN1119&amp;oq=Brine+Management+and+Environmental+Impact+and++Areas+of+Enhancing+Desalination+Processes+Performance.++&amp;gs_lcrp=EgZjaHJvbWUyBggAEEUYOTIHCAEQIRiPAjIHCAIQIRiPAjIHCAMQIRiPAtIBCjIwNzUwajBqMTWoAgiwAgHxBUcRRQtiuGyy&amp;sourceid=chrome&amp;ie=UTF-8&amp;mstk=AUtExfBijrWpLTFuS9Tn2ZhGU573HUHamfCT9GRyCJFEb4p4b10hP2MFg-nu3iwEi3WJJikiE0qSDjEVirUO3sHvO8AfEblWfuXY6ZoMwy2CGeR56xWBZIUq53wgKIgi36wNiWebbOTFp08MnQfl4iVlBeD_6qm236GtNOe-RM1hXzmTg_7dhV7HmsLPftzU-PBXCRiQ-sgJ33yVgn6Oft5-VgGXpQ&amp;csui=3&amp;ved=2ahUKEwjb1rjlt9qQAxWBVPUHHULrG0wQgK4QegQIBxAH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electrodialysis&amp;sca_esv=b64be62ce0c76d87&amp;rlz=1C1GCEU_enIN1119IN1119&amp;ei=E_cKaaWoB5Ds1e8PvYGGgAc&amp;oq=Brine+manag&amp;gs_lp=Egxnd3Mtd2l6LXNlcnAiC0JyaW5lIG1hbmFnKgIIATIKEAAYgAQYQxiKBTILEAAYgAQYkQIYigUyBhAAGBYYHjIGEAAYFhgeMgYQABgWGB4yBhAAGBYYHjIGEAAYFhgeMgYQABgWGB4yBhAAGBYYHjIGEAAYFhgeSNgxUMMFWI4RcAF4AZABAJgB_AGgAYEJqgEFMC40LjK4AQHIAQD4AQGYAgegArQJwgIKEAAYsAMY1gQYR8ICDhAAGIAEGJECGLEDGIoFwgIIEAAYgAQYsQPCAg0QLhiABBixAxhDGIoFwgIFEAAYgATCAg0QABiABBixAxhDGIoFwgITEAAYgAQYkQIYsQMYigUYRhj5AcICCxAuGIAEGMcBGK8BwgItEAAYgAQYkQIYsQMYigUYRhj5ARiXBRiMBRjdBBhGGPkBGPQDGPUDGPYD2AEBwgIIEC4YgAQY5QTCAgsQABiABBiGAxiKBZgDAIgGAZAGCLoGBggBEAEYE5IHBTEuNC4yoAeKObIHBTAuNC4yuAexCcIHBzAuMi40LjHIByk&amp;sclient=gws-wiz-serp&amp;mstk=AUtExfBeyIPTNjzFX-oR6eDhDKLOhybDQbeEZ1jt9ToOYdROP23pdalyygTEo1oVZRzxiNim8ZTvoEltwIMs7Y0T-_leQAbTlgh3GhRylpnHKimaCxPh9qW8dg3tQ7cRzqEz1Yp3wcJD4AQ8-D27sp034mohtVrn3Xgz1AVHyJOLIP24mLpDHYiE0tWhTsp8jq21q3V-31wKgMOvopR4VMMqtdio4w&amp;csui=3&amp;ved=2ahUKEwjwqaajudqQAxU3GzQIHc0vMSAQgK4QegQIBRA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POWER-DESALINATION COGENERATION ANALYSIS</a:t>
            </a:r>
            <a:endParaRPr lang="en-US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power-desalination cogeneration analysis investigates the integration of a power plant and a desalination plant to produce both electricity and freshwater efficiently from a single fuel source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Analysis of these systems involves economic modeling, thermodynamic (energy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exergy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analysis, and simulation to optimize performance, minimize costs, and assess operational strategies under different power and water demand scenarios.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findings often show that cogeneration is more fuel-efficient than separate plants, but the optimal configuration and operating mode depend on the specific demands for power and water, and different desalination technologies like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Multi-Stage Flash (MSF)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Reverse Osmosis (RO)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are evaluated.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05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ANALYSIS METHODS</a:t>
            </a:r>
            <a:br>
              <a:rPr lang="en-US" sz="36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Economic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Analysis: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This involves calculating the total annual cost (TAC) and other metrics like payback period and rate of return (ROR) to find the most cost-effective system design and operation.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Thermodynamic and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Exergy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Analysis: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This uses the laws of thermodynamics to assess the system's efficiency, evaluate the quality of energy used, and identify sources of energy loss, which is a more realistic performance measure than just first-law efficiency.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Simulation and Modeling: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Mathematical models are used to simulate system performance under various conditions. Software like </a:t>
            </a:r>
            <a:r>
              <a:rPr lang="en-US" u="sng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IPSEpro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is used to model the complex interactions between the power and desalination components.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257800" cy="868362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KEY FINDINGS FROM ANALYSIS</a:t>
            </a:r>
            <a:br>
              <a:rPr lang="en-US" sz="28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Improved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Efficiency: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Cogeneration is more fuel-efficient than running a power plant and a desalination plant separately, as it uses the waste heat from power generation for the desalination process.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Performance Depends on Demand: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The optimal operating strategy depends on the specific demand for power and water. For example, one study found that a lower water demand might favor one configuration (e.g., a condensing-extraction steam turbine), while a higher demand could lead to a different optimal choice (e.g., a combination of MSF and RO).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Technology Selection: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Analysis helps determine the best desalination technology (like MSF or RO) for a given scenario. For instance, a case study showed that for water demand below a certain threshold, an MSF plant might be optimal, while a combination of MSF and RO becomes the better choice at higher water demands.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Operational Flexibility: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Analyzing different configurations, such as using a back-pressure steam turbine versus a condensing-extraction one, can reveal which setup is best for balancing power and water production.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248400" cy="8683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BRINE MANAGEMENT</a:t>
            </a:r>
            <a:endParaRPr lang="en-US" sz="32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Brine management involves treating desalination brine, which can have negative environmental impacts such as increased salinity in marine ecosystems and harm to vegetation.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enhancing desalination performance include developing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Zero Liquid Discharge (ZLD)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Minimal Liquid Discharge (MLD) systems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for resource recovery (freshwater, salts, metals, and energy), improving process efficiency through technologies like advanced membrane processes or solar-thermal decomposition, and integrating desalination with other industries like agriculture to create a more sustainable model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BRINE MANAGEMENT AND ENVIRONMENTAL IMPACT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Environmental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impacts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Marine ecosystems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Discharging high-salinity brine can harm marine life, such as reducing the vitality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seagrasses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causing salinity levels to exceed what they can tolerate.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Vegetation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Saline brine can impede the ability of plants to absorb water and nutrients from the soil.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High energy consumption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Desalination is an energy-intensive process, leading to a large carbon footprint and greenhouse gas emissions.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Management strategies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b="1" dirty="0" smtClean="0"/>
              <a:t>Disposal</a:t>
            </a:r>
            <a:r>
              <a:rPr lang="en-US" dirty="0" smtClean="0"/>
              <a:t>: The traditional method of simply discharging brine is no longer considered sustainable due to its negative environmental effects.</a:t>
            </a:r>
          </a:p>
          <a:p>
            <a:pPr lvl="1"/>
            <a:r>
              <a:rPr lang="en-US" b="1" dirty="0" smtClean="0"/>
              <a:t>Treatment and utilization</a:t>
            </a:r>
            <a:r>
              <a:rPr lang="en-US" dirty="0" smtClean="0"/>
              <a:t>: A shift is occurring from disposal to treating brine to recover valuable resources and reduce waste.</a:t>
            </a:r>
          </a:p>
          <a:p>
            <a:pPr lvl="1"/>
            <a:r>
              <a:rPr lang="en-US" b="1" dirty="0" smtClean="0"/>
              <a:t>Minimal Liquid Discharge (MLD)</a:t>
            </a:r>
            <a:r>
              <a:rPr lang="en-US" dirty="0" smtClean="0"/>
              <a:t>: Aims to minimize the amount of liquid waste that needs to be discharged.</a:t>
            </a:r>
          </a:p>
          <a:p>
            <a:pPr lvl="1"/>
            <a:r>
              <a:rPr lang="en-US" b="1" dirty="0" smtClean="0"/>
              <a:t>Zero Liquid Discharge (ZLD)</a:t>
            </a:r>
            <a:r>
              <a:rPr lang="en-US" dirty="0" smtClean="0"/>
              <a:t>: Aims to eliminate liquid waste entirely by recovering all resources, including solids.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Areas </a:t>
            </a:r>
            <a:r>
              <a:rPr lang="en-US" b="1" dirty="0" smtClean="0"/>
              <a:t>for enhancing desalination performance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Resource </a:t>
            </a:r>
            <a:r>
              <a:rPr lang="en-US" b="1" dirty="0" smtClean="0"/>
              <a:t>recovery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Minerals and metals</a:t>
            </a:r>
            <a:r>
              <a:rPr lang="en-US" dirty="0" smtClean="0"/>
              <a:t>: Brine contains valuable minerals and metals like lithium, magnesium, and calcium, which can be extracted through techniques like adsorption or crystallization.</a:t>
            </a:r>
          </a:p>
          <a:p>
            <a:pPr lvl="1"/>
            <a:r>
              <a:rPr lang="en-US" b="1" dirty="0" smtClean="0"/>
              <a:t>Energy</a:t>
            </a:r>
            <a:r>
              <a:rPr lang="en-US" dirty="0" smtClean="0"/>
              <a:t>: Brine can be used to generate energy through processes like osmotic power (salinity gradient power).</a:t>
            </a:r>
          </a:p>
          <a:p>
            <a:pPr lvl="1"/>
            <a:r>
              <a:rPr lang="en-US" b="1" dirty="0" smtClean="0"/>
              <a:t>CO2 capture</a:t>
            </a:r>
            <a:r>
              <a:rPr lang="en-US" dirty="0" smtClean="0"/>
              <a:t>: Desalination brine has the potential to be used in CO2 capture and conversion processes, which can also help reduce global CO2 emissions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PROCESS AND TECHNOLOGY IMPROVEMENTS</a:t>
            </a:r>
            <a:r>
              <a:rPr lang="en-US" sz="3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b="1" dirty="0" smtClean="0"/>
              <a:t>Renewable </a:t>
            </a:r>
            <a:r>
              <a:rPr lang="en-US" b="1" dirty="0" smtClean="0"/>
              <a:t>energy</a:t>
            </a:r>
            <a:r>
              <a:rPr lang="en-US" dirty="0" smtClean="0"/>
              <a:t>: Integrating renewable energy sources like solar-thermal energy can make the process more sustainable.</a:t>
            </a:r>
          </a:p>
          <a:p>
            <a:pPr lvl="1"/>
            <a:r>
              <a:rPr lang="en-US" b="1" dirty="0" smtClean="0">
                <a:hlinkClick r:id="rId2"/>
              </a:rPr>
              <a:t>Adsorption</a:t>
            </a:r>
            <a:r>
              <a:rPr lang="en-US" dirty="0" smtClean="0"/>
              <a:t>: Using materials like date pits as natural adsorbents can be a cost-effective and environmentally friendly way to remove pollutants and recover metals from brine.</a:t>
            </a:r>
          </a:p>
          <a:p>
            <a:pPr lvl="1"/>
            <a:r>
              <a:rPr lang="en-US" b="1" dirty="0" smtClean="0"/>
              <a:t>Hybrid processes</a:t>
            </a:r>
            <a:r>
              <a:rPr lang="en-US" dirty="0" smtClean="0"/>
              <a:t>: Combining different technologies, such as membrane and thermal processes, can lead to more efficient and complete resource recovery.</a:t>
            </a:r>
          </a:p>
          <a:p>
            <a:pPr lvl="1"/>
            <a:r>
              <a:rPr lang="en-US" b="1" dirty="0" smtClean="0"/>
              <a:t>Material science</a:t>
            </a:r>
            <a:r>
              <a:rPr lang="en-US" dirty="0" smtClean="0"/>
              <a:t>: Improving the corrosion resistance of materials used in desalination plants is crucial for handling high-salinity environments.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DISPOSAL TECHNOLOGIES</a:t>
            </a:r>
            <a:b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Deep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well injection: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Injecting brine into deep underground wells, often used for inland facilities.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Evaporation ponds: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Allowing brine to evaporate in lined ponds, concentrating the salts.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Surface water discharge: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Releasing brine into the ocean or other surface water bodies, often using diffusers to promote mixing and reduce salinity.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Municipal sewer discharge: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Sending the brine to a municipal sewer system for treatment.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Land application: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Irrigating land with brine, suitable for salt-tolerant plants in some cases.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TREATMENT AND REUSE TECHNOLOGIES</a:t>
            </a:r>
            <a:b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Zero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Liquid Discharge (ZLD):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 system that aims to maximize water recovery and minimize brine waste.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Membrane-based ZLD: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Uses advanced membrane technologies like 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  <a:hlinkClick r:id="rId2"/>
              </a:rPr>
              <a:t>electrodialysis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to separate salts from water.</a:t>
            </a:r>
          </a:p>
          <a:p>
            <a:pPr lvl="1"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Thermal-based ZLD: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Employs thermal processes, such as evaporation, to concentrate the brine.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Resource recovery: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Treating the concentrated brine to extract valuable products like salts, minerals, and chemicals.</a:t>
            </a: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Other methods: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Brine can also be concentrated into solid salts or used for specific applications like industrial processes after proper treatment.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FACTORS INFLUENCING THE CHOICE OF TECHNOLOGY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Brine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characteristics: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The volume, salinity, and chemical composition of the brine.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Geographical location: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Whether the plant is inland or coastal.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Environmental impact: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The potential effects on marine or terrestrial ecosystems.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Cost: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Both capital and operating expenses.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Public acceptance: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Social and political considerations.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Regulatory requirements: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Permissibility of certain disposal or discharge methods.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391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POWER-DESALINATION COGENERATION ANALYSIS</vt:lpstr>
      <vt:lpstr>Slide 2</vt:lpstr>
      <vt:lpstr> ANALYSIS METHODS </vt:lpstr>
      <vt:lpstr>KEY FINDINGS FROM ANALYSIS </vt:lpstr>
      <vt:lpstr>BRINE MANAGEMENT</vt:lpstr>
      <vt:lpstr> BRINE MANAGEMENT AND ENVIRONMENTAL IMPACT </vt:lpstr>
      <vt:lpstr>Management strategies: </vt:lpstr>
      <vt:lpstr> Areas for enhancing desalination performance </vt:lpstr>
      <vt:lpstr> PROCESS AND TECHNOLOGY IMPROVEMENTS: </vt:lpstr>
      <vt:lpstr>DISPOSAL TECHNOLOGIES </vt:lpstr>
      <vt:lpstr>TREATMENT AND REUSE TECHNOLOGIES </vt:lpstr>
      <vt:lpstr> FACTORS INFLUENCING THE CHOICE OF TECHNOLOGY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Power-Desalination Cogeneration Analysis</dc:title>
  <dc:creator>Subas Chandra Dash</dc:creator>
  <cp:lastModifiedBy>subas.dash</cp:lastModifiedBy>
  <cp:revision>5</cp:revision>
  <dcterms:created xsi:type="dcterms:W3CDTF">2006-08-16T00:00:00Z</dcterms:created>
  <dcterms:modified xsi:type="dcterms:W3CDTF">2025-11-05T07:11:04Z</dcterms:modified>
</cp:coreProperties>
</file>