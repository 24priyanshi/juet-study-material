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4" r:id="rId15"/>
    <p:sldId id="273" r:id="rId16"/>
    <p:sldId id="275" r:id="rId17"/>
    <p:sldId id="276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513DC-F096-4C07-A798-D8BE6932D9BF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F5465-F4D2-48BB-8F5D-0D2AEA7D8D4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CF5465-F4D2-48BB-8F5D-0D2AEA7D8D4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Reverse+Osmosis+(RO)&amp;rlz=1C1GCEU_enIN1119IN1119&amp;oq=Power-Desalination+Cogeneration+Analysis&amp;gs_lcrp=EgZjaHJvbWUyBggAEEUYOTIHCAEQIRigATIHCAIQIRigATIHCAMQIRigAdIBCTE3MTVqMGoxNagCCLACAfEFbzyKhNwkIBQ&amp;sourceid=chrome&amp;ie=UTF-8&amp;mstk=AUtExfB3g5iLOYGXfdw-ZJxkCl7jymwcOH1JN9Lfj-9-XuZipmQexuKY7eVL3ySaatuiKTqGFnGuc1qtXIB9nM8qmfBJcQr2HNyAAzq_xpYC8p5wliuH1ACTQfP6jOkNwxZRc0D10302awWQhp131bq3bVfjhYczA1_hZiVpqyoItH7gdCejToVP9uEppX_C_K7zYSjKFIJ486slnPJlDlt5R310_A&amp;csui=3&amp;ved=2ahUKEwikn8jOsdqQAxXKIDQIHTl9KFsQgK4QegQIARAF" TargetMode="External"/><Relationship Id="rId2" Type="http://schemas.openxmlformats.org/officeDocument/2006/relationships/hyperlink" Target="https://www.google.com/search?q=Multi-Stage+Flash+(MSF)&amp;rlz=1C1GCEU_enIN1119IN1119&amp;oq=Power-Desalination+Cogeneration+Analysis&amp;gs_lcrp=EgZjaHJvbWUyBggAEEUYOTIHCAEQIRigATIHCAIQIRigATIHCAMQIRigAdIBCTE3MTVqMGoxNagCCLACAfEFbzyKhNwkIBQ&amp;sourceid=chrome&amp;ie=UTF-8&amp;mstk=AUtExfB3g5iLOYGXfdw-ZJxkCl7jymwcOH1JN9Lfj-9-XuZipmQexuKY7eVL3ySaatuiKTqGFnGuc1qtXIB9nM8qmfBJcQr2HNyAAzq_xpYC8p5wliuH1ACTQfP6jOkNwxZRc0D10302awWQhp131bq3bVfjhYczA1_hZiVpqyoItH7gdCejToVP9uEppX_C_K7zYSjKFIJ486slnPJlDlt5R310_A&amp;csui=3&amp;ved=2ahUKEwikn8jOsdqQAxXKIDQIHTl9KFsQgK4QegQIARA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1359431116302642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Minimal+Liquid+Discharge+(MLD)+systems&amp;rlz=1C1GCEU_enIN1119IN1119&amp;oq=Brine+Management+and+Environmental+Impact+and++Areas+of+Enhancing+Desalination+Processes+Performance.++&amp;gs_lcrp=EgZjaHJvbWUyBggAEEUYOTIHCAEQIRiPAjIHCAIQIRiPAjIHCAMQIRiPAtIBCjIwNzUwajBqMTWoAgiwAgHxBUcRRQtiuGyy&amp;sourceid=chrome&amp;ie=UTF-8&amp;mstk=AUtExfBijrWpLTFuS9Tn2ZhGU573HUHamfCT9GRyCJFEb4p4b10hP2MFg-nu3iwEi3WJJikiE0qSDjEVirUO3sHvO8AfEblWfuXY6ZoMwy2CGeR56xWBZIUq53wgKIgi36wNiWebbOTFp08MnQfl4iVlBeD_6qm236GtNOe-RM1hXzmTg_7dhV7HmsLPftzU-PBXCRiQ-sgJ33yVgn6Oft5-VgGXpQ&amp;csui=3&amp;ved=2ahUKEwjb1rjlt9qQAxWBVPUHHULrG0wQgK4QegQIARAD" TargetMode="External"/><Relationship Id="rId2" Type="http://schemas.openxmlformats.org/officeDocument/2006/relationships/hyperlink" Target="https://www.google.com/search?q=Zero+Liquid+Discharge+(ZLD)&amp;rlz=1C1GCEU_enIN1119IN1119&amp;oq=Brine+Management+and+Environmental+Impact+and++Areas+of+Enhancing+Desalination+Processes+Performance.++&amp;gs_lcrp=EgZjaHJvbWUyBggAEEUYOTIHCAEQIRiPAjIHCAIQIRiPAjIHCAMQIRiPAtIBCjIwNzUwajBqMTWoAgiwAgHxBUcRRQtiuGyy&amp;sourceid=chrome&amp;ie=UTF-8&amp;mstk=AUtExfBijrWpLTFuS9Tn2ZhGU573HUHamfCT9GRyCJFEb4p4b10hP2MFg-nu3iwEi3WJJikiE0qSDjEVirUO3sHvO8AfEblWfuXY6ZoMwy2CGeR56xWBZIUq53wgKIgi36wNiWebbOTFp08MnQfl4iVlBeD_6qm236GtNOe-RM1hXzmTg_7dhV7HmsLPftzU-PBXCRiQ-sgJ33yVgn6Oft5-VgGXpQ&amp;csui=3&amp;ved=2ahUKEwjb1rjlt9qQAxWBVPUHHULrG0wQgK4QegQIARAC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Adsorption&amp;rlz=1C1GCEU_enIN1119IN1119&amp;oq=Brine+Management+and+Environmental+Impact+and++Areas+of+Enhancing+Desalination+Processes+Performance.++&amp;gs_lcrp=EgZjaHJvbWUyBggAEEUYOTIHCAEQIRiPAjIHCAIQIRiPAjIHCAMQIRiPAtIBCjIwNzUwajBqMTWoAgiwAgHxBUcRRQtiuGyy&amp;sourceid=chrome&amp;ie=UTF-8&amp;mstk=AUtExfBijrWpLTFuS9Tn2ZhGU573HUHamfCT9GRyCJFEb4p4b10hP2MFg-nu3iwEi3WJJikiE0qSDjEVirUO3sHvO8AfEblWfuXY6ZoMwy2CGeR56xWBZIUq53wgKIgi36wNiWebbOTFp08MnQfl4iVlBeD_6qm236GtNOe-RM1hXzmTg_7dhV7HmsLPftzU-PBXCRiQ-sgJ33yVgn6Oft5-VgGXpQ&amp;csui=3&amp;ved=2ahUKEwjb1rjlt9qQAxWBVPUHHULrG0wQgK4QegQIBxAH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electrodialysis&amp;sca_esv=b64be62ce0c76d87&amp;rlz=1C1GCEU_enIN1119IN1119&amp;ei=E_cKaaWoB5Ds1e8PvYGGgAc&amp;oq=Brine+manag&amp;gs_lp=Egxnd3Mtd2l6LXNlcnAiC0JyaW5lIG1hbmFnKgIIATIKEAAYgAQYQxiKBTILEAAYgAQYkQIYigUyBhAAGBYYHjIGEAAYFhgeMgYQABgWGB4yBhAAGBYYHjIGEAAYFhgeMgYQABgWGB4yBhAAGBYYHjIGEAAYFhgeSNgxUMMFWI4RcAF4AZABAJgB_AGgAYEJqgEFMC40LjK4AQHIAQD4AQGYAgegArQJwgIKEAAYsAMY1gQYR8ICDhAAGIAEGJECGLEDGIoFwgIIEAAYgAQYsQPCAg0QLhiABBixAxhDGIoFwgIFEAAYgATCAg0QABiABBixAxhDGIoFwgITEAAYgAQYkQIYsQMYigUYRhj5AcICCxAuGIAEGMcBGK8BwgItEAAYgAQYkQIYsQMYigUYRhj5ARiXBRiMBRjdBBhGGPkBGPQDGPUDGPYD2AEBwgIIEC4YgAQY5QTCAgsQABiABBiGAxiKBZgDAIgGAZAGCLoGBggBEAEYE5IHBTEuNC4yoAeKObIHBTAuNC4yuAexCcIHBzAuMi40LjHIByk&amp;sclient=gws-wiz-serp&amp;mstk=AUtExfBeyIPTNjzFX-oR6eDhDKLOhybDQbeEZ1jt9ToOYdROP23pdalyygTEo1oVZRzxiNim8ZTvoEltwIMs7Y0T-_leQAbTlgh3GhRylpnHKimaCxPh9qW8dg3tQ7cRzqEz1Yp3wcJD4AQ8-D27sp034mohtVrn3Xgz1AVHyJOLIP24mLpDHYiE0tWhTsp8jq21q3V-31wKgMOvopR4VMMqtdio4w&amp;csui=3&amp;ved=2ahUKEwjwqaajudqQAxU3GzQIHc0vMSAQgK4QegQIBRAC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POWER-DESALINATION COGENERATION ANALYSIS</a:t>
            </a:r>
            <a:endParaRPr lang="en-US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power-desalination cogeneration analysis investigates the integration of a power plant and a desalination plant to produce both electricity and freshwater efficiently from a single fuel source.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Analysis of these systems involves economic modeling, thermodynamic (energy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exergy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analysis, and simulation to optimize performance, minimize costs, and assess operational strategies under different power and water demand scenarios.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Key findings often show that cogeneration is more fuel-efficient than separate plants, but the optimal configuration and operating mode depend on the specific demands for power and water, and different desalination technologies like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2"/>
              </a:rPr>
              <a:t>Multi-Stage Flash (MSF)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3"/>
              </a:rPr>
              <a:t>Reverse Osmosis (RO)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are evaluated.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1054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ANALYSIS METHODS</a:t>
            </a:r>
            <a:br>
              <a:rPr lang="en-US" sz="36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Economic Analysis: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This involves calculating the total annual cost (TAC) and other metrics like payback period and rate of return (ROR) to find the most cost-effective system design and operation.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Thermodynamic and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Exergy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Analysis: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This uses the laws of thermodynamics to assess the system's efficiency, evaluate the quality of energy used, and identify sources of energy loss, which is a more realistic performance measure than just first-law efficiency.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Simulation and Modeling: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Mathematical models are used to simulate system performance under various conditions. Software like </a:t>
            </a:r>
            <a:r>
              <a:rPr lang="en-US" u="sng" dirty="0" err="1" smtClean="0">
                <a:latin typeface="Times New Roman" pitchFamily="18" charset="0"/>
                <a:cs typeface="Times New Roman" pitchFamily="18" charset="0"/>
                <a:hlinkClick r:id="rId2"/>
              </a:rPr>
              <a:t>IPSEpro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is used to model the complex interactions between the power and desalination components.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257800" cy="868362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KEY FINDINGS FROM ANALYSIS</a:t>
            </a:r>
            <a:br>
              <a:rPr lang="en-US" sz="28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Improved Efficiency: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Cogeneration is more fuel-efficient than running a power plant and a desalination plant separately, as it uses the waste heat from power generation for the desalination process.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Performance Depends on Demand: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The optimal operating strategy depends on the specific demand for power and water. For example, one study found that a lower water demand might favor one configuration (e.g., a condensing-extraction steam turbine), while a higher demand could lead to a different optimal choice (e.g., a combination of MSF and RO).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Technology Selection: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Analysis helps determine the best desalination technology (like MSF or RO) for a given scenario. For instance, a case study showed that for water demand below a certain threshold, an MSF plant might be optimal, while a combination of MSF and RO becomes the better choice at higher water demands.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Operational Flexibility: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Analyzing different configurations, such as using a back-pressure steam turbine versus a condensing-extraction one, can reveal which setup is best for balancing power and water production.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248400" cy="8683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BRINE MANAGEMENT</a:t>
            </a:r>
            <a:endParaRPr lang="en-US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Brine management involves treating desalination brine, which can have negative environmental impacts such as increased salinity in marine ecosystems and harm to vegetation. 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Areas for enhancing desalination performance include developing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2"/>
              </a:rPr>
              <a:t>Zero Liquid Discharge (ZLD)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3"/>
              </a:rPr>
              <a:t>Minimal Liquid Discharge (MLD) systems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for resource recovery (freshwater, salts, metals, and energy), improving process efficiency through technologies like advanced membrane processes or solar-thermal decomposition, and integrating desalination with other industries like agriculture to create a more sustainable model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BRINE MANAGEMENT AND ENVIRONMENTAL IMPACT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Environmental impacts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Marine ecosystems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Discharging high-salinity brine can harm marine life, such as reducing the vitality of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seagrasses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by causing salinity levels to exceed what they can tolerate.</a:t>
            </a:r>
          </a:p>
          <a:p>
            <a:pPr lvl="1"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Vegetation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Saline brine can impede the ability of plants to absorb water and nutrients from the soil.</a:t>
            </a:r>
          </a:p>
          <a:p>
            <a:pPr lvl="1"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High energy consumption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Desalination is an energy-intensive process, leading to a large carbon footprint and greenhouse gas emissions.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MANAGEMENT STRATEGIES</a:t>
            </a:r>
            <a:r>
              <a:rPr lang="en-US" sz="3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sz="3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229600" cy="4525963"/>
          </a:xfrm>
        </p:spPr>
        <p:txBody>
          <a:bodyPr>
            <a:normAutofit/>
          </a:bodyPr>
          <a:lstStyle/>
          <a:p>
            <a:pPr lvl="1" algn="just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Disposal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The traditional method of simply discharging brine is no longer considered sustainable due to its negative environmental effects.</a:t>
            </a:r>
          </a:p>
          <a:p>
            <a:pPr lvl="1" algn="just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Treatment and utilization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A shift is occurring from disposal to treating brine to recover valuable resources and reduce waste.</a:t>
            </a:r>
          </a:p>
          <a:p>
            <a:pPr lvl="1" algn="just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Minimal Liquid Discharge (MLD)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Aims to minimize the amount of liquid waste that needs to be discharged.</a:t>
            </a:r>
          </a:p>
          <a:p>
            <a:pPr lvl="1" algn="just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Zero Liquid Discharge (ZLD)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Aims to eliminate liquid waste entirely by recovering all resources, including solids.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AREAS FOR ENHANCING DESALINATION PERFORMANCE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Resource recovery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Minerals and metals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Brine contains valuable minerals and metals like lithium, magnesium, and calcium, which can be extracted through techniques like adsorption or crystallization.</a:t>
            </a:r>
          </a:p>
          <a:p>
            <a:pPr lvl="1"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Energy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Brine can be used to generate energy through processes like osmotic power (salinity gradient power).</a:t>
            </a:r>
          </a:p>
          <a:p>
            <a:pPr lvl="1"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CO2 capture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Desalination brine has the potential to be used in CO2 capture and conversion processes, which can also help reduce global CO2 emissions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PROCESS AND TECHNOLOGY IMPROVEMENTS</a:t>
            </a:r>
            <a:r>
              <a:rPr lang="en-US" sz="3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US" b="1" dirty="0" smtClean="0"/>
              <a:t>Renewable energy</a:t>
            </a:r>
            <a:r>
              <a:rPr lang="en-US" dirty="0" smtClean="0"/>
              <a:t>: Integrating renewable energy sources like solar-thermal energy can make the process more sustainable.</a:t>
            </a:r>
          </a:p>
          <a:p>
            <a:pPr lvl="1"/>
            <a:r>
              <a:rPr lang="en-US" b="1" dirty="0" smtClean="0">
                <a:hlinkClick r:id="rId2"/>
              </a:rPr>
              <a:t>Adsorption</a:t>
            </a:r>
            <a:r>
              <a:rPr lang="en-US" dirty="0" smtClean="0"/>
              <a:t>: Using materials like date pits as natural adsorbents can be a cost-effective and environmentally friendly way to remove pollutants and recover metals from brine.</a:t>
            </a:r>
          </a:p>
          <a:p>
            <a:pPr lvl="1"/>
            <a:r>
              <a:rPr lang="en-US" b="1" dirty="0" smtClean="0"/>
              <a:t>Hybrid processes</a:t>
            </a:r>
            <a:r>
              <a:rPr lang="en-US" dirty="0" smtClean="0"/>
              <a:t>: Combining different technologies, such as membrane and thermal processes, can lead to more efficient and complete resource recovery.</a:t>
            </a:r>
          </a:p>
          <a:p>
            <a:pPr lvl="1"/>
            <a:r>
              <a:rPr lang="en-US" b="1" dirty="0" smtClean="0"/>
              <a:t>Material science</a:t>
            </a:r>
            <a:r>
              <a:rPr lang="en-US" dirty="0" smtClean="0"/>
              <a:t>: Improving the corrosion resistance of materials used in desalination plants is crucial for handling high-salinity environments.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DISPOSAL TECHNOLOGIES</a:t>
            </a:r>
            <a:b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Deep well injection: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Injecting brine into deep underground wells, often used for inland facilities.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Evaporation ponds: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Allowing brine to evaporate in lined ponds, concentrating the salts.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Surface water discharge: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Releasing brine into the ocean or other surface water bodies, often using diffusers to promote mixing and reduce salinity.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Municipal sewer discharge: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Sending the brine to a municipal sewer system for treatment.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Land application: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Irrigating land with brine, suitable for salt-tolerant plants in some cases.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TREATMENT AND REUSE TECHNOLOGIES</a:t>
            </a:r>
            <a:b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Zero Liquid Discharge (ZLD):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A system that aims to maximize water recovery and minimize brine waste.</a:t>
            </a:r>
          </a:p>
          <a:p>
            <a:pPr lvl="1"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Membrane-based ZLD: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Uses advanced membrane technologies like 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  <a:hlinkClick r:id="rId2"/>
              </a:rPr>
              <a:t>electrodialysis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to separate salts from water.</a:t>
            </a:r>
          </a:p>
          <a:p>
            <a:pPr lvl="1"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Thermal-based ZLD: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Employs thermal processes, such as evaporation, to concentrate the brine.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Resource recovery: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Treating the concentrated brine to extract valuable products like salts, minerals, and chemicals.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Other methods: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Brine can also be concentrated into solid salts or used for specific applications like industrial processes after proper treatment.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FACTORS INFLUENCING THE CHOICE OF TECHNOLOGY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Brine characteristics: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The volume, salinity, and chemical composition of the brine.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Geographical location: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Whether the plant is inland or coastal.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Environmental impact: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The potential effects on marine or terrestrial ecosystems.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Cost: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Both capital and operating expenses.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Public acceptance: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Social and political considerations.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Regulatory requirements: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Permissibility of certain disposal or discharge methods.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229600" cy="4525963"/>
          </a:xfrm>
        </p:spPr>
        <p:txBody>
          <a:bodyPr>
            <a:no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Pre-treatment in desalination removes suspended solids, microorganisms, and other contaminants to protect membranes and improve efficiency, while post-treatment adjusts the final product to meet drinking or industrial water quality standards. 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Common pre-treatment methods include filtration (like media filters, cartridge filters, and microfiltration/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ultrafiltration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membranes) and chemical addition, while post-treatment primarily involves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remineralization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(like adding lime or other salts to adjust pH and make water less corrosive) and disinfection. 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Pre-treatment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Objective: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To protect the desalination equipment, especially sensitive membranes, from fouling and scaling, thereby extending their life and reducing maintenance costs.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229600" cy="5638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Methods: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Conventional: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Physical filtration: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Removing large particles with sand or multimedia filters, followed by finer cartridge filters.</a:t>
            </a:r>
          </a:p>
          <a:p>
            <a:pPr lvl="2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Chemical dosing: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Adding chemicals to reduce scaling and corrosion.</a:t>
            </a:r>
          </a:p>
          <a:p>
            <a:pPr lvl="2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Dissolved Air Flotation (DAF):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Used to remove algae and other suspended solids.</a:t>
            </a:r>
          </a:p>
          <a:p>
            <a:pPr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Non-conventional/Membrane: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Microfiltration (MF) and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Ultrafiltration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(UF):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Using membranes to remove organic matter, suspended solids, and microorganisms.</a:t>
            </a:r>
          </a:p>
          <a:p>
            <a:pPr lvl="1">
              <a:buNone/>
            </a:pP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Nanofiltration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(NF):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A more advanced membrane-based method.</a:t>
            </a:r>
          </a:p>
          <a:p>
            <a:pPr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   Hybrid: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Combining conventional and membrane techniques for more effective pretreatment. 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POST-TREATMENT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Objective: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To condition the water to make it safe for consumption or industrial use, correcting the aggressive and corrosive nature of desalinated water.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Methods: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Remineralization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Adding minerals like calcium and magnesium, often by passing the water through limestone or adding lime, to adjust the pH and alkalinity.</a:t>
            </a:r>
          </a:p>
          <a:p>
            <a:pPr lvl="1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pH adjustment: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Using chemicals like lime or soda ash to make the water less corrosive and palatable.</a:t>
            </a:r>
          </a:p>
          <a:p>
            <a:pPr lvl="1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Disinfection: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Applying a final disinfection step, such as chlorination, to kill any remaining pathogens and provide a residual disinfectant for the distribution network.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PRETREATMENT ADVANTAGES</a:t>
            </a:r>
            <a:b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Protects membranes: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 Removes particles, microorganisms, and other contaminants that can cause fouling and scaling, significantly extending the life of the reverse osmosis (RO) membranes.</a:t>
            </a:r>
          </a:p>
          <a:p>
            <a:pPr algn="just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Lowers maintenance costs: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 By minimizing membrane fouling, it reduces the frequency of cleaning and replacement needed for the membranes.</a:t>
            </a:r>
          </a:p>
          <a:p>
            <a:pPr algn="just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Improves water quality: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 Ensures the water fed into the RO system meets the manufacturer's specifications, leading to more consistent and higher-quality permeate.</a:t>
            </a:r>
          </a:p>
          <a:p>
            <a:pPr algn="just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Prevents biological fouling: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 Specifically targets and removes microorganisms like bacteria and algae that can cause biological fouling on membranes.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POST-TREATMENT ADVANTAGES</a:t>
            </a:r>
            <a:b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229600" cy="5410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Ensures safety: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Disinfection steps kill pathogens, making the final water safe for drinking and other uses.</a:t>
            </a: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Meets potable standards: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Remineralization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adds essential minerals back into the water, which is necessary to make it stable and suitable for drinking water distribution.</a:t>
            </a: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Enhances water quality: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Further treatment steps can be tailored to the specific needs of the end-user, such as for industrial processes. 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Pre- and post-treatment systems for desalination improve overall efficiency and water quality by protecting membranes during pretreatment and making the desalinated water safe for consumption or industrial use during post-treatment. Advantages of pretreatment include extended membrane life, lower maintenance costs, and consistent, high-quality feed water by removing contaminants like particles, microorganisms, and silt. Post-treatment advantages include safe disinfection and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remineralization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which stabilizes the water and meets specific quality standards for different applications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PRETREATMENT AND POST-TREATMENT</a:t>
            </a:r>
            <a:endParaRPr lang="en-US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Pretreatment and post-treatment systems are crucial components of a comprehensive water treatment train involving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Nanofiltration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(NF),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Ultrafiltration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(UF), Forward Osmosis (FO),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Nanoparticle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(NP) based processes, and Ion Exchange (IX). </a:t>
            </a:r>
          </a:p>
          <a:p>
            <a:r>
              <a:rPr lang="en-US" sz="2000" b="1" dirty="0" smtClean="0"/>
              <a:t>Pretreatment Systems </a:t>
            </a:r>
          </a:p>
          <a:p>
            <a:r>
              <a:rPr lang="en-US" sz="2000" dirty="0" smtClean="0"/>
              <a:t>The primary goal of pretreatment is to remove potential </a:t>
            </a:r>
            <a:r>
              <a:rPr lang="en-US" sz="2000" dirty="0" err="1" smtClean="0"/>
              <a:t>foulants</a:t>
            </a:r>
            <a:r>
              <a:rPr lang="en-US" sz="2000" dirty="0" smtClean="0"/>
              <a:t> (suspended solids, organic matter, microorganisms, scaling ions) and ensure the feed water meets the specific requirements of the main treatment process, thus extending membrane life and maintaining efficiency. 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COMMON PRETREATMENT METHODS INCLUDE</a:t>
            </a:r>
            <a:endParaRPr lang="en-US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Coagulation/Flocculation/Sedimentation: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This chemical method destabilizes and aggregates small particles and natural organic matter (NOM) into larger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flocs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which are then settled out. This is particularly effective for high turbidity sources.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Filtration (Multimedia/Sand/Cartridge):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Physical filtration steps remove larger suspended solids (SS) and turbidity before fine membranes. Microfiltration (MF) 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Ultrafiltration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(UF) are often used as effective membrane-based pretreatments for NF, RO, and FO systems to remove bacteria, colloids, and high molecular weight materials.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Adsorption: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Activated carbon (PAC/GAC) is used to remove residual organic matter and free chlorine, which can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oxidatively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damage some membranes.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Oxidation/Disinfection: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Oxidizing agents (e.g., chlorine, ozone, permanganate) are sometimes used to suppress microbial growth and alter NOM structure to reduce fouling.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Softening/Scale Inhibition: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For processes that are sensitive to scaling (like NF and FO), chemical scale inhibitors are dosed, or an ion exchange process is used to remove calcium and magnesium ions.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pH Adjustment: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Maintaining an optimal pH range can help prevent scaling and improve the efficiency of other pretreatment steps like coagulation.</a:t>
            </a:r>
            <a:r>
              <a:rPr lang="en-US" dirty="0" smtClean="0"/>
              <a:t>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563562"/>
          </a:xfrm>
        </p:spPr>
        <p:txBody>
          <a:bodyPr>
            <a:normAutofit fontScale="90000"/>
          </a:bodyPr>
          <a:lstStyle/>
          <a:p>
            <a:r>
              <a:rPr lang="en-US" sz="3100" b="1" dirty="0" smtClean="0"/>
              <a:t/>
            </a:r>
            <a:br>
              <a:rPr lang="en-US" sz="3100" b="1" dirty="0" smtClean="0"/>
            </a:br>
            <a:r>
              <a:rPr lang="en-US" sz="31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POST-TREATMENT SYSTEMS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458200" cy="4953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Post-treatment is necessary to adjust the final water quality, ensuring it meets the desired application standards (e.g., drinking water, industrial ultrapure water). 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Common post-treatment methods include: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Disinfection: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ensure the final water is free from pathogens, disinfection methods like chlorination, UV irradiation, or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ozonation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may be applied.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pH Adjustment and Demineralization: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Membrane processes like NF and FO may remove beneficial minerals and lower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pH.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Post-treatment is often required to adjust the pH for corrosion control and potentially add back essential minerals for taste and health. 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Degasification: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removal of dissolved gases (like CO2) might be necessary to adjust pH or reduce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corrosivity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Ion Exchange (IX) /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Electrodialysis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(ED):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Following membrane filtration (especially NF or UF), IX or ED can be used for final polishing to achieve a specific level of demineralization or remove trace amounts of specific ions to meet high-purity water requirements.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09600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Adsorption: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Activated carbon can be used as a post-treatment to remove any residual taste, odor, or organic contaminants. 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Specific System Context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UF &amp; NF: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Often serve as both a primary treatment or as a robust 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pretreatment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for RO/FO/IX processes due to their ability to remove suspended solids, colloids, and bacteria.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FO: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The process itself is less prone to fouling than pressure-driven membranes but the draw solution requires post-treatment for regeneration and separation from the final product water, often using NF or RO.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IX: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Typically used for water softening or demineralization. Pretreatment removes suspended solids that would clog the resin bed. Post-treatment involves regeneration of the resins and sometimes polishing of the effluent.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NP (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Nano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particle-based processes):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These often involve using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nano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particles as adsorbents or catalysts. Pretreatment removes large particles, and post-treatment ensures the safe removal and recovery of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nanoparticles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themselves to prevent product contamination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569</Words>
  <Application>Microsoft Office PowerPoint</Application>
  <PresentationFormat>On-screen Show (4:3)</PresentationFormat>
  <Paragraphs>110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POWER-DESALINATION COGENERATION ANALYSIS</vt:lpstr>
      <vt:lpstr>Slide 2</vt:lpstr>
      <vt:lpstr> ANALYSIS METHODS </vt:lpstr>
      <vt:lpstr>KEY FINDINGS FROM ANALYSIS </vt:lpstr>
      <vt:lpstr>BRINE MANAGEMENT</vt:lpstr>
      <vt:lpstr> BRINE MANAGEMENT AND ENVIRONMENTAL IMPACT </vt:lpstr>
      <vt:lpstr>MANAGEMENT STRATEGIES: </vt:lpstr>
      <vt:lpstr> AREAS FOR ENHANCING DESALINATION PERFORMANCE </vt:lpstr>
      <vt:lpstr> PROCESS AND TECHNOLOGY IMPROVEMENTS: </vt:lpstr>
      <vt:lpstr>DISPOSAL TECHNOLOGIES </vt:lpstr>
      <vt:lpstr>TREATMENT AND REUSE TECHNOLOGIES </vt:lpstr>
      <vt:lpstr> FACTORS INFLUENCING THE CHOICE OF TECHNOLOGY </vt:lpstr>
      <vt:lpstr>Slide 13</vt:lpstr>
      <vt:lpstr>Slide 14</vt:lpstr>
      <vt:lpstr>POST-TREATMENT </vt:lpstr>
      <vt:lpstr>PRETREATMENT ADVANTAGES </vt:lpstr>
      <vt:lpstr>POST-TREATMENT ADVANTAGES </vt:lpstr>
      <vt:lpstr>PRETREATMENT AND POST-TREATMENT</vt:lpstr>
      <vt:lpstr>COMMON PRETREATMENT METHODS INCLUDE</vt:lpstr>
      <vt:lpstr> POST-TREATMENT SYSTEMS </vt:lpstr>
      <vt:lpstr>Slide 21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Power-Desalination Cogeneration Analysis</dc:title>
  <dc:creator>Subas Chandra Dash</dc:creator>
  <cp:lastModifiedBy>subas.dash</cp:lastModifiedBy>
  <cp:revision>14</cp:revision>
  <dcterms:created xsi:type="dcterms:W3CDTF">2006-08-16T00:00:00Z</dcterms:created>
  <dcterms:modified xsi:type="dcterms:W3CDTF">2025-11-28T09:53:01Z</dcterms:modified>
</cp:coreProperties>
</file>