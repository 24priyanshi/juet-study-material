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shi Mishra" userId="c7e4fb39595d2680" providerId="LiveId" clId="{DDF3956A-E3B6-45E5-9B24-E31254EECB53}"/>
    <pc:docChg chg="modSld">
      <pc:chgData name="Priyanshi Mishra" userId="c7e4fb39595d2680" providerId="LiveId" clId="{DDF3956A-E3B6-45E5-9B24-E31254EECB53}" dt="2025-12-01T08:11:21.834" v="1" actId="20577"/>
      <pc:docMkLst>
        <pc:docMk/>
      </pc:docMkLst>
      <pc:sldChg chg="modSp mod">
        <pc:chgData name="Priyanshi Mishra" userId="c7e4fb39595d2680" providerId="LiveId" clId="{DDF3956A-E3B6-45E5-9B24-E31254EECB53}" dt="2025-12-01T08:11:21.834" v="1" actId="20577"/>
        <pc:sldMkLst>
          <pc:docMk/>
          <pc:sldMk cId="0" sldId="257"/>
        </pc:sldMkLst>
        <pc:spChg chg="mod">
          <ac:chgData name="Priyanshi Mishra" userId="c7e4fb39595d2680" providerId="LiveId" clId="{DDF3956A-E3B6-45E5-9B24-E31254EECB53}" dt="2025-12-01T08:11:21.834" v="1" actId="20577"/>
          <ac:spMkLst>
            <pc:docMk/>
            <pc:sldMk cId="0" sldId="257"/>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google.com/search?sca_esv=5c05e6a201bfb25d&amp;rlz=1C1GCEU_enIN1119IN1119&amp;cs=0&amp;sxsrf=AE3TifNb5t2knLCbwlcX-8KNMxWBBJhETw:1759558551989&amp;q=Organics&amp;sa=X&amp;ved=2ahUKEwjnuYWz8omQAxXK2TgGHX7CJegQxccNegQIFB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3" Type="http://schemas.openxmlformats.org/officeDocument/2006/relationships/hyperlink" Target="https://www.google.com/search?sca_esv=5c05e6a201bfb25d&amp;rlz=1C1GCEU_enIN1119IN1119&amp;cs=0&amp;sxsrf=AE3TifNb5t2knLCbwlcX-8KNMxWBBJhETw:1759558551989&amp;q=Hardness&amp;sa=X&amp;ved=2ahUKEwjnuYWz8omQAxXK2TgGHX7CJegQxccNegQIER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7" Type="http://schemas.openxmlformats.org/officeDocument/2006/relationships/hyperlink" Target="https://www.google.com/search?sca_esv=5c05e6a201bfb25d&amp;rlz=1C1GCEU_enIN1119IN1119&amp;cs=0&amp;sxsrf=AE3TifNb5t2knLCbwlcX-8KNMxWBBJhETw:1759558551989&amp;q=Temperature&amp;sa=X&amp;ved=2ahUKEwjnuYWz8omQAxXK2TgGHX7CJegQxccNegQIFh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2" Type="http://schemas.openxmlformats.org/officeDocument/2006/relationships/hyperlink" Target="https://www.google.com/search?sca_esv=5c05e6a201bfb25d&amp;rlz=1C1GCEU_enIN1119IN1119&amp;cs=0&amp;sxsrf=AE3TifNb5t2knLCbwlcX-8KNMxWBBJhETw:1759558551989&amp;q=pH&amp;sa=X&amp;ved=2ahUKEwjnuYWz8omQAxXK2TgGHX7CJegQxccNegQIEh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5c05e6a201bfb25d&amp;rlz=1C1GCEU_enIN1119IN1119&amp;cs=0&amp;sxsrf=AE3TifNb5t2knLCbwlcX-8KNMxWBBJhETw:1759558551989&amp;q=Dissolved+Gases&amp;sa=X&amp;ved=2ahUKEwjnuYWz8omQAxXK2TgGHX7CJegQxccNegQIFR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5" Type="http://schemas.openxmlformats.org/officeDocument/2006/relationships/hyperlink" Target="https://www.google.com/search?sca_esv=5c05e6a201bfb25d&amp;rlz=1C1GCEU_enIN1119IN1119&amp;cs=0&amp;sxsrf=AE3TifNb5t2knLCbwlcX-8KNMxWBBJhETw:1759558551989&amp;q=Suspended+Solids&amp;sa=X&amp;ved=2ahUKEwjnuYWz8omQAxXK2TgGHX7CJegQxccNegQIFx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 Id="rId4" Type="http://schemas.openxmlformats.org/officeDocument/2006/relationships/hyperlink" Target="https://www.google.com/search?sca_esv=5c05e6a201bfb25d&amp;rlz=1C1GCEU_enIN1119IN1119&amp;cs=0&amp;sxsrf=AE3TifNb5t2knLCbwlcX-8KNMxWBBJhETw:1759558551989&amp;q=Dissolved+Solids+(TDS)&amp;sa=X&amp;ved=2ahUKEwjnuYWz8omQAxXK2TgGHX7CJegQxccNegQIExAB&amp;mstk=AUtExfAHX9DhtAMwlm7tpv8n_zl0-KlGYt_Ij4VdBKa98qxGFH8w5FGIuofbV_Mkm7ev0jnlF-vJNgCway1V9Pn9E1ce2BN_WSgaeikHoZIZZ7RcBLxboQYOn6udD4LnAuLuUnXEYFrg0Sgxo004Q1sEPMFkZJKzOvLXWmOO2R8DmS9qiTp1EvsX4hf-luFxLiE2iJ8TxzUiAi9SMnCUIGg-GPimonmog3LX7FIPkA8ynQbNNzNjnzoj8GezjK5oT8QLuPgwaAG8j3QBnWqKrD8eYeNR&amp;csui=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oogle.com/search?rlz=1C1GCEU_enIN1119IN1119&amp;cs=0&amp;sca_esv=5c05e6a201bfb25d&amp;sxsrf=AE3TifM28V9yKTkBCc7j9HKVqqbvC4ZS9w:1759557867380&amp;q=Freezing+Point&amp;sa=X&amp;ved=2ahUKEwjg9uDs74mQAxWozTgGHZ4gEEgQxccNegQIJxAB&amp;mstk=AUtExfBWxRaeeA0E2JZTrWlPS8lEcbFzXJtQlxKkqZbyK7zpecOb2yZK9mP8racJ3aOFiCUy0C0hHahrIxcpJLrFevBPnm8uTN0205TEdRYhd_yQtH9iCwken4P_3RieQcgUSTjdybdjnJ_G9DufpEfxbUFvnWBsiVNKFipttZyesIuyBhM&amp;csui=3"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search?sca_esv=5c05e6a201bfb25d&amp;rlz=1C1GCEU_enIN1119IN1119&amp;sxsrf=AE3TifOvpiH2lse9T0fu6DDJi9ZMNIJDbw:1759558256992&amp;q=Neutral+Water+(around+7.0)&amp;sa=X&amp;ved=2ahUKEwjdjPqm8YmQAxWO1TgGHd2VHTMQxccNegUIhgEQAQ&amp;mstk=AUtExfA4Lv5EXN6lLupm2Lt44s4PpLrDhFA4PeBoTrTAyxKCEdlG955J45eQNs_IKooZfiX46NSBpHynWVznIfHuUTUJ6pNfa3fhk2cmeJgMOxeJ1ccOdHYQuzLx67OHdJZSfl3CpDVPzgFPqaqG2l9ZJ8DCSjEZNFXAnHVuTbPrLi4hjRCQ0vI_gEf33Dm_vgxPGgyZB9bo6QmEPC9rH0phRhgbg2KdfmQvQNPucsfH6q8vshjhAc_gswV9ryZ4luFNMnHqfsjjGBLFwEARgVAIQeP-&amp;csui=3" TargetMode="External"/><Relationship Id="rId2" Type="http://schemas.openxmlformats.org/officeDocument/2006/relationships/hyperlink" Target="https://www.google.com/search?sca_esv=5c05e6a201bfb25d&amp;rlz=1C1GCEU_enIN1119IN1119&amp;sxsrf=AE3TifOvpiH2lse9T0fu6DDJi9ZMNIJDbw:1759558256992&amp;q=Acidic+Water+(below+6.5)&amp;sa=X&amp;ved=2ahUKEwjdjPqm8YmQAxWO1TgGHd2VHTMQxccNegQIHxAB&amp;mstk=AUtExfA4Lv5EXN6lLupm2Lt44s4PpLrDhFA4PeBoTrTAyxKCEdlG955J45eQNs_IKooZfiX46NSBpHynWVznIfHuUTUJ6pNfa3fhk2cmeJgMOxeJ1ccOdHYQuzLx67OHdJZSfl3CpDVPzgFPqaqG2l9ZJ8DCSjEZNFXAnHVuTbPrLi4hjRCQ0vI_gEf33Dm_vgxPGgyZB9bo6QmEPC9rH0phRhgbg2KdfmQvQNPucsfH6q8vshjhAc_gswV9ryZ4luFNMnHqfsjjGBLFwEARgVAIQeP-&amp;csui=3" TargetMode="External"/><Relationship Id="rId1" Type="http://schemas.openxmlformats.org/officeDocument/2006/relationships/slideLayout" Target="../slideLayouts/slideLayout2.xml"/><Relationship Id="rId4" Type="http://schemas.openxmlformats.org/officeDocument/2006/relationships/hyperlink" Target="https://www.google.com/search?sca_esv=5c05e6a201bfb25d&amp;rlz=1C1GCEU_enIN1119IN1119&amp;sxsrf=AE3TifOvpiH2lse9T0fu6DDJi9ZMNIJDbw:1759558256992&amp;q=Alkaline+Water+(above+8.5)&amp;sa=X&amp;ved=2ahUKEwjdjPqm8YmQAxWO1TgGHd2VHTMQxccNegUIgAEQAQ&amp;mstk=AUtExfA4Lv5EXN6lLupm2Lt44s4PpLrDhFA4PeBoTrTAyxKCEdlG955J45eQNs_IKooZfiX46NSBpHynWVznIfHuUTUJ6pNfa3fhk2cmeJgMOxeJ1ccOdHYQuzLx67OHdJZSfl3CpDVPzgFPqaqG2l9ZJ8DCSjEZNFXAnHVuTbPrLi4hjRCQ0vI_gEf33Dm_vgxPGgyZB9bo6QmEPC9rH0phRhgbg2KdfmQvQNPucsfH6q8vshjhAc_gswV9ryZ4luFNMnHqfsjjGBLFwEARgVAIQeP-&amp;csui=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b="1" dirty="0">
                <a:latin typeface="Times New Roman" pitchFamily="18" charset="0"/>
                <a:cs typeface="Times New Roman" pitchFamily="18" charset="0"/>
              </a:rPr>
              <a:t>FEED WATER CHARACTERISTICS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2060"/>
                </a:solidFill>
                <a:latin typeface="Times New Roman" pitchFamily="18" charset="0"/>
                <a:cs typeface="Times New Roman" pitchFamily="18" charset="0"/>
              </a:rPr>
              <a:t>COMMON FEED WATER CHARACTERISTICS</a:t>
            </a:r>
            <a:br>
              <a:rPr lang="en-US" sz="2800" b="1" dirty="0">
                <a:solidFill>
                  <a:srgbClr val="002060"/>
                </a:solidFill>
                <a:latin typeface="Times New Roman" pitchFamily="18" charset="0"/>
                <a:cs typeface="Times New Roman" pitchFamily="18" charset="0"/>
              </a:rPr>
            </a:br>
            <a:endParaRPr lang="en-US" sz="2800" b="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143000"/>
            <a:ext cx="8229600" cy="5257800"/>
          </a:xfrm>
        </p:spPr>
        <p:txBody>
          <a:bodyPr>
            <a:normAutofit fontScale="40000" lnSpcReduction="20000"/>
          </a:bodyPr>
          <a:lstStyle/>
          <a:p>
            <a:pPr algn="just"/>
            <a:r>
              <a:rPr lang="en-US" sz="5000" b="1" dirty="0">
                <a:latin typeface="Times New Roman" pitchFamily="18" charset="0"/>
                <a:cs typeface="Times New Roman" pitchFamily="18" charset="0"/>
                <a:hlinkClick r:id="rId2"/>
              </a:rPr>
              <a:t>pH</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Measures the water's acidity or alkalinity, which affects corrosion and chemical processes within the system. </a:t>
            </a:r>
          </a:p>
          <a:p>
            <a:pPr algn="just"/>
            <a:r>
              <a:rPr lang="en-US" sz="5000" b="1" dirty="0">
                <a:latin typeface="Times New Roman" pitchFamily="18" charset="0"/>
                <a:cs typeface="Times New Roman" pitchFamily="18" charset="0"/>
                <a:hlinkClick r:id="rId3"/>
              </a:rPr>
              <a:t>Hardness</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Refers to the concentration of dissolved minerals like calcium and magnesium, which can cause scaling in boilers. </a:t>
            </a:r>
          </a:p>
          <a:p>
            <a:pPr algn="just"/>
            <a:r>
              <a:rPr lang="en-US" sz="5000" b="1" dirty="0">
                <a:latin typeface="Times New Roman" pitchFamily="18" charset="0"/>
                <a:cs typeface="Times New Roman" pitchFamily="18" charset="0"/>
                <a:hlinkClick r:id="rId4"/>
              </a:rPr>
              <a:t>Dissolved Solids (TDS)</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The total amount of dissolved minerals, salts, and other substances, which can increase operating pressure in RO systems and contribute to scaling in boilers. </a:t>
            </a:r>
          </a:p>
          <a:p>
            <a:pPr algn="just"/>
            <a:r>
              <a:rPr lang="en-US" sz="5000" b="1" dirty="0">
                <a:latin typeface="Times New Roman" pitchFamily="18" charset="0"/>
                <a:cs typeface="Times New Roman" pitchFamily="18" charset="0"/>
                <a:hlinkClick r:id="rId5"/>
              </a:rPr>
              <a:t>Suspended Solids</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Fine particles that are not dissolved, such as silt and other impurities, that can cause fouling and blockages. </a:t>
            </a:r>
          </a:p>
          <a:p>
            <a:pPr algn="just"/>
            <a:r>
              <a:rPr lang="en-US" sz="5000" b="1" dirty="0">
                <a:latin typeface="Times New Roman" pitchFamily="18" charset="0"/>
                <a:cs typeface="Times New Roman" pitchFamily="18" charset="0"/>
                <a:hlinkClick r:id="rId6"/>
              </a:rPr>
              <a:t>Dissolved Gases</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Gases like oxygen and carbon dioxide can increase corrosion in boiler systems. </a:t>
            </a:r>
          </a:p>
          <a:p>
            <a:pPr algn="just"/>
            <a:r>
              <a:rPr lang="en-US" sz="5000" b="1" dirty="0">
                <a:latin typeface="Times New Roman" pitchFamily="18" charset="0"/>
                <a:cs typeface="Times New Roman" pitchFamily="18" charset="0"/>
                <a:hlinkClick r:id="rId7"/>
              </a:rPr>
              <a:t>Temperature</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Impacts the viscosity of the water, affecting production rates in RO systems and heat transfer efficiency in boilers. </a:t>
            </a:r>
          </a:p>
          <a:p>
            <a:pPr algn="just"/>
            <a:r>
              <a:rPr lang="en-US" sz="5000" b="1" dirty="0">
                <a:latin typeface="Times New Roman" pitchFamily="18" charset="0"/>
                <a:cs typeface="Times New Roman" pitchFamily="18" charset="0"/>
                <a:hlinkClick r:id="rId8"/>
              </a:rPr>
              <a:t>Organics</a:t>
            </a:r>
            <a:r>
              <a:rPr lang="en-US" sz="5000" b="1" dirty="0">
                <a:latin typeface="Times New Roman" pitchFamily="18" charset="0"/>
                <a:cs typeface="Times New Roman" pitchFamily="18" charset="0"/>
              </a:rPr>
              <a:t>:</a:t>
            </a:r>
            <a:r>
              <a:rPr lang="en-US" sz="5000" dirty="0">
                <a:latin typeface="Times New Roman" pitchFamily="18" charset="0"/>
                <a:cs typeface="Times New Roman" pitchFamily="18" charset="0"/>
              </a:rPr>
              <a:t> Organic matter can foul membranes in RO systems and contribute to biological contamination in water systems.</a:t>
            </a:r>
            <a:r>
              <a:rPr lang="en-US" sz="4200" dirty="0">
                <a:latin typeface="Times New Roman" pitchFamily="18" charset="0"/>
                <a:cs typeface="Times New Roman" pitchFamily="18" charset="0"/>
              </a:rPr>
              <a:t> </a:t>
            </a:r>
          </a:p>
          <a:p>
            <a:pPr algn="just"/>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just"/>
            <a:r>
              <a:rPr lang="en-US" sz="2000" dirty="0">
                <a:latin typeface="Times New Roman" pitchFamily="18" charset="0"/>
                <a:cs typeface="Times New Roman" pitchFamily="18" charset="0"/>
              </a:rPr>
              <a:t>Main parameters in desalination include feed water characteristics (salinity, temperature, turbidity), process-specific parameters like operating pressure and membrane type for reverse osmosis (RO) or heat loss for thermal processes, and post-treatment variables such as chemical dosing for pH and hardness adjustment. </a:t>
            </a:r>
          </a:p>
          <a:p>
            <a:pPr algn="just"/>
            <a:r>
              <a:rPr lang="en-US" sz="2000" dirty="0">
                <a:latin typeface="Times New Roman" pitchFamily="18" charset="0"/>
                <a:cs typeface="Times New Roman" pitchFamily="18" charset="0"/>
              </a:rPr>
              <a:t>Other crucial factors are membrane health (aging and fouling), energy efficiency (especially in RO and solar desalination), and overall plant maintenance and operational skills.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latin typeface="Times New Roman" pitchFamily="18" charset="0"/>
                <a:cs typeface="Times New Roman" pitchFamily="18" charset="0"/>
              </a:rPr>
              <a:t>Feed water Characteristics</a:t>
            </a:r>
            <a:br>
              <a:rPr lang="en-US" b="1" dirty="0">
                <a:solidFill>
                  <a:srgbClr val="00B0F0"/>
                </a:solidFill>
                <a:latin typeface="Times New Roman" pitchFamily="18" charset="0"/>
                <a:cs typeface="Times New Roman" pitchFamily="18" charset="0"/>
              </a:rPr>
            </a:br>
            <a:endParaRPr lang="en-US" b="1" dirty="0">
              <a:solidFill>
                <a:srgbClr val="00B0F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525963"/>
          </a:xfrm>
        </p:spPr>
        <p:txBody>
          <a:bodyPr>
            <a:normAutofit/>
          </a:bodyPr>
          <a:lstStyle/>
          <a:p>
            <a:pPr algn="just"/>
            <a:r>
              <a:rPr lang="en-US" sz="2000" b="1" dirty="0">
                <a:latin typeface="Times New Roman" pitchFamily="18" charset="0"/>
                <a:cs typeface="Times New Roman" pitchFamily="18" charset="0"/>
              </a:rPr>
              <a:t>Salinity:</a:t>
            </a:r>
            <a:r>
              <a:rPr lang="en-US" sz="2000" dirty="0">
                <a:latin typeface="Times New Roman" pitchFamily="18" charset="0"/>
                <a:cs typeface="Times New Roman" pitchFamily="18" charset="0"/>
              </a:rPr>
              <a:t> </a:t>
            </a:r>
          </a:p>
          <a:p>
            <a:pPr algn="just" fontAlgn="ctr"/>
            <a:r>
              <a:rPr lang="en-US" sz="2000" dirty="0">
                <a:latin typeface="Times New Roman" pitchFamily="18" charset="0"/>
                <a:cs typeface="Times New Roman" pitchFamily="18" charset="0"/>
              </a:rPr>
              <a:t>The concentration of salts and pollutants in the feed water directly influences the efficiency and energy demands of the desalination process. </a:t>
            </a:r>
          </a:p>
          <a:p>
            <a:pPr algn="just"/>
            <a:r>
              <a:rPr lang="en-US" sz="2000" b="1" dirty="0">
                <a:latin typeface="Times New Roman" pitchFamily="18" charset="0"/>
                <a:cs typeface="Times New Roman" pitchFamily="18" charset="0"/>
              </a:rPr>
              <a:t>Temperature:</a:t>
            </a:r>
            <a:r>
              <a:rPr lang="en-US" sz="2000" dirty="0">
                <a:latin typeface="Times New Roman" pitchFamily="18" charset="0"/>
                <a:cs typeface="Times New Roman" pitchFamily="18" charset="0"/>
              </a:rPr>
              <a:t> </a:t>
            </a:r>
          </a:p>
          <a:p>
            <a:pPr algn="just" fontAlgn="ctr"/>
            <a:r>
              <a:rPr lang="en-US" sz="2000" dirty="0">
                <a:latin typeface="Times New Roman" pitchFamily="18" charset="0"/>
                <a:cs typeface="Times New Roman" pitchFamily="18" charset="0"/>
              </a:rPr>
              <a:t>Feed water temperature affects membrane permeability and overall energy consumption, especially in RO and thermal systems. </a:t>
            </a:r>
          </a:p>
          <a:p>
            <a:pPr algn="just"/>
            <a:r>
              <a:rPr lang="en-US" sz="2000" b="1" dirty="0">
                <a:latin typeface="Times New Roman" pitchFamily="18" charset="0"/>
                <a:cs typeface="Times New Roman" pitchFamily="18" charset="0"/>
              </a:rPr>
              <a:t>Turbidity and Other Pollutants:</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High levels of turbidity, COD, or BOD necessitate more intensive pre-treatment to prevent membrane fouling.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sz="2400" b="1" dirty="0">
                <a:latin typeface="Times New Roman" pitchFamily="18" charset="0"/>
                <a:cs typeface="Times New Roman" pitchFamily="18" charset="0"/>
              </a:rPr>
              <a:t>Reverse Osmosis (RO):</a:t>
            </a:r>
            <a:endParaRPr lang="en-US" sz="2400" dirty="0">
              <a:latin typeface="Times New Roman" pitchFamily="18" charset="0"/>
              <a:cs typeface="Times New Roman" pitchFamily="18" charset="0"/>
            </a:endParaRPr>
          </a:p>
          <a:p>
            <a:pPr algn="just" fontAlgn="ctr"/>
            <a:r>
              <a:rPr lang="en-US" sz="2400" b="1" dirty="0">
                <a:latin typeface="Times New Roman" pitchFamily="18" charset="0"/>
                <a:cs typeface="Times New Roman" pitchFamily="18" charset="0"/>
              </a:rPr>
              <a:t>Operating Pressure:</a:t>
            </a:r>
            <a:r>
              <a:rPr lang="en-US" sz="2400" dirty="0">
                <a:latin typeface="Times New Roman" pitchFamily="18" charset="0"/>
                <a:cs typeface="Times New Roman" pitchFamily="18" charset="0"/>
              </a:rPr>
              <a:t> High pressure is needed to overcome the osmotic pressure and push water through the semi-permeable membranes. </a:t>
            </a:r>
          </a:p>
          <a:p>
            <a:pPr algn="just" fontAlgn="ctr"/>
            <a:r>
              <a:rPr lang="en-US" sz="2400" b="1" dirty="0">
                <a:latin typeface="Times New Roman" pitchFamily="18" charset="0"/>
                <a:cs typeface="Times New Roman" pitchFamily="18" charset="0"/>
              </a:rPr>
              <a:t>Membrane Properties:</a:t>
            </a:r>
            <a:r>
              <a:rPr lang="en-US" sz="2400" dirty="0">
                <a:latin typeface="Times New Roman" pitchFamily="18" charset="0"/>
                <a:cs typeface="Times New Roman" pitchFamily="18" charset="0"/>
              </a:rPr>
              <a:t> Factors like membrane aging, material, and fouling (</a:t>
            </a:r>
            <a:r>
              <a:rPr lang="en-US" sz="2400" dirty="0" err="1">
                <a:latin typeface="Times New Roman" pitchFamily="18" charset="0"/>
                <a:cs typeface="Times New Roman" pitchFamily="18" charset="0"/>
              </a:rPr>
              <a:t>biofouling</a:t>
            </a:r>
            <a:r>
              <a:rPr lang="en-US" sz="2400" dirty="0">
                <a:latin typeface="Times New Roman" pitchFamily="18" charset="0"/>
                <a:cs typeface="Times New Roman" pitchFamily="18" charset="0"/>
              </a:rPr>
              <a:t>, organic, colloidal) significantly impact efficiency and lifespan. </a:t>
            </a:r>
          </a:p>
          <a:p>
            <a:pPr algn="just" fontAlgn="ctr"/>
            <a:r>
              <a:rPr lang="en-US" sz="2400" b="1" dirty="0">
                <a:latin typeface="Times New Roman" pitchFamily="18" charset="0"/>
                <a:cs typeface="Times New Roman" pitchFamily="18" charset="0"/>
              </a:rPr>
              <a:t>Energy Recovery Devices:</a:t>
            </a:r>
            <a:r>
              <a:rPr lang="en-US" sz="2400" dirty="0">
                <a:latin typeface="Times New Roman" pitchFamily="18" charset="0"/>
                <a:cs typeface="Times New Roman" pitchFamily="18" charset="0"/>
              </a:rPr>
              <a:t> Used in RO systems to capture energy from the high-pressure reject stream and reduce overall energy demand. </a:t>
            </a:r>
          </a:p>
          <a:p>
            <a:pPr>
              <a:buNone/>
            </a:pPr>
            <a:br>
              <a:rPr lang="en-US" dirty="0"/>
            </a:br>
            <a:endParaRPr lang="en-US" dirty="0"/>
          </a:p>
        </p:txBody>
      </p:sp>
      <p:sp>
        <p:nvSpPr>
          <p:cNvPr id="4" name="TextBox 3"/>
          <p:cNvSpPr txBox="1"/>
          <p:nvPr/>
        </p:nvSpPr>
        <p:spPr>
          <a:xfrm>
            <a:off x="1524000" y="609600"/>
            <a:ext cx="4993546" cy="800219"/>
          </a:xfrm>
          <a:prstGeom prst="rect">
            <a:avLst/>
          </a:prstGeom>
          <a:noFill/>
        </p:spPr>
        <p:txBody>
          <a:bodyPr wrap="none" rtlCol="0">
            <a:spAutoFit/>
          </a:bodyPr>
          <a:lstStyle/>
          <a:p>
            <a:r>
              <a:rPr lang="en-US" sz="2800" b="1" dirty="0">
                <a:solidFill>
                  <a:srgbClr val="00B0F0"/>
                </a:solidFill>
              </a:rPr>
              <a:t>PROCESS-SPECIFIC PARAMETERS</a:t>
            </a:r>
          </a:p>
          <a:p>
            <a:endParaRPr lang="en-US" dirty="0">
              <a:solidFill>
                <a:srgbClr val="00B0F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B0F0"/>
                </a:solidFill>
              </a:rPr>
              <a:t>THERMAL DESALINATION (EVAPORATION):</a:t>
            </a:r>
            <a:br>
              <a:rPr lang="en-US" sz="2800" dirty="0">
                <a:solidFill>
                  <a:srgbClr val="00B0F0"/>
                </a:solidFill>
              </a:rPr>
            </a:br>
            <a:endParaRPr lang="en-US" sz="2800" dirty="0">
              <a:solidFill>
                <a:srgbClr val="00B0F0"/>
              </a:solidFill>
            </a:endParaRPr>
          </a:p>
        </p:txBody>
      </p:sp>
      <p:sp>
        <p:nvSpPr>
          <p:cNvPr id="3" name="Content Placeholder 2"/>
          <p:cNvSpPr>
            <a:spLocks noGrp="1"/>
          </p:cNvSpPr>
          <p:nvPr>
            <p:ph idx="1"/>
          </p:nvPr>
        </p:nvSpPr>
        <p:spPr/>
        <p:txBody>
          <a:bodyPr>
            <a:normAutofit/>
          </a:bodyPr>
          <a:lstStyle/>
          <a:p>
            <a:pPr algn="just" fontAlgn="ctr"/>
            <a:r>
              <a:rPr lang="en-US" sz="2800" b="1" dirty="0">
                <a:latin typeface="Times New Roman" pitchFamily="18" charset="0"/>
                <a:cs typeface="Times New Roman" pitchFamily="18" charset="0"/>
              </a:rPr>
              <a:t>Heat Loss Coefficient:</a:t>
            </a:r>
            <a:r>
              <a:rPr lang="en-US" sz="2800" dirty="0">
                <a:latin typeface="Times New Roman" pitchFamily="18" charset="0"/>
                <a:cs typeface="Times New Roman" pitchFamily="18" charset="0"/>
              </a:rPr>
              <a:t> Minimizing heat loss is crucial for thermal efficiency in processes like solar desalination. </a:t>
            </a:r>
          </a:p>
          <a:p>
            <a:pPr algn="just" fontAlgn="ctr"/>
            <a:r>
              <a:rPr lang="en-US" sz="2800" b="1" dirty="0">
                <a:latin typeface="Times New Roman" pitchFamily="18" charset="0"/>
                <a:cs typeface="Times New Roman" pitchFamily="18" charset="0"/>
              </a:rPr>
              <a:t>Solar </a:t>
            </a:r>
            <a:r>
              <a:rPr lang="en-US" sz="2800" b="1" dirty="0" err="1">
                <a:latin typeface="Times New Roman" pitchFamily="18" charset="0"/>
                <a:cs typeface="Times New Roman" pitchFamily="18" charset="0"/>
              </a:rPr>
              <a:t>Insolation</a:t>
            </a:r>
            <a:r>
              <a:rPr lang="en-US" sz="2800" b="1" dirty="0">
                <a:latin typeface="Times New Roman" pitchFamily="18" charset="0"/>
                <a:cs typeface="Times New Roman" pitchFamily="18" charset="0"/>
              </a:rPr>
              <a:t>:</a:t>
            </a:r>
            <a:r>
              <a:rPr lang="en-US" sz="2800" dirty="0">
                <a:latin typeface="Times New Roman" pitchFamily="18" charset="0"/>
                <a:cs typeface="Times New Roman" pitchFamily="18" charset="0"/>
              </a:rPr>
              <a:t> A primary driver for solar-powered evaporation systems. </a:t>
            </a:r>
          </a:p>
          <a:p>
            <a:pPr algn="just"/>
            <a:r>
              <a:rPr lang="en-US" sz="2800" b="1" dirty="0">
                <a:latin typeface="Times New Roman" pitchFamily="18" charset="0"/>
                <a:cs typeface="Times New Roman" pitchFamily="18" charset="0"/>
                <a:hlinkClick r:id="rId2"/>
              </a:rPr>
              <a:t>Freezing Point</a:t>
            </a:r>
            <a:r>
              <a:rPr lang="en-US" sz="2800" b="1" dirty="0">
                <a:latin typeface="Times New Roman" pitchFamily="18" charset="0"/>
                <a:cs typeface="Times New Roman" pitchFamily="18" charset="0"/>
              </a:rPr>
              <a:t> Parameters:</a:t>
            </a:r>
            <a:r>
              <a:rPr lang="en-US" sz="2800" dirty="0">
                <a:latin typeface="Times New Roman" pitchFamily="18" charset="0"/>
                <a:cs typeface="Times New Roman" pitchFamily="18" charset="0"/>
              </a:rPr>
              <a:t> In freezing-based desalination, factors like freezing temperature, </a:t>
            </a:r>
            <a:r>
              <a:rPr lang="en-US" sz="2800" dirty="0" err="1">
                <a:latin typeface="Times New Roman" pitchFamily="18" charset="0"/>
                <a:cs typeface="Times New Roman" pitchFamily="18" charset="0"/>
              </a:rPr>
              <a:t>subcooling</a:t>
            </a:r>
            <a:r>
              <a:rPr lang="en-US" sz="2800" dirty="0">
                <a:latin typeface="Times New Roman" pitchFamily="18" charset="0"/>
                <a:cs typeface="Times New Roman" pitchFamily="18" charset="0"/>
              </a:rPr>
              <a:t>, and initial salinity influence ice quality.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rPr>
              <a:t>POST-TREATMENT AND OPERATIONAL PARAMETERS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latin typeface="Times New Roman" pitchFamily="18" charset="0"/>
                <a:cs typeface="Times New Roman" pitchFamily="18" charset="0"/>
              </a:rPr>
              <a:t>Chemical Dosing:</a:t>
            </a:r>
            <a:r>
              <a:rPr lang="en-US" dirty="0">
                <a:latin typeface="Times New Roman" pitchFamily="18" charset="0"/>
                <a:cs typeface="Times New Roman" pitchFamily="18" charset="0"/>
              </a:rPr>
              <a:t> </a:t>
            </a:r>
          </a:p>
          <a:p>
            <a:pPr fontAlgn="ctr"/>
            <a:r>
              <a:rPr lang="en-US" dirty="0">
                <a:latin typeface="Times New Roman" pitchFamily="18" charset="0"/>
                <a:cs typeface="Times New Roman" pitchFamily="18" charset="0"/>
              </a:rPr>
              <a:t>Adjusting pH, hardness, and alkalinity with chemicals like CO2 and sodium hydroxide is necessary after desalination to make water suitable for distribution. </a:t>
            </a:r>
          </a:p>
          <a:p>
            <a:r>
              <a:rPr lang="en-US" b="1" dirty="0">
                <a:latin typeface="Times New Roman" pitchFamily="18" charset="0"/>
                <a:cs typeface="Times New Roman" pitchFamily="18" charset="0"/>
              </a:rPr>
              <a:t>Disinfection:</a:t>
            </a:r>
            <a:r>
              <a:rPr lang="en-US" dirty="0">
                <a:latin typeface="Times New Roman" pitchFamily="18" charset="0"/>
                <a:cs typeface="Times New Roman" pitchFamily="18" charset="0"/>
              </a:rPr>
              <a:t> </a:t>
            </a:r>
          </a:p>
          <a:p>
            <a:pPr fontAlgn="ctr"/>
            <a:r>
              <a:rPr lang="en-US" dirty="0">
                <a:latin typeface="Times New Roman" pitchFamily="18" charset="0"/>
                <a:cs typeface="Times New Roman" pitchFamily="18" charset="0"/>
              </a:rPr>
              <a:t>Dosing with disinfectants like sodium hypochlorite ensures water safety for consumption. </a:t>
            </a:r>
          </a:p>
          <a:p>
            <a:r>
              <a:rPr lang="en-US" b="1" dirty="0">
                <a:latin typeface="Times New Roman" pitchFamily="18" charset="0"/>
                <a:cs typeface="Times New Roman" pitchFamily="18" charset="0"/>
              </a:rPr>
              <a:t>Maintenance and Cleaning:</a:t>
            </a:r>
            <a:r>
              <a:rPr lang="en-US" dirty="0">
                <a:latin typeface="Times New Roman" pitchFamily="18" charset="0"/>
                <a:cs typeface="Times New Roman" pitchFamily="18" charset="0"/>
              </a:rPr>
              <a:t> </a:t>
            </a:r>
          </a:p>
          <a:p>
            <a:pPr fontAlgn="ctr"/>
            <a:r>
              <a:rPr lang="en-US" dirty="0">
                <a:latin typeface="Times New Roman" pitchFamily="18" charset="0"/>
                <a:cs typeface="Times New Roman" pitchFamily="18" charset="0"/>
              </a:rPr>
              <a:t>Regular chemical and physical cleaning methods are required to address membrane fouling and scaling. </a:t>
            </a:r>
          </a:p>
          <a:p>
            <a:r>
              <a:rPr lang="en-US" b="1" dirty="0">
                <a:latin typeface="Times New Roman" pitchFamily="18" charset="0"/>
                <a:cs typeface="Times New Roman" pitchFamily="18" charset="0"/>
              </a:rPr>
              <a:t>Control Systems:</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Automated control mechanisms and skilled operators are essential for consistent performance and efficient operation.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PH VALUE</a:t>
            </a:r>
          </a:p>
        </p:txBody>
      </p:sp>
      <p:sp>
        <p:nvSpPr>
          <p:cNvPr id="3" name="Content Placeholder 2"/>
          <p:cNvSpPr>
            <a:spLocks noGrp="1"/>
          </p:cNvSpPr>
          <p:nvPr>
            <p:ph idx="1"/>
          </p:nvPr>
        </p:nvSpPr>
        <p:spPr>
          <a:xfrm>
            <a:off x="457200" y="1219200"/>
            <a:ext cx="8229600" cy="4525963"/>
          </a:xfrm>
        </p:spPr>
        <p:txBody>
          <a:bodyPr>
            <a:normAutofit/>
          </a:bodyPr>
          <a:lstStyle/>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pH value measures the acidity or </a:t>
            </a:r>
            <a:r>
              <a:rPr lang="en-US" sz="2000" dirty="0" err="1">
                <a:latin typeface="Times New Roman" pitchFamily="18" charset="0"/>
                <a:cs typeface="Times New Roman" pitchFamily="18" charset="0"/>
              </a:rPr>
              <a:t>basicity</a:t>
            </a:r>
            <a:r>
              <a:rPr lang="en-US" sz="2000" dirty="0">
                <a:latin typeface="Times New Roman" pitchFamily="18" charset="0"/>
                <a:cs typeface="Times New Roman" pitchFamily="18" charset="0"/>
              </a:rPr>
              <a:t> of an aqueous solution on a scale of 0 to 14, where 7 is neutral, values below 7 are acidic, and values above 7 are basic. It is based on the concentration of hydrogen ions (H⁺), with lower pH indicating higher acidity and higher pH indicating greater </a:t>
            </a:r>
            <a:r>
              <a:rPr lang="en-US" sz="2000" dirty="0" err="1">
                <a:latin typeface="Times New Roman" pitchFamily="18" charset="0"/>
                <a:cs typeface="Times New Roman" pitchFamily="18" charset="0"/>
              </a:rPr>
              <a:t>basicity</a:t>
            </a:r>
            <a:r>
              <a:rPr lang="en-US" sz="2000" dirty="0">
                <a:latin typeface="Times New Roman" pitchFamily="18" charset="0"/>
                <a:cs typeface="Times New Roman" pitchFamily="18" charset="0"/>
              </a:rPr>
              <a:t>.</a:t>
            </a:r>
            <a:r>
              <a:rPr lang="en-US" sz="2000" dirty="0"/>
              <a:t>  </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recommended pH value for drinking water is generally between 6.5 and 8.5, a range supported by organizations like the World Health Organization (WHO) and the US Environmental Protection Agency (EPA). </a:t>
            </a:r>
          </a:p>
          <a:p>
            <a:pPr algn="just"/>
            <a:r>
              <a:rPr lang="en-US" sz="2000" dirty="0">
                <a:latin typeface="Times New Roman" pitchFamily="18" charset="0"/>
                <a:cs typeface="Times New Roman" pitchFamily="18" charset="0"/>
              </a:rPr>
              <a:t>Water outside this range may not only affect taste and cause plumbing issues, such as corrosion from low pH or scale buildup from high pH, but can also indicate the presence of contaminants.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itchFamily="18" charset="0"/>
                <a:cs typeface="Times New Roman" pitchFamily="18" charset="0"/>
              </a:rPr>
              <a:t>Factors influencing pH:</a:t>
            </a:r>
            <a:br>
              <a:rPr lang="en-US" dirty="0"/>
            </a:br>
            <a:endParaRPr lang="en-US" dirty="0"/>
          </a:p>
        </p:txBody>
      </p:sp>
      <p:sp>
        <p:nvSpPr>
          <p:cNvPr id="3" name="Content Placeholder 2"/>
          <p:cNvSpPr>
            <a:spLocks noGrp="1"/>
          </p:cNvSpPr>
          <p:nvPr>
            <p:ph idx="1"/>
          </p:nvPr>
        </p:nvSpPr>
        <p:spPr>
          <a:xfrm>
            <a:off x="457200" y="1219200"/>
            <a:ext cx="8229600" cy="4525963"/>
          </a:xfrm>
        </p:spPr>
        <p:txBody>
          <a:bodyPr>
            <a:normAutofit/>
          </a:bodyPr>
          <a:lstStyle/>
          <a:p>
            <a:pPr algn="just" fontAlgn="ctr"/>
            <a:r>
              <a:rPr lang="en-US" sz="2200" b="1" dirty="0">
                <a:latin typeface="Times New Roman" pitchFamily="18" charset="0"/>
                <a:cs typeface="Times New Roman" pitchFamily="18" charset="0"/>
              </a:rPr>
              <a:t>Natural processes:</a:t>
            </a:r>
            <a:r>
              <a:rPr lang="en-US" sz="2200" dirty="0">
                <a:latin typeface="Times New Roman" pitchFamily="18" charset="0"/>
                <a:cs typeface="Times New Roman" pitchFamily="18" charset="0"/>
              </a:rPr>
              <a:t> Geological features like limestone can increase water's alkalinity. </a:t>
            </a:r>
          </a:p>
          <a:p>
            <a:pPr algn="just" fontAlgn="ctr"/>
            <a:r>
              <a:rPr lang="en-US" sz="2200" b="1" dirty="0">
                <a:latin typeface="Times New Roman" pitchFamily="18" charset="0"/>
                <a:cs typeface="Times New Roman" pitchFamily="18" charset="0"/>
              </a:rPr>
              <a:t>Human activities:</a:t>
            </a:r>
            <a:r>
              <a:rPr lang="en-US" sz="2200" dirty="0">
                <a:latin typeface="Times New Roman" pitchFamily="18" charset="0"/>
                <a:cs typeface="Times New Roman" pitchFamily="18" charset="0"/>
              </a:rPr>
              <a:t> Acid rain can lower pH levels, while other chemical activities can also influence it. </a:t>
            </a:r>
          </a:p>
          <a:p>
            <a:pPr algn="just" fontAlgn="ctr"/>
            <a:r>
              <a:rPr lang="en-US" sz="2200" b="1" dirty="0">
                <a:latin typeface="Times New Roman" pitchFamily="18" charset="0"/>
                <a:cs typeface="Times New Roman" pitchFamily="18" charset="0"/>
              </a:rPr>
              <a:t>Water treatment:</a:t>
            </a:r>
            <a:r>
              <a:rPr lang="en-US" sz="2200" dirty="0">
                <a:latin typeface="Times New Roman" pitchFamily="18" charset="0"/>
                <a:cs typeface="Times New Roman" pitchFamily="18" charset="0"/>
              </a:rPr>
              <a:t> Municipalities treat water to ensure it falls within the safe range. </a:t>
            </a:r>
          </a:p>
          <a:p>
            <a:pPr algn="just"/>
            <a:r>
              <a:rPr lang="en-US" sz="2200" dirty="0">
                <a:latin typeface="Times New Roman" pitchFamily="18" charset="0"/>
                <a:cs typeface="Times New Roman" pitchFamily="18" charset="0"/>
              </a:rPr>
              <a:t>In summary, the 6.5 to 8.5 pH range is crucial for ensuring drinking water is safe, tastes good, and is not corrosive to plumbing systems.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rPr>
              <a:t>WHY THE 6.5 TO 8.5 RANGE MATTERS:</a:t>
            </a:r>
            <a:br>
              <a:rPr lang="en-US" dirty="0"/>
            </a:br>
            <a:endParaRPr lang="en-US" dirty="0"/>
          </a:p>
        </p:txBody>
      </p:sp>
      <p:sp>
        <p:nvSpPr>
          <p:cNvPr id="3" name="Content Placeholder 2"/>
          <p:cNvSpPr>
            <a:spLocks noGrp="1"/>
          </p:cNvSpPr>
          <p:nvPr>
            <p:ph idx="1"/>
          </p:nvPr>
        </p:nvSpPr>
        <p:spPr/>
        <p:txBody>
          <a:bodyPr>
            <a:normAutofit/>
          </a:bodyPr>
          <a:lstStyle/>
          <a:p>
            <a:pPr algn="just" fontAlgn="ctr"/>
            <a:r>
              <a:rPr lang="en-US" sz="2200" b="1" dirty="0">
                <a:latin typeface="Times New Roman" pitchFamily="18" charset="0"/>
                <a:cs typeface="Times New Roman" pitchFamily="18" charset="0"/>
                <a:hlinkClick r:id="rId2"/>
              </a:rPr>
              <a:t>Acidic Water (below 6.5)</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Water that is too acidic can taste metallic and is corrosive, potentially dissolving toxic heavy metals like lead and copper from pipes into the water. </a:t>
            </a:r>
          </a:p>
          <a:p>
            <a:pPr algn="just" fontAlgn="ctr"/>
            <a:r>
              <a:rPr lang="en-US" sz="2200" b="1" dirty="0">
                <a:latin typeface="Times New Roman" pitchFamily="18" charset="0"/>
                <a:cs typeface="Times New Roman" pitchFamily="18" charset="0"/>
                <a:hlinkClick r:id="rId3"/>
              </a:rPr>
              <a:t>Neutral Water (around 7.0)</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This is considered pure water and is the center of the pH scale. </a:t>
            </a:r>
          </a:p>
          <a:p>
            <a:pPr algn="just"/>
            <a:r>
              <a:rPr lang="en-US" sz="2200" b="1" dirty="0">
                <a:latin typeface="Times New Roman" pitchFamily="18" charset="0"/>
                <a:cs typeface="Times New Roman" pitchFamily="18" charset="0"/>
                <a:hlinkClick r:id="rId4"/>
              </a:rPr>
              <a:t>Alkaline Water (above 8.5)</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While not technically unsafe, water with a very high pH can have a strong smell and bitter taste, making it unpalatable. It can also lead to scale deposits in pipes. </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847</Words>
  <Application>Microsoft Office PowerPoint</Application>
  <PresentationFormat>On-screen Show (4:3)</PresentationFormat>
  <Paragraphs>51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FEED WATER CHARACTERISTICS</vt:lpstr>
      <vt:lpstr>COMMON FEED WATER CHARACTERISTICS </vt:lpstr>
      <vt:lpstr>PowerPoint Presentation</vt:lpstr>
      <vt:lpstr>Feed water Characteristics </vt:lpstr>
      <vt:lpstr>PowerPoint Presentation</vt:lpstr>
      <vt:lpstr>THERMAL DESALINATION (EVAPORATION): </vt:lpstr>
      <vt:lpstr>POST-TREATMENT AND OPERATIONAL PARAMETERS </vt:lpstr>
      <vt:lpstr>PH VALUE</vt:lpstr>
      <vt:lpstr>Factors influencing pH: </vt:lpstr>
      <vt:lpstr>WHY THE 6.5 TO 8.5 RANGE MATTERS: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Subas Chandra Dash</dc:creator>
  <cp:lastModifiedBy>Priyanshi Mishra</cp:lastModifiedBy>
  <cp:revision>12</cp:revision>
  <dcterms:created xsi:type="dcterms:W3CDTF">2006-08-16T00:00:00Z</dcterms:created>
  <dcterms:modified xsi:type="dcterms:W3CDTF">2025-12-01T08:11:31Z</dcterms:modified>
</cp:coreProperties>
</file>