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3" r:id="rId5"/>
    <p:sldId id="264" r:id="rId6"/>
    <p:sldId id="265" r:id="rId7"/>
    <p:sldId id="266" r:id="rId8"/>
    <p:sldId id="267" r:id="rId9"/>
    <p:sldId id="268" r:id="rId10"/>
    <p:sldId id="269" r:id="rId11"/>
    <p:sldId id="270" r:id="rId12"/>
    <p:sldId id="271" r:id="rId13"/>
    <p:sldId id="260" r:id="rId14"/>
    <p:sldId id="262" r:id="rId15"/>
    <p:sldId id="261" r:id="rId1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9" d="100"/>
          <a:sy n="109" d="100"/>
        </p:scale>
        <p:origin x="-1674" y="-84"/>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9/13/2025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9/13/2025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9/13/2025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9/13/2025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3200" dirty="0" smtClean="0">
                <a:latin typeface="Times New Roman" pitchFamily="18" charset="0"/>
                <a:cs typeface="Times New Roman" pitchFamily="18" charset="0"/>
              </a:rPr>
              <a:t>MECHANICAL VAPOR COMPRESSION (MVC) DESALINATION TECHNIQUE</a:t>
            </a:r>
            <a:endParaRPr lang="en-US" sz="3200" dirty="0">
              <a:latin typeface="Times New Roman" pitchFamily="18" charset="0"/>
              <a:cs typeface="Times New Roman"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lgn="just"/>
            <a:r>
              <a:rPr lang="en-US" sz="2000" dirty="0" smtClean="0">
                <a:latin typeface="Times New Roman" pitchFamily="18" charset="0"/>
                <a:cs typeface="Times New Roman" pitchFamily="18" charset="0"/>
              </a:rPr>
              <a:t>Vapor-compression (VC) distillation is commonly used for small- and medium-scale desalination units.</a:t>
            </a:r>
          </a:p>
          <a:p>
            <a:pPr algn="just"/>
            <a:r>
              <a:rPr lang="en-US" sz="2000" dirty="0" smtClean="0">
                <a:latin typeface="Times New Roman" pitchFamily="18" charset="0"/>
                <a:cs typeface="Times New Roman" pitchFamily="18" charset="0"/>
              </a:rPr>
              <a:t> There are two methods to compress the vapor: mechanical compressors and steam jets. Mechanical vapor compression is very efficient. </a:t>
            </a:r>
          </a:p>
          <a:p>
            <a:pPr algn="just"/>
            <a:r>
              <a:rPr lang="en-US" sz="2000" dirty="0" smtClean="0">
                <a:latin typeface="Times New Roman" pitchFamily="18" charset="0"/>
                <a:cs typeface="Times New Roman" pitchFamily="18" charset="0"/>
              </a:rPr>
              <a:t>Unlike other distillation systems, it does not require a large external heating source; however, it requires very skilled operators and has higher maintenance costs compared to thermal vapor compression.</a:t>
            </a:r>
            <a:endParaRPr lang="en-US" sz="2000" dirty="0">
              <a:latin typeface="Times New Roman" pitchFamily="18" charset="0"/>
              <a:cs typeface="Times New Roman"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219200"/>
            <a:ext cx="8229600" cy="4525963"/>
          </a:xfrm>
        </p:spPr>
        <p:txBody>
          <a:bodyPr>
            <a:normAutofit/>
          </a:bodyPr>
          <a:lstStyle/>
          <a:p>
            <a:pPr algn="just"/>
            <a:r>
              <a:rPr lang="en-US" sz="2000" dirty="0" smtClean="0">
                <a:latin typeface="Times New Roman" pitchFamily="18" charset="0"/>
                <a:cs typeface="Times New Roman" pitchFamily="18" charset="0"/>
              </a:rPr>
              <a:t>Brackish water or seawater entering the evaporators is preheated using sensible heat exchangers that extract thermal energy from the exiting product water and brine. </a:t>
            </a:r>
          </a:p>
          <a:p>
            <a:pPr algn="just"/>
            <a:r>
              <a:rPr lang="en-US" sz="2000" dirty="0" smtClean="0">
                <a:latin typeface="Times New Roman" pitchFamily="18" charset="0"/>
                <a:cs typeface="Times New Roman" pitchFamily="18" charset="0"/>
              </a:rPr>
              <a:t>Steam from the saline solution is transferred from the evaporator to the compressor, which increases the steam pressure and temperature. The high-pressure steam condenses to form distilled water. </a:t>
            </a:r>
          </a:p>
          <a:p>
            <a:pPr algn="just"/>
            <a:r>
              <a:rPr lang="en-US" sz="2000" dirty="0" smtClean="0">
                <a:latin typeface="Times New Roman" pitchFamily="18" charset="0"/>
                <a:cs typeface="Times New Roman" pitchFamily="18" charset="0"/>
              </a:rPr>
              <a:t>The heat of condensation provides the heat of evaporation needed in the saline solution. </a:t>
            </a:r>
          </a:p>
          <a:p>
            <a:pPr algn="just"/>
            <a:r>
              <a:rPr lang="en-US" sz="2000" dirty="0" smtClean="0">
                <a:latin typeface="Times New Roman" pitchFamily="18" charset="0"/>
                <a:cs typeface="Times New Roman" pitchFamily="18" charset="0"/>
              </a:rPr>
              <a:t>The vapor-compression system is explained in Chapter II. This research focuses on optimizing the VC system so it can be more useful in future applications.</a:t>
            </a:r>
            <a:endParaRPr lang="en-US" sz="2000" dirty="0">
              <a:latin typeface="Times New Roman" pitchFamily="18" charset="0"/>
              <a:cs typeface="Times New Roman"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914400"/>
            <a:ext cx="8229600" cy="4525963"/>
          </a:xfrm>
        </p:spPr>
        <p:txBody>
          <a:bodyPr>
            <a:normAutofit fontScale="92500" lnSpcReduction="10000"/>
          </a:bodyPr>
          <a:lstStyle/>
          <a:p>
            <a:pPr algn="just"/>
            <a:r>
              <a:rPr lang="en-US" sz="2000" dirty="0" smtClean="0">
                <a:latin typeface="Times New Roman" pitchFamily="18" charset="0"/>
                <a:cs typeface="Times New Roman" pitchFamily="18" charset="0"/>
              </a:rPr>
              <a:t>Mechanical vapor compression distillation of saline water is a process in which mechanical energy is used as the main driving force. </a:t>
            </a:r>
          </a:p>
          <a:p>
            <a:pPr algn="just"/>
            <a:r>
              <a:rPr lang="en-US" sz="2000" dirty="0" smtClean="0">
                <a:latin typeface="Times New Roman" pitchFamily="18" charset="0"/>
                <a:cs typeface="Times New Roman" pitchFamily="18" charset="0"/>
              </a:rPr>
              <a:t>It is basically a heat pump process that pumps heat from a low-temperature reservoir to a higher temperature reservoir, just as in household refrigerators where the heat is pumped from the air inside the refrigerator box to the ambient air outside of the box. The main elements consist of an evaporator, a condenser, a compressor, and an expansion valve where refrigerants such as Freon or ammonia are used as working fluid in a closed cycle. </a:t>
            </a:r>
          </a:p>
          <a:p>
            <a:pPr algn="just"/>
            <a:r>
              <a:rPr lang="en-US" sz="2000" dirty="0" smtClean="0">
                <a:latin typeface="Times New Roman" pitchFamily="18" charset="0"/>
                <a:cs typeface="Times New Roman" pitchFamily="18" charset="0"/>
              </a:rPr>
              <a:t>The coils inside the refrigerator box form the evaporator and the coils outside the box form the condenser.</a:t>
            </a:r>
          </a:p>
          <a:p>
            <a:pPr algn="just"/>
            <a:r>
              <a:rPr lang="en-US" sz="2000" dirty="0" smtClean="0">
                <a:latin typeface="Times New Roman" pitchFamily="18" charset="0"/>
                <a:cs typeface="Times New Roman" pitchFamily="18" charset="0"/>
              </a:rPr>
              <a:t>Here the working fluid inside the coils in the evaporator, evaporates to absorb heat from inside the box, compressed to raise its saturation pressure and temperature and then enters the condenser coils outside the box to release its latent heat of condensation to the ambient air. </a:t>
            </a:r>
          </a:p>
          <a:p>
            <a:pPr algn="just"/>
            <a:r>
              <a:rPr lang="en-US" sz="2000" dirty="0" smtClean="0">
                <a:latin typeface="Times New Roman" pitchFamily="18" charset="0"/>
                <a:cs typeface="Times New Roman" pitchFamily="18" charset="0"/>
              </a:rPr>
              <a:t>The high-pressure liquid refrigerant then enters the expansion valve where it flashes down to the evaporator pressure to complete the cycle.  </a:t>
            </a:r>
            <a:endParaRPr lang="en-US" sz="2000" dirty="0">
              <a:latin typeface="Times New Roman" pitchFamily="18" charset="0"/>
              <a:cs typeface="Times New Roman"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990600"/>
            <a:ext cx="8229600" cy="4525963"/>
          </a:xfrm>
        </p:spPr>
        <p:txBody>
          <a:bodyPr>
            <a:normAutofit fontScale="70000" lnSpcReduction="20000"/>
          </a:bodyPr>
          <a:lstStyle/>
          <a:p>
            <a:pPr algn="just"/>
            <a:r>
              <a:rPr lang="en-US" dirty="0" smtClean="0">
                <a:latin typeface="Times New Roman" pitchFamily="18" charset="0"/>
                <a:cs typeface="Times New Roman" pitchFamily="18" charset="0"/>
              </a:rPr>
              <a:t>In a vapor compression distillation of saline water, the system is not a closed cycle and the basic system consists of the evaporator-condenser and the compressor. </a:t>
            </a:r>
          </a:p>
          <a:p>
            <a:pPr algn="just"/>
            <a:r>
              <a:rPr lang="en-US" dirty="0" smtClean="0">
                <a:latin typeface="Times New Roman" pitchFamily="18" charset="0"/>
                <a:cs typeface="Times New Roman" pitchFamily="18" charset="0"/>
              </a:rPr>
              <a:t>The working fluid is water vapor. </a:t>
            </a:r>
          </a:p>
          <a:p>
            <a:pPr algn="just"/>
            <a:r>
              <a:rPr lang="en-US" dirty="0" smtClean="0">
                <a:latin typeface="Times New Roman" pitchFamily="18" charset="0"/>
                <a:cs typeface="Times New Roman" pitchFamily="18" charset="0"/>
              </a:rPr>
              <a:t>Water vapor generated from the water layer on the evaporation side of the heat transfer surface is compressed to raise its saturation temperature and pressure.</a:t>
            </a:r>
          </a:p>
          <a:p>
            <a:pPr algn="just"/>
            <a:r>
              <a:rPr lang="en-US" dirty="0" smtClean="0">
                <a:latin typeface="Times New Roman" pitchFamily="18" charset="0"/>
                <a:cs typeface="Times New Roman" pitchFamily="18" charset="0"/>
              </a:rPr>
              <a:t>Then condensed on the condensation side of the heat transfer surface, forming condensate and releasing the latent heat of condensation </a:t>
            </a:r>
          </a:p>
          <a:p>
            <a:pPr algn="just"/>
            <a:r>
              <a:rPr lang="en-US" dirty="0" smtClean="0">
                <a:latin typeface="Times New Roman" pitchFamily="18" charset="0"/>
                <a:cs typeface="Times New Roman" pitchFamily="18" charset="0"/>
              </a:rPr>
              <a:t>It is  transferred across the heat transfer surface into the water layer on the evaporation side to cause further evaporation of water. </a:t>
            </a:r>
          </a:p>
          <a:p>
            <a:pPr algn="just"/>
            <a:r>
              <a:rPr lang="en-US" dirty="0" smtClean="0">
                <a:latin typeface="Times New Roman" pitchFamily="18" charset="0"/>
                <a:cs typeface="Times New Roman" pitchFamily="18" charset="0"/>
              </a:rPr>
              <a:t>The only energy required to pump the heat content in the vapor from the evaporation side to the condensation side of the heat transfer surface is the mechanical energy required to drive the compressor.</a:t>
            </a:r>
            <a:endParaRPr lang="en-US" dirty="0">
              <a:latin typeface="Times New Roman" pitchFamily="18" charset="0"/>
              <a:cs typeface="Times New Roman"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cstate="print"/>
          <a:srcRect/>
          <a:stretch>
            <a:fillRect/>
          </a:stretch>
        </p:blipFill>
        <p:spPr bwMode="auto">
          <a:xfrm>
            <a:off x="914400" y="990600"/>
            <a:ext cx="6943725" cy="4367045"/>
          </a:xfrm>
          <a:prstGeom prst="rect">
            <a:avLst/>
          </a:prstGeom>
          <a:noFill/>
          <a:ln w="9525">
            <a:noFill/>
            <a:miter lim="800000"/>
            <a:headEnd/>
            <a:tailEnd/>
          </a:ln>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5029200" cy="944562"/>
          </a:xfrm>
        </p:spPr>
        <p:txBody>
          <a:bodyPr>
            <a:normAutofit/>
          </a:bodyPr>
          <a:lstStyle/>
          <a:p>
            <a:r>
              <a:rPr lang="en-US" sz="3200" b="1" dirty="0" smtClean="0">
                <a:solidFill>
                  <a:srgbClr val="0070C0"/>
                </a:solidFill>
                <a:latin typeface="Times New Roman" pitchFamily="18" charset="0"/>
                <a:cs typeface="Times New Roman" pitchFamily="18" charset="0"/>
              </a:rPr>
              <a:t>WORKING PROCEDURE</a:t>
            </a:r>
            <a:endParaRPr lang="en-US" sz="3200" b="1" dirty="0">
              <a:solidFill>
                <a:srgbClr val="0070C0"/>
              </a:solidFill>
              <a:latin typeface="Times New Roman" pitchFamily="18" charset="0"/>
              <a:cs typeface="Times New Roman" pitchFamily="18" charset="0"/>
            </a:endParaRPr>
          </a:p>
        </p:txBody>
      </p:sp>
      <p:sp>
        <p:nvSpPr>
          <p:cNvPr id="3" name="Content Placeholder 2"/>
          <p:cNvSpPr>
            <a:spLocks noGrp="1"/>
          </p:cNvSpPr>
          <p:nvPr>
            <p:ph idx="1"/>
          </p:nvPr>
        </p:nvSpPr>
        <p:spPr>
          <a:xfrm>
            <a:off x="533400" y="1143000"/>
            <a:ext cx="8229600" cy="5257800"/>
          </a:xfrm>
        </p:spPr>
        <p:txBody>
          <a:bodyPr>
            <a:noAutofit/>
          </a:bodyPr>
          <a:lstStyle/>
          <a:p>
            <a:pPr algn="just"/>
            <a:r>
              <a:rPr lang="en-US" sz="2000" dirty="0" smtClean="0">
                <a:latin typeface="Times New Roman" pitchFamily="18" charset="0"/>
                <a:cs typeface="Times New Roman" pitchFamily="18" charset="0"/>
              </a:rPr>
              <a:t>Figure 1 shows a general simplified flow diagram of a basic mechanical vapor compression distillation system. As stated earlier, the system consists of an evaporator condenser, shown as heat transfer A, a mechanically driven vapor compressor, a three stream heat exchanger to pre-heat the feed stream by cooling the distillate and brine streams, and an auxiliary heater to supply additional heat to the feed when needed. For simplicity, pumps and auxiliary equipment are not shown here.  </a:t>
            </a:r>
          </a:p>
          <a:p>
            <a:pPr algn="just"/>
            <a:endParaRPr lang="en-US" sz="2000" dirty="0" smtClean="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In this system the feed enters the three-stream heat exchanger at state point 1, where it is heated to state point 2, and then enters the auxiliary heater to be heated to state point 3, where it enters the evaporation side of the evaporator. </a:t>
            </a:r>
          </a:p>
          <a:p>
            <a:pPr algn="just"/>
            <a:endParaRPr lang="en-US" sz="2000" dirty="0" smtClean="0">
              <a:latin typeface="Times New Roman" pitchFamily="18" charset="0"/>
              <a:cs typeface="Times New Roman"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0"/>
            <a:ext cx="8229600" cy="4525963"/>
          </a:xfrm>
        </p:spPr>
        <p:txBody>
          <a:bodyPr>
            <a:normAutofit/>
          </a:bodyPr>
          <a:lstStyle/>
          <a:p>
            <a:pPr algn="just"/>
            <a:r>
              <a:rPr lang="en-US" sz="2000" dirty="0" smtClean="0">
                <a:latin typeface="Times New Roman" pitchFamily="18" charset="0"/>
                <a:cs typeface="Times New Roman" pitchFamily="18" charset="0"/>
              </a:rPr>
              <a:t>Here the feed is brought into contact with the heat transfer surface A where part of it becomes vapor at state point 4 and the balance is taken out as brine at state point 5, to be cooled in the three-stream exchanger to state point 6.</a:t>
            </a:r>
          </a:p>
          <a:p>
            <a:pPr algn="just"/>
            <a:endParaRPr lang="en-US" sz="2000" dirty="0" smtClean="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 The vapor generated at state point 4 enters the compressor at state point a where it is compressed to state point b and then enters the condensation side of the evaporator where it condenses on the other side of the heat transfer surface A at state point 7 and is then cooled to state point 8 in the three-stream exchanger. </a:t>
            </a:r>
          </a:p>
          <a:p>
            <a:pPr>
              <a:buNone/>
            </a:pPr>
            <a:endParaRPr lang="en-US" sz="1300" dirty="0" smtClean="0"/>
          </a:p>
          <a:p>
            <a:pPr>
              <a:buNone/>
            </a:pPr>
            <a:endParaRPr lang="en-US" sz="1300" dirty="0" smtClean="0"/>
          </a:p>
          <a:p>
            <a:pPr>
              <a:buNone/>
            </a:pPr>
            <a:endParaRPr lang="en-US" sz="1300" dirty="0" smtClean="0"/>
          </a:p>
          <a:p>
            <a:pPr>
              <a:buNone/>
            </a:pPr>
            <a:r>
              <a:rPr lang="en-US" sz="1300" dirty="0" smtClean="0"/>
              <a:t>Chrome extension://efaidnbmnnnibpcajpcglclefindmkaj/https://www.eolss.net/sample-chapters/C07/E6-144-26.pdf</a:t>
            </a:r>
          </a:p>
          <a:p>
            <a:pPr>
              <a:buNone/>
            </a:pP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lgn="just"/>
            <a:r>
              <a:rPr lang="en-US" sz="2000" dirty="0" err="1" smtClean="0">
                <a:latin typeface="Times New Roman" pitchFamily="18" charset="0"/>
                <a:cs typeface="Times New Roman" pitchFamily="18" charset="0"/>
              </a:rPr>
              <a:t>Vapour</a:t>
            </a:r>
            <a:r>
              <a:rPr lang="en-US" sz="2000" dirty="0" smtClean="0">
                <a:latin typeface="Times New Roman" pitchFamily="18" charset="0"/>
                <a:cs typeface="Times New Roman" pitchFamily="18" charset="0"/>
              </a:rPr>
              <a:t> compression (VC) desalination offers advantages like high thermal efficiency by recycling heat, a small footprint, excellent water quality, and flexibility for different power sources, making it ideal for small-scale and remote applications without requiring large external heat sources. </a:t>
            </a:r>
          </a:p>
          <a:p>
            <a:pPr algn="just"/>
            <a:r>
              <a:rPr lang="en-US" sz="2000" dirty="0" smtClean="0">
                <a:latin typeface="Times New Roman" pitchFamily="18" charset="0"/>
                <a:cs typeface="Times New Roman" pitchFamily="18" charset="0"/>
              </a:rPr>
              <a:t>It also requires minimal pretreatment and produces nearly </a:t>
            </a:r>
            <a:r>
              <a:rPr lang="en-US" sz="2000" dirty="0" err="1" smtClean="0">
                <a:latin typeface="Times New Roman" pitchFamily="18" charset="0"/>
                <a:cs typeface="Times New Roman" pitchFamily="18" charset="0"/>
              </a:rPr>
              <a:t>demineralized</a:t>
            </a:r>
            <a:r>
              <a:rPr lang="en-US" sz="2000" dirty="0" smtClean="0">
                <a:latin typeface="Times New Roman" pitchFamily="18" charset="0"/>
                <a:cs typeface="Times New Roman" pitchFamily="18" charset="0"/>
              </a:rPr>
              <a:t> water directly from seawater, reducing operating costs and offering flexibility in product water temperature</a:t>
            </a:r>
            <a:endParaRPr lang="en-US" sz="2000" dirty="0">
              <a:latin typeface="Times New Roman" pitchFamily="18" charset="0"/>
              <a:cs typeface="Times New Roman"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3657600" cy="1020762"/>
          </a:xfrm>
        </p:spPr>
        <p:txBody>
          <a:bodyPr>
            <a:normAutofit/>
          </a:bodyPr>
          <a:lstStyle/>
          <a:p>
            <a:r>
              <a:rPr lang="en-US" sz="3200" b="1" dirty="0" smtClean="0">
                <a:solidFill>
                  <a:srgbClr val="0070C0"/>
                </a:solidFill>
                <a:latin typeface="Times New Roman" pitchFamily="18" charset="0"/>
                <a:cs typeface="Times New Roman" pitchFamily="18" charset="0"/>
              </a:rPr>
              <a:t>ADVANTAGES</a:t>
            </a:r>
            <a:endParaRPr lang="en-US" sz="3200" b="1" dirty="0">
              <a:solidFill>
                <a:srgbClr val="0070C0"/>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1219200"/>
            <a:ext cx="8229600" cy="4525963"/>
          </a:xfrm>
        </p:spPr>
        <p:txBody>
          <a:bodyPr>
            <a:noAutofit/>
          </a:bodyPr>
          <a:lstStyle/>
          <a:p>
            <a:pPr algn="just"/>
            <a:r>
              <a:rPr lang="en-US" sz="2000" b="1" dirty="0" smtClean="0">
                <a:latin typeface="Times New Roman" pitchFamily="18" charset="0"/>
                <a:cs typeface="Times New Roman" pitchFamily="18" charset="0"/>
              </a:rPr>
              <a:t>High Energy Efficiency:</a:t>
            </a:r>
            <a:r>
              <a:rPr lang="en-US" sz="2000" dirty="0" smtClean="0">
                <a:latin typeface="Times New Roman" pitchFamily="18" charset="0"/>
                <a:cs typeface="Times New Roman" pitchFamily="18" charset="0"/>
              </a:rPr>
              <a:t> VC systems are thermodynamically efficient because they continuously reuse the heat generated within the system, akin to a heat pump, significantly reducing operating costs. </a:t>
            </a:r>
          </a:p>
          <a:p>
            <a:pPr algn="just"/>
            <a:endParaRPr lang="en-US" sz="2000" b="1" dirty="0" smtClean="0">
              <a:latin typeface="Times New Roman" pitchFamily="18" charset="0"/>
              <a:cs typeface="Times New Roman" pitchFamily="18" charset="0"/>
            </a:endParaRPr>
          </a:p>
          <a:p>
            <a:pPr algn="just"/>
            <a:r>
              <a:rPr lang="en-US" sz="2000" b="1" dirty="0" smtClean="0">
                <a:latin typeface="Times New Roman" pitchFamily="18" charset="0"/>
                <a:cs typeface="Times New Roman" pitchFamily="18" charset="0"/>
              </a:rPr>
              <a:t>High Water Quality:</a:t>
            </a:r>
            <a:r>
              <a:rPr lang="en-US" sz="2000" dirty="0" smtClean="0">
                <a:latin typeface="Times New Roman" pitchFamily="18" charset="0"/>
                <a:cs typeface="Times New Roman" pitchFamily="18" charset="0"/>
              </a:rPr>
              <a:t> The desalination process produces high-purity, nearly </a:t>
            </a:r>
            <a:r>
              <a:rPr lang="en-US" sz="2000" dirty="0" err="1" smtClean="0">
                <a:latin typeface="Times New Roman" pitchFamily="18" charset="0"/>
                <a:cs typeface="Times New Roman" pitchFamily="18" charset="0"/>
              </a:rPr>
              <a:t>demineralized</a:t>
            </a:r>
            <a:r>
              <a:rPr lang="en-US" sz="2000" dirty="0" smtClean="0">
                <a:latin typeface="Times New Roman" pitchFamily="18" charset="0"/>
                <a:cs typeface="Times New Roman" pitchFamily="18" charset="0"/>
              </a:rPr>
              <a:t> water directly, often suitable for industrial applications or boiler feed without needing additional polishing units. </a:t>
            </a:r>
          </a:p>
          <a:p>
            <a:pPr algn="just"/>
            <a:endParaRPr lang="en-US" sz="2000" b="1" dirty="0" smtClean="0">
              <a:latin typeface="Times New Roman" pitchFamily="18" charset="0"/>
              <a:cs typeface="Times New Roman" pitchFamily="18" charset="0"/>
            </a:endParaRPr>
          </a:p>
          <a:p>
            <a:pPr algn="just"/>
            <a:r>
              <a:rPr lang="en-US" sz="2000" b="1" dirty="0" smtClean="0">
                <a:latin typeface="Times New Roman" pitchFamily="18" charset="0"/>
                <a:cs typeface="Times New Roman" pitchFamily="18" charset="0"/>
              </a:rPr>
              <a:t>Flexibility in Power Source:</a:t>
            </a:r>
            <a:r>
              <a:rPr lang="en-US" sz="2000" dirty="0" smtClean="0">
                <a:latin typeface="Times New Roman" pitchFamily="18" charset="0"/>
                <a:cs typeface="Times New Roman" pitchFamily="18" charset="0"/>
              </a:rPr>
              <a:t> VCD can be powered by electricity or a diesel engine, making it a versatile option for various locations, including ships, islands, and resorts where grid electricity may not be readily available. </a:t>
            </a:r>
          </a:p>
          <a:p>
            <a:pPr algn="just"/>
            <a:endParaRPr lang="en-US" sz="2000" b="1" dirty="0" smtClean="0">
              <a:latin typeface="Times New Roman" pitchFamily="18" charset="0"/>
              <a:cs typeface="Times New Roman" pitchFamily="18" charset="0"/>
            </a:endParaRPr>
          </a:p>
          <a:p>
            <a:pPr algn="just"/>
            <a:r>
              <a:rPr lang="en-US" sz="2000" b="1" dirty="0" smtClean="0">
                <a:latin typeface="Times New Roman" pitchFamily="18" charset="0"/>
                <a:cs typeface="Times New Roman" pitchFamily="18" charset="0"/>
              </a:rPr>
              <a:t>Small Footprint:</a:t>
            </a:r>
            <a:r>
              <a:rPr lang="en-US" sz="2000" dirty="0" smtClean="0">
                <a:latin typeface="Times New Roman" pitchFamily="18" charset="0"/>
                <a:cs typeface="Times New Roman" pitchFamily="18" charset="0"/>
              </a:rPr>
              <a:t> Compared to other distillation systems, VC systems are compact and take up less space, saving on land costs and making them suitable for space-constrained environments. </a:t>
            </a:r>
          </a:p>
          <a:p>
            <a:endParaRPr lang="en-US" sz="2000" b="1" dirty="0" smtClean="0"/>
          </a:p>
          <a:p>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0000" lnSpcReduction="20000"/>
          </a:bodyPr>
          <a:lstStyle/>
          <a:p>
            <a:pPr algn="just"/>
            <a:r>
              <a:rPr lang="en-US" b="1" dirty="0" smtClean="0">
                <a:latin typeface="Times New Roman" pitchFamily="18" charset="0"/>
                <a:cs typeface="Times New Roman" pitchFamily="18" charset="0"/>
              </a:rPr>
              <a:t>Minimal Pretreatment:</a:t>
            </a:r>
            <a:r>
              <a:rPr lang="en-US" dirty="0" smtClean="0">
                <a:latin typeface="Times New Roman" pitchFamily="18" charset="0"/>
                <a:cs typeface="Times New Roman" pitchFamily="18" charset="0"/>
              </a:rPr>
              <a:t> The process can handle softened, </a:t>
            </a:r>
            <a:r>
              <a:rPr lang="en-US" dirty="0" err="1" smtClean="0">
                <a:latin typeface="Times New Roman" pitchFamily="18" charset="0"/>
                <a:cs typeface="Times New Roman" pitchFamily="18" charset="0"/>
              </a:rPr>
              <a:t>dechlorinated</a:t>
            </a:r>
            <a:r>
              <a:rPr lang="en-US" dirty="0" smtClean="0">
                <a:latin typeface="Times New Roman" pitchFamily="18" charset="0"/>
                <a:cs typeface="Times New Roman" pitchFamily="18" charset="0"/>
              </a:rPr>
              <a:t> water directly, reducing the need for complex and costly pretreatment processes. </a:t>
            </a:r>
          </a:p>
          <a:p>
            <a:pPr algn="just"/>
            <a:endParaRPr lang="en-US" b="1" dirty="0" smtClean="0">
              <a:latin typeface="Times New Roman" pitchFamily="18" charset="0"/>
              <a:cs typeface="Times New Roman" pitchFamily="18" charset="0"/>
            </a:endParaRPr>
          </a:p>
          <a:p>
            <a:pPr algn="just"/>
            <a:r>
              <a:rPr lang="en-US" b="1" dirty="0" smtClean="0">
                <a:latin typeface="Times New Roman" pitchFamily="18" charset="0"/>
                <a:cs typeface="Times New Roman" pitchFamily="18" charset="0"/>
              </a:rPr>
              <a:t>No Need for Large-Scale Heat Sources:</a:t>
            </a:r>
            <a:r>
              <a:rPr lang="en-US" dirty="0" smtClean="0">
                <a:latin typeface="Times New Roman" pitchFamily="18" charset="0"/>
                <a:cs typeface="Times New Roman" pitchFamily="18" charset="0"/>
              </a:rPr>
              <a:t> Unlike some thermal desalination methods, VC systems do not require large-scale external heat sources, as the required heat is generated internally. </a:t>
            </a:r>
          </a:p>
          <a:p>
            <a:pPr algn="just"/>
            <a:endParaRPr lang="en-US" b="1" dirty="0" smtClean="0">
              <a:latin typeface="Times New Roman" pitchFamily="18" charset="0"/>
              <a:cs typeface="Times New Roman" pitchFamily="18" charset="0"/>
            </a:endParaRPr>
          </a:p>
          <a:p>
            <a:pPr algn="just"/>
            <a:r>
              <a:rPr lang="en-US" b="1" dirty="0" smtClean="0">
                <a:latin typeface="Times New Roman" pitchFamily="18" charset="0"/>
                <a:cs typeface="Times New Roman" pitchFamily="18" charset="0"/>
              </a:rPr>
              <a:t>Continuous Operation:</a:t>
            </a:r>
            <a:r>
              <a:rPr lang="en-US" dirty="0" smtClean="0">
                <a:latin typeface="Times New Roman" pitchFamily="18" charset="0"/>
                <a:cs typeface="Times New Roman" pitchFamily="18" charset="0"/>
              </a:rPr>
              <a:t> The ability to continuously reuse heat ensures a stable and reliable supply of purified water. </a:t>
            </a:r>
          </a:p>
          <a:p>
            <a:pPr algn="just"/>
            <a:endParaRPr lang="en-US" b="1" dirty="0" smtClean="0">
              <a:latin typeface="Times New Roman" pitchFamily="18" charset="0"/>
              <a:cs typeface="Times New Roman" pitchFamily="18" charset="0"/>
            </a:endParaRPr>
          </a:p>
          <a:p>
            <a:pPr algn="just"/>
            <a:r>
              <a:rPr lang="en-US" b="1" dirty="0" smtClean="0">
                <a:latin typeface="Times New Roman" pitchFamily="18" charset="0"/>
                <a:cs typeface="Times New Roman" pitchFamily="18" charset="0"/>
              </a:rPr>
              <a:t>Suitable for Various Salinity Levels:</a:t>
            </a:r>
            <a:r>
              <a:rPr lang="en-US" dirty="0" smtClean="0">
                <a:latin typeface="Times New Roman" pitchFamily="18" charset="0"/>
                <a:cs typeface="Times New Roman" pitchFamily="18" charset="0"/>
              </a:rPr>
              <a:t> VC systems can effectively desalinates both highly saline seawater and brackish water. </a:t>
            </a:r>
          </a:p>
          <a:p>
            <a:pPr algn="just"/>
            <a:endParaRPr lang="en-US" dirty="0">
              <a:latin typeface="Times New Roman" pitchFamily="18" charset="0"/>
              <a:cs typeface="Times New Roman"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cstate="print"/>
          <a:srcRect/>
          <a:stretch>
            <a:fillRect/>
          </a:stretch>
        </p:blipFill>
        <p:spPr bwMode="auto">
          <a:xfrm>
            <a:off x="1203325" y="454025"/>
            <a:ext cx="6735763" cy="5954713"/>
          </a:xfrm>
          <a:prstGeom prst="rect">
            <a:avLst/>
          </a:prstGeom>
          <a:noFill/>
          <a:ln w="9525">
            <a:noFill/>
            <a:miter lim="800000"/>
            <a:headEnd/>
            <a:tailEnd/>
          </a:ln>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cstate="print"/>
          <a:srcRect l="13889"/>
          <a:stretch>
            <a:fillRect/>
          </a:stretch>
        </p:blipFill>
        <p:spPr bwMode="auto">
          <a:xfrm>
            <a:off x="685800" y="685800"/>
            <a:ext cx="7696200" cy="3912340"/>
          </a:xfrm>
          <a:prstGeom prst="rect">
            <a:avLst/>
          </a:prstGeom>
          <a:noFill/>
          <a:ln w="9525">
            <a:noFill/>
            <a:miter lim="800000"/>
            <a:headEnd/>
            <a:tailEnd/>
          </a:ln>
          <a:effectLst/>
        </p:spPr>
      </p:pic>
      <p:sp>
        <p:nvSpPr>
          <p:cNvPr id="5" name="Rectangle 4"/>
          <p:cNvSpPr/>
          <p:nvPr/>
        </p:nvSpPr>
        <p:spPr>
          <a:xfrm>
            <a:off x="2209800" y="4953000"/>
            <a:ext cx="4560031" cy="369332"/>
          </a:xfrm>
          <a:prstGeom prst="rect">
            <a:avLst/>
          </a:prstGeom>
        </p:spPr>
        <p:txBody>
          <a:bodyPr wrap="none">
            <a:spAutoFit/>
          </a:bodyPr>
          <a:lstStyle/>
          <a:p>
            <a:r>
              <a:rPr lang="en-US" dirty="0" smtClean="0"/>
              <a:t> Fig 2.  Series vapor-compression desalination. </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cstate="print"/>
          <a:srcRect l="8314" r="638"/>
          <a:stretch>
            <a:fillRect/>
          </a:stretch>
        </p:blipFill>
        <p:spPr bwMode="auto">
          <a:xfrm>
            <a:off x="228600" y="609600"/>
            <a:ext cx="8153400" cy="4552950"/>
          </a:xfrm>
          <a:prstGeom prst="rect">
            <a:avLst/>
          </a:prstGeom>
          <a:noFill/>
          <a:ln w="9525">
            <a:noFill/>
            <a:miter lim="800000"/>
            <a:headEnd/>
            <a:tailEnd/>
          </a:ln>
          <a:effectLst/>
        </p:spPr>
      </p:pic>
      <p:sp>
        <p:nvSpPr>
          <p:cNvPr id="5" name="Rectangle 4"/>
          <p:cNvSpPr/>
          <p:nvPr/>
        </p:nvSpPr>
        <p:spPr>
          <a:xfrm>
            <a:off x="1981200" y="5486400"/>
            <a:ext cx="4636910" cy="369332"/>
          </a:xfrm>
          <a:prstGeom prst="rect">
            <a:avLst/>
          </a:prstGeom>
        </p:spPr>
        <p:txBody>
          <a:bodyPr wrap="none">
            <a:spAutoFit/>
          </a:bodyPr>
          <a:lstStyle/>
          <a:p>
            <a:r>
              <a:rPr lang="en-US" dirty="0" smtClean="0"/>
              <a:t> Fig 3: Parallel vapor-compression desalination. </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Objectives </a:t>
            </a:r>
            <a:endParaRPr lang="en-US" dirty="0"/>
          </a:p>
        </p:txBody>
      </p:sp>
      <p:sp>
        <p:nvSpPr>
          <p:cNvPr id="3" name="Content Placeholder 2"/>
          <p:cNvSpPr>
            <a:spLocks noGrp="1"/>
          </p:cNvSpPr>
          <p:nvPr>
            <p:ph idx="1"/>
          </p:nvPr>
        </p:nvSpPr>
        <p:spPr/>
        <p:txBody>
          <a:bodyPr>
            <a:normAutofit/>
          </a:bodyPr>
          <a:lstStyle/>
          <a:p>
            <a:pPr algn="just"/>
            <a:r>
              <a:rPr lang="en-US" sz="2000" dirty="0" smtClean="0">
                <a:latin typeface="Times New Roman" pitchFamily="18" charset="0"/>
                <a:cs typeface="Times New Roman" pitchFamily="18" charset="0"/>
              </a:rPr>
              <a:t>The specific objective for this project is to find the recommended operating conditions for the system and to find the optimal cost of potable water ($/thousand gallons).</a:t>
            </a:r>
          </a:p>
          <a:p>
            <a:pPr algn="just"/>
            <a:r>
              <a:rPr lang="en-US" sz="2000" dirty="0" smtClean="0"/>
              <a:t>chromeextension://efaidnbmnnnibpcajpcglclefindmkaj/https://core.ac.uk/download/pdf/4279329.pdf</a:t>
            </a:r>
          </a:p>
          <a:p>
            <a:pPr algn="just"/>
            <a:endParaRPr lang="en-US" sz="2000" dirty="0" smtClean="0"/>
          </a:p>
          <a:p>
            <a:pPr algn="just"/>
            <a:endParaRPr lang="en-US" sz="2000" dirty="0">
              <a:latin typeface="Times New Roman" pitchFamily="18" charset="0"/>
              <a:cs typeface="Times New Roman" pitchFamily="18" charset="0"/>
            </a:endParaRPr>
          </a:p>
        </p:txBody>
      </p:sp>
      <p:sp>
        <p:nvSpPr>
          <p:cNvPr id="4" name="Rectangle 3"/>
          <p:cNvSpPr/>
          <p:nvPr/>
        </p:nvSpPr>
        <p:spPr>
          <a:xfrm>
            <a:off x="381000" y="3352800"/>
            <a:ext cx="7924800" cy="646331"/>
          </a:xfrm>
          <a:prstGeom prst="rect">
            <a:avLst/>
          </a:prstGeom>
        </p:spPr>
        <p:txBody>
          <a:bodyPr wrap="square">
            <a:spAutoFit/>
          </a:bodyPr>
          <a:lstStyle/>
          <a:p>
            <a:endParaRPr lang="en-US" dirty="0" smtClean="0"/>
          </a:p>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80</TotalTime>
  <Words>876</Words>
  <Application>Microsoft Office PowerPoint</Application>
  <PresentationFormat>On-screen Show (4:3)</PresentationFormat>
  <Paragraphs>52</Paragraphs>
  <Slides>15</Slides>
  <Notes>0</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MECHANICAL VAPOR COMPRESSION (MVC) DESALINATION TECHNIQUE</vt:lpstr>
      <vt:lpstr>Slide 2</vt:lpstr>
      <vt:lpstr>Slide 3</vt:lpstr>
      <vt:lpstr>Slide 4</vt:lpstr>
      <vt:lpstr>Slide 5</vt:lpstr>
      <vt:lpstr>Slide 6</vt:lpstr>
      <vt:lpstr>WORKING PROCEDURE</vt:lpstr>
      <vt:lpstr>Slide 8</vt:lpstr>
      <vt:lpstr>Slide 9</vt:lpstr>
      <vt:lpstr>ADVANTAGES</vt:lpstr>
      <vt:lpstr>Slide 11</vt:lpstr>
      <vt:lpstr>Slide 12</vt:lpstr>
      <vt:lpstr>Slide 13</vt:lpstr>
      <vt:lpstr>Slide 14</vt:lpstr>
      <vt:lpstr>Objectives </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Mechanical Vapor Compression (MVC) </dc:title>
  <dc:creator>Subas Chandra Dash</dc:creator>
  <cp:lastModifiedBy>subas.dash</cp:lastModifiedBy>
  <cp:revision>15</cp:revision>
  <dcterms:created xsi:type="dcterms:W3CDTF">2006-08-16T00:00:00Z</dcterms:created>
  <dcterms:modified xsi:type="dcterms:W3CDTF">2025-09-13T06:20:49Z</dcterms:modified>
</cp:coreProperties>
</file>